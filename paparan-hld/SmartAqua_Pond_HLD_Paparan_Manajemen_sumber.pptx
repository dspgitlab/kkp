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dtk) SmartAqua Pond adalah sistem untuk 10 kolam budidaya: air diukur tiap menit, aerator dan pompa bisa bertindak sendiri, dan setiap kejadian ditangani sampai tuntas lewat aplikasi Neopond. Dalam tujuh menit ke depan: kenapa ini penting, bagaimana cara kerjanya dari sensor sampai layar, status sekarang, dan lima keputusan yang kami minta hari ini. Tujuh garis warna mewakili tujuh lapis arsitektur.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dtk) Risiko terbesar di kolam adalah oksigen. DO paling rendah menjelang subuh, saat tidak ada yang mengukur, dan dari waspada ke kematian massal hanya hitungan jam — satu kolam nila di prototipe kami memegang stok sekitar Rp 30 juta, angka contoh. Di tingkat program, inisiatif digital masih terpisah per lokasi dan kinerjanya tidak bisa dibandingkan. SmartAqua Pond menjawab keduanya: aerator bertindak sebelum batas bahaya, dan satu platform vendor-neutral yang terhubung ke STELINA, SICEKATAN dan Satu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dtk) Seluruh sistem adalah satu putaran tertutup. Ukur: sepuluh sensor per kolam tiap menit. Pastikan: data diperiksa mutunya, dua sensor DO dibandingkan. Putuskan: batas per komoditas ditambah prakiraan oksigen subuh. Bertindak: aerator atau pompa menyala otomatis, operator dapat tugas. Verifikasi: sinyal balik alat dan DO naik kembali. Catat dan belajar: bukti, siklus, rupiah — dan batas makin tepat. Pentingnya: putaran keselamatan berjalan di lokasi dalam hitungan detik, jadi tetap jalan walau internet putus.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dtk) Tujuh lapis, semuanya di Fase 1 kecuali AI prediktif di Fase 2. Lapangan, kabel, edge dan uplink sudah didesain. Aplikasi Neopond sudah berjalan sebagai prototipe. Backend belum dibangun, menunggu keputusan stack. Profil nila tawar atau salin berlaku di semua lapis. Tanda berlian oranye adalah revisi dari rancangan awal yang saya jelaskan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dtk) Di setiap kolam ada sepuluh sensor. Enam sensor kualitas air dikumpulkan di tengah kolam, jauh dari aerator dan titik pakan. Revisi pertama: DO memakai dua sensor, karena DO-lah yang memicu aerator — satu probe kotor tidak boleh menipu sistem, jadi dipakai bacaan terendah. Revisi kedua: satu modul kendali di panel kolam yang mengirim perintah ke aerator dan pompa, dan membaca sinyal balik apakah alat benar-benar berputar. Di tingkat site ada barometer, pyranometer, dan prakiraan BMKG. Totalnya 112 perangkat Modbus.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dtk) Satu bus RS485 maksimal 32 perangkat, jadi 112 perangkat dibagi ke lima segmen. Tiga segmen kolam terisi 30 dari 32, segmen D berisi kolam 10 dan stasiun cuaca, dan segmen E khusus kendali. Segmen kendali memakai pasangan kabel kedua di jalur yang sama, sehingga perintah ke aerator tidak ikut macet saat bus sensor bermasalah, tanpa galian tambahan. Satu segmen dipasang sebagai rantai dengan terminator di ujung — bukan cabang — supaya sinyal stabil di kabel panjang.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dtk) Ini revisi paling penting: putus jaringan tidak boleh berarti kolam celaka. Di rancangan awal, aerator dinyalakan lewat cloud — kalau 4G putus malam hari, kontrol ikut mati. Sekarang gateway industri di lokasi yang memutuskan: DO rendah, aerator ON; air terlalu tinggi, pompa terkunci. Kalau kedua gateway mati, panel kembali ke posisi aman: aerator menyala. Cadangan mengambil alih lewat relay watchdog, dan data ditahan saat internet putus.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dtk) Di cloud, data tidak langsung dipercaya. Gerbang mutu menandai data macet, lonjakan, dan sensor yang tidak sepakat; mesin aturan memakai konfirmasi tiga bacaan supaya alarm palsu tidak membuat petugas abai. BMKG masuk untuk prakiraan subuh, dan data mengalir ke STELINA, SICEKATAN dan Satu Data lewat API terbuka. Keamanan sejak awal: data di Indonesia, VPN sesuai BSSN, jejak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dtk) Ada dua kecepatan. Putaran lokal berjalan setiap siklus polling di lokasi: sensor, edge menilai, perintah ke modul, aerator menyala, lalu sinyal balik memastikan aerator benar-benar jalan — tanpa internet. Putaran cloud dalam menit sampai hari: peringatan, operator, bukti, laporan. Ini dasar keputusan interval polling. Master plan mensyaratkan peringatan kondisi kritis kurang dari 2 menit — dengan polling 5 menit syarat itu tidak terpenuhi. Dengan 1 menit, DO kritis keluar sekitar 1 menit dan peringatan lain sekitar 3 menit. Rekomendasi kami 1 menit; bebannya masih ringan.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dtk) Ini aplikasi Neopond yang sudah berjalan sebagai prototipe dengan data contoh. Setiap peringatan punya alur: terdeteksi, diterima petugas, ditangani, diverifikasi, selesai. Di detail kolam, operator langsung melihat semua parameter dan satu "Lakukan dulu". Supervisor melihat siapa menangani dan sejak kapan. Sistem juga memberi dugaan penyebab, nilai rupiah yang berisiko, dan setiap override wajib alasan. Lima peran melihat layar yang sesuai tugasnya.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dtk) Sistem ini tidak berhenti di kualitas air. Dari tebar sampai panen, operator mencatat pakan, kematian, sampling dan perawatan langsung di HP, dan aplikasi menghitung FCR dan sintasan lengkap dengan anjuran. Untuk manajemen, semuanya diterjemahkan ke rupiah: stok hidup, HPP, perkiraan margin, nilai yang sedang berisiko, kerugian yang berhasil dicegah, dan balik modal kit. Angka di layar ini contoh dari prototipe; di pilot, harga diisi per kolam.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dtk) Infrastruktur juga punya siklus. Secara otomatis sistem terus memantau data macet, sensor yang tidak sepakat, aerator yang tidak merespons, dan kesehatan edge. Mingguan operator membersihkan probe dan mengecek DO dengan alat genggam. Bulanan teknisi mengkalibrasi, dan amonia dicocokkan dengan test kit atau lab. Tiap kuartal kami uji kegagalan secara sengaja. Aplikasi yang mengingatkan: jatuh tempo kalibrasi jadi tugas, dan sensor meragukan tidak dipakai untuk keputusan. Di belakangnya ada SLA: gangguan kritis ditangani 24/7 dengan respons satu jam, dalam satu kontrak.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dtk) Ringkasan risiko dan jawabannya. Yang baru dibanding rancangan awal ada di lima baris atas: internet putus dan edge rusak dijawab dengan kendali di lokasi dan posisi aman; sensor DO kotor dengan dua sensor; aerator yang diperintah tapi tidak jalan dengan sinyal balik; alarm palsu dengan gerbang mutu dan konfirmasi. Plus kunci pengaman pompa dan keamanan akses.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dtk) Pilot berjalan tiga fase sesuai master plan. Fase 1 di 10 sampai 20 kolam selama 12 sampai 16 minggu: kunci lokasi, instalasi, integrasi dan kalibrasi, ukur baseline sintasan, FCR, energi dan uptime, UAT, lalu serah terima dengan keputusan ke Fase 2. Hari ini desain lapangan selesai dan prototipe aplikasi berjalan. Kendali otomatis baru dinyalakan setelah empat gerbang lulus.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dtk) Lima keputusan. Satu: pemilik program, lokasi, dan profil nila dikunci saat kickoff. Dua: setujui revisi desain lapangan; anggaran ±Rp 555 juta di master plan kami hitung ulang karena dibuat untuk 15 kolam dan enam parameter. Tiga: polling 1 menit, satu-satunya yang memenuhi syarat peringatan kritis di bawah 2 menit. Empat: backend open-source, TypeScript dan PostgreSQL, di Indonesia. Lima: sistem KKP penerima data dan KPI keberhasilan pilot. Terima kasih.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Steven Waruwu\AppData\Local\Temp\claude\d--KKP\3497f670-cbc2-4672-b31d-c2fc16f14f69\scratchpad\deckgen\img/cover-art.png">    </p:cNvPr>
          <p:cNvPicPr>
            <a:picLocks noChangeAspect="1"/>
          </p:cNvPicPr>
          <p:nvPr/>
        </p:nvPicPr>
        <p:blipFill>
          <a:blip r:embed="rId2"/>
          <a:stretch>
            <a:fillRect/>
          </a:stretch>
        </p:blipFill>
        <p:spPr>
          <a:xfrm>
            <a:off x="6720840" y="868680"/>
            <a:ext cx="5120640" cy="5120640"/>
          </a:xfrm>
          <a:prstGeom prst="rect">
            <a:avLst/>
          </a:prstGeom>
        </p:spPr>
      </p:pic>
      <p:sp>
        <p:nvSpPr>
          <p:cNvPr id="3" name="Text 0"/>
          <p:cNvSpPr/>
          <p:nvPr/>
        </p:nvSpPr>
        <p:spPr>
          <a:xfrm>
            <a:off x="685800" y="1417320"/>
            <a:ext cx="6400800" cy="274320"/>
          </a:xfrm>
          <a:prstGeom prst="rect">
            <a:avLst/>
          </a:prstGeom>
          <a:noFill/>
          <a:ln/>
        </p:spPr>
        <p:txBody>
          <a:bodyPr wrap="square" lIns="0" tIns="0" rIns="0" bIns="0" rtlCol="0" anchor="t"/>
          <a:lstStyle/>
          <a:p>
            <a:pPr indent="0" marL="0">
              <a:buNone/>
            </a:pPr>
            <a:r>
              <a:rPr lang="en-US" sz="1200" b="1" spc="200" kern="0" dirty="0">
                <a:solidFill>
                  <a:srgbClr val="3FD0D4"/>
                </a:solidFill>
                <a:latin typeface="Segoe UI" pitchFamily="34" charset="0"/>
                <a:ea typeface="Segoe UI" pitchFamily="34" charset="-122"/>
                <a:cs typeface="Segoe UI" pitchFamily="34" charset="-120"/>
              </a:rPr>
              <a:t>HIGH-LEVEL DESIGN · PAPARAN MANAJEMEN</a:t>
            </a:r>
            <a:endParaRPr lang="en-US" sz="1200" dirty="0"/>
          </a:p>
        </p:txBody>
      </p:sp>
      <p:sp>
        <p:nvSpPr>
          <p:cNvPr id="4" name="Text 1"/>
          <p:cNvSpPr/>
          <p:nvPr/>
        </p:nvSpPr>
        <p:spPr>
          <a:xfrm>
            <a:off x="640080" y="1783080"/>
            <a:ext cx="6400800" cy="1920240"/>
          </a:xfrm>
          <a:prstGeom prst="rect">
            <a:avLst/>
          </a:prstGeom>
          <a:noFill/>
          <a:ln/>
        </p:spPr>
        <p:txBody>
          <a:bodyPr wrap="square" lIns="0" tIns="0" rIns="0" bIns="0" rtlCol="0" anchor="t"/>
          <a:lstStyle/>
          <a:p>
            <a:pPr indent="0" marL="0">
              <a:lnSpc>
                <a:spcPct val="95000"/>
              </a:lnSpc>
              <a:buNone/>
            </a:pPr>
            <a:r>
              <a:rPr lang="en-US" sz="6000" dirty="0">
                <a:solidFill>
                  <a:srgbClr val="EAF3F4"/>
                </a:solidFill>
                <a:latin typeface="Segoe UI Semibold" pitchFamily="34" charset="0"/>
                <a:ea typeface="Segoe UI Semibold" pitchFamily="34" charset="-122"/>
                <a:cs typeface="Segoe UI Semibold" pitchFamily="34" charset="-120"/>
              </a:rPr>
              <a:t>SmartAqua</a:t>
            </a:r>
            <a:endParaRPr lang="en-US" sz="6000" dirty="0"/>
          </a:p>
          <a:p>
            <a:pPr indent="0" marL="0">
              <a:lnSpc>
                <a:spcPct val="95000"/>
              </a:lnSpc>
              <a:buNone/>
            </a:pPr>
            <a:r>
              <a:rPr lang="en-US" sz="6000" dirty="0">
                <a:solidFill>
                  <a:srgbClr val="3FD0D4"/>
                </a:solidFill>
                <a:latin typeface="Segoe UI Semibold" pitchFamily="34" charset="0"/>
                <a:ea typeface="Segoe UI Semibold" pitchFamily="34" charset="-122"/>
                <a:cs typeface="Segoe UI Semibold" pitchFamily="34" charset="-120"/>
              </a:rPr>
              <a:t>Pond</a:t>
            </a:r>
            <a:endParaRPr lang="en-US" sz="6000" dirty="0"/>
          </a:p>
        </p:txBody>
      </p:sp>
      <p:sp>
        <p:nvSpPr>
          <p:cNvPr id="5" name="Text 2"/>
          <p:cNvSpPr/>
          <p:nvPr/>
        </p:nvSpPr>
        <p:spPr>
          <a:xfrm>
            <a:off x="685800" y="3840480"/>
            <a:ext cx="5852160" cy="822960"/>
          </a:xfrm>
          <a:prstGeom prst="rect">
            <a:avLst/>
          </a:prstGeom>
          <a:noFill/>
          <a:ln/>
        </p:spPr>
        <p:txBody>
          <a:bodyPr wrap="square" lIns="0" tIns="0" rIns="0" bIns="0" rtlCol="0" anchor="t"/>
          <a:lstStyle/>
          <a:p>
            <a:pPr indent="0" marL="0">
              <a:lnSpc>
                <a:spcPct val="115000"/>
              </a:lnSpc>
              <a:buNone/>
            </a:pPr>
            <a:r>
              <a:rPr lang="en-US" sz="1600" dirty="0">
                <a:solidFill>
                  <a:srgbClr val="B9CCD0"/>
                </a:solidFill>
                <a:latin typeface="Segoe UI" pitchFamily="34" charset="0"/>
                <a:ea typeface="Segoe UI" pitchFamily="34" charset="-122"/>
                <a:cs typeface="Segoe UI" pitchFamily="34" charset="-120"/>
              </a:rPr>
              <a:t>Air kolam diukur tiap menit, aerator bertindak sendiri, dan setiap kejadian ditangani sampai tuntas — untuk 10 kolam budidaya.</a:t>
            </a:r>
            <a:endParaRPr lang="en-US" sz="1600" dirty="0"/>
          </a:p>
        </p:txBody>
      </p:sp>
      <p:sp>
        <p:nvSpPr>
          <p:cNvPr id="6" name="Shape 3"/>
          <p:cNvSpPr/>
          <p:nvPr/>
        </p:nvSpPr>
        <p:spPr>
          <a:xfrm>
            <a:off x="685800" y="4983480"/>
            <a:ext cx="530352" cy="64008"/>
          </a:xfrm>
          <a:prstGeom prst="roundRect">
            <a:avLst>
              <a:gd name="adj" fmla="val 42857"/>
            </a:avLst>
          </a:prstGeom>
          <a:solidFill>
            <a:srgbClr val="5EE6B0"/>
          </a:solidFill>
          <a:ln w="12700">
            <a:solidFill>
              <a:srgbClr val="5EE6B0"/>
            </a:solidFill>
            <a:prstDash val="solid"/>
          </a:ln>
        </p:spPr>
      </p:sp>
      <p:sp>
        <p:nvSpPr>
          <p:cNvPr id="7" name="Shape 4"/>
          <p:cNvSpPr/>
          <p:nvPr/>
        </p:nvSpPr>
        <p:spPr>
          <a:xfrm>
            <a:off x="1307592" y="4983480"/>
            <a:ext cx="530352" cy="64008"/>
          </a:xfrm>
          <a:prstGeom prst="roundRect">
            <a:avLst>
              <a:gd name="adj" fmla="val 42857"/>
            </a:avLst>
          </a:prstGeom>
          <a:solidFill>
            <a:srgbClr val="F5D35C"/>
          </a:solidFill>
          <a:ln w="12700">
            <a:solidFill>
              <a:srgbClr val="F5D35C"/>
            </a:solidFill>
            <a:prstDash val="solid"/>
          </a:ln>
        </p:spPr>
      </p:sp>
      <p:sp>
        <p:nvSpPr>
          <p:cNvPr id="8" name="Shape 5"/>
          <p:cNvSpPr/>
          <p:nvPr/>
        </p:nvSpPr>
        <p:spPr>
          <a:xfrm>
            <a:off x="1929384" y="4983480"/>
            <a:ext cx="530352" cy="64008"/>
          </a:xfrm>
          <a:prstGeom prst="roundRect">
            <a:avLst>
              <a:gd name="adj" fmla="val 42857"/>
            </a:avLst>
          </a:prstGeom>
          <a:solidFill>
            <a:srgbClr val="FFB347"/>
          </a:solidFill>
          <a:ln w="12700">
            <a:solidFill>
              <a:srgbClr val="FFB347"/>
            </a:solidFill>
            <a:prstDash val="solid"/>
          </a:ln>
        </p:spPr>
      </p:sp>
      <p:sp>
        <p:nvSpPr>
          <p:cNvPr id="9" name="Shape 6"/>
          <p:cNvSpPr/>
          <p:nvPr/>
        </p:nvSpPr>
        <p:spPr>
          <a:xfrm>
            <a:off x="2551176" y="4983480"/>
            <a:ext cx="530352" cy="64008"/>
          </a:xfrm>
          <a:prstGeom prst="roundRect">
            <a:avLst>
              <a:gd name="adj" fmla="val 42857"/>
            </a:avLst>
          </a:prstGeom>
          <a:solidFill>
            <a:srgbClr val="B39DFF"/>
          </a:solidFill>
          <a:ln w="12700">
            <a:solidFill>
              <a:srgbClr val="B39DFF"/>
            </a:solidFill>
            <a:prstDash val="solid"/>
          </a:ln>
        </p:spPr>
      </p:sp>
      <p:sp>
        <p:nvSpPr>
          <p:cNvPr id="10" name="Shape 7"/>
          <p:cNvSpPr/>
          <p:nvPr/>
        </p:nvSpPr>
        <p:spPr>
          <a:xfrm>
            <a:off x="3172968" y="4983480"/>
            <a:ext cx="530352" cy="64008"/>
          </a:xfrm>
          <a:prstGeom prst="roundRect">
            <a:avLst>
              <a:gd name="adj" fmla="val 42857"/>
            </a:avLst>
          </a:prstGeom>
          <a:solidFill>
            <a:srgbClr val="5AA9FF"/>
          </a:solidFill>
          <a:ln w="12700">
            <a:solidFill>
              <a:srgbClr val="5AA9FF"/>
            </a:solidFill>
            <a:prstDash val="solid"/>
          </a:ln>
        </p:spPr>
      </p:sp>
      <p:sp>
        <p:nvSpPr>
          <p:cNvPr id="11" name="Shape 8"/>
          <p:cNvSpPr/>
          <p:nvPr/>
        </p:nvSpPr>
        <p:spPr>
          <a:xfrm>
            <a:off x="3794760" y="4983480"/>
            <a:ext cx="530352" cy="64008"/>
          </a:xfrm>
          <a:prstGeom prst="roundRect">
            <a:avLst>
              <a:gd name="adj" fmla="val 42857"/>
            </a:avLst>
          </a:prstGeom>
          <a:solidFill>
            <a:srgbClr val="FF8A7A"/>
          </a:solidFill>
          <a:ln w="12700">
            <a:solidFill>
              <a:srgbClr val="FF8A7A"/>
            </a:solidFill>
            <a:prstDash val="solid"/>
          </a:ln>
        </p:spPr>
      </p:sp>
      <p:sp>
        <p:nvSpPr>
          <p:cNvPr id="12" name="Shape 9"/>
          <p:cNvSpPr/>
          <p:nvPr/>
        </p:nvSpPr>
        <p:spPr>
          <a:xfrm>
            <a:off x="4416552" y="4983480"/>
            <a:ext cx="530352" cy="64008"/>
          </a:xfrm>
          <a:prstGeom prst="roundRect">
            <a:avLst>
              <a:gd name="adj" fmla="val 42857"/>
            </a:avLst>
          </a:prstGeom>
          <a:solidFill>
            <a:srgbClr val="A9B4BC"/>
          </a:solidFill>
          <a:ln w="12700">
            <a:solidFill>
              <a:srgbClr val="A9B4BC"/>
            </a:solidFill>
            <a:prstDash val="solid"/>
          </a:ln>
        </p:spPr>
      </p:sp>
      <p:sp>
        <p:nvSpPr>
          <p:cNvPr id="13" name="Text 10"/>
          <p:cNvSpPr/>
          <p:nvPr/>
        </p:nvSpPr>
        <p:spPr>
          <a:xfrm>
            <a:off x="685800" y="5257800"/>
            <a:ext cx="6400800" cy="274320"/>
          </a:xfrm>
          <a:prstGeom prst="rect">
            <a:avLst/>
          </a:prstGeom>
          <a:noFill/>
          <a:ln/>
        </p:spPr>
        <p:txBody>
          <a:bodyPr wrap="square" lIns="0" tIns="0" rIns="0" bIns="0" rtlCol="0" anchor="t"/>
          <a:lstStyle/>
          <a:p>
            <a:pPr indent="0" marL="0">
              <a:buNone/>
            </a:pPr>
            <a:r>
              <a:rPr lang="en-US" sz="1200" dirty="0">
                <a:solidFill>
                  <a:srgbClr val="86A0A6"/>
                </a:solidFill>
                <a:latin typeface="Segoe UI" pitchFamily="34" charset="0"/>
                <a:ea typeface="Segoe UI" pitchFamily="34" charset="-122"/>
                <a:cs typeface="Segoe UI" pitchFamily="34" charset="-120"/>
              </a:rPr>
              <a:t>PT Digital Solusi Prima  ·  Aplikasi: Neopond  ·  Oktober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2</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3FD0D4"/>
                </a:solidFill>
                <a:latin typeface="Segoe UI" pitchFamily="34" charset="0"/>
                <a:ea typeface="Segoe UI" pitchFamily="34" charset="-122"/>
                <a:cs typeface="Segoe UI" pitchFamily="34" charset="-120"/>
              </a:rPr>
              <a:t>KENAPA INI PENTING</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Satu malam oksigen jatuh bisa menghabiskan satu kolam</a:t>
            </a:r>
            <a:endParaRPr lang="en-US" sz="2700" dirty="0"/>
          </a:p>
        </p:txBody>
      </p:sp>
      <p:sp>
        <p:nvSpPr>
          <p:cNvPr id="5" name="Shape 3"/>
          <p:cNvSpPr/>
          <p:nvPr/>
        </p:nvSpPr>
        <p:spPr>
          <a:xfrm>
            <a:off x="548640" y="1508760"/>
            <a:ext cx="4754880" cy="1298448"/>
          </a:xfrm>
          <a:prstGeom prst="roundRect">
            <a:avLst>
              <a:gd name="adj" fmla="val 6338"/>
            </a:avLst>
          </a:prstGeom>
          <a:solidFill>
            <a:srgbClr val="0F2C33"/>
          </a:solidFill>
          <a:ln w="12700">
            <a:solidFill>
              <a:srgbClr val="24505A"/>
            </a:solidFill>
            <a:prstDash val="solid"/>
          </a:ln>
        </p:spPr>
      </p:sp>
      <p:sp>
        <p:nvSpPr>
          <p:cNvPr id="6" name="Shape 4"/>
          <p:cNvSpPr/>
          <p:nvPr/>
        </p:nvSpPr>
        <p:spPr>
          <a:xfrm>
            <a:off x="548640" y="1636776"/>
            <a:ext cx="54864" cy="1042416"/>
          </a:xfrm>
          <a:prstGeom prst="rect">
            <a:avLst/>
          </a:prstGeom>
          <a:solidFill>
            <a:srgbClr val="FF8A7A"/>
          </a:solidFill>
          <a:ln w="12700">
            <a:solidFill>
              <a:srgbClr val="FF8A7A"/>
            </a:solidFill>
            <a:prstDash val="solid"/>
          </a:ln>
        </p:spPr>
      </p:sp>
      <p:sp>
        <p:nvSpPr>
          <p:cNvPr id="7" name="Text 5"/>
          <p:cNvSpPr/>
          <p:nvPr/>
        </p:nvSpPr>
        <p:spPr>
          <a:xfrm>
            <a:off x="822960" y="1673352"/>
            <a:ext cx="4389120" cy="548640"/>
          </a:xfrm>
          <a:prstGeom prst="rect">
            <a:avLst/>
          </a:prstGeom>
          <a:noFill/>
          <a:ln/>
        </p:spPr>
        <p:txBody>
          <a:bodyPr wrap="square" lIns="0" tIns="0" rIns="0" bIns="0" rtlCol="0" anchor="t"/>
          <a:lstStyle/>
          <a:p>
            <a:pPr indent="0" marL="0">
              <a:buNone/>
            </a:pPr>
            <a:r>
              <a:rPr lang="en-US" sz="3000" dirty="0">
                <a:solidFill>
                  <a:srgbClr val="FF8A7A"/>
                </a:solidFill>
                <a:latin typeface="Segoe UI Semibold" pitchFamily="34" charset="0"/>
                <a:ea typeface="Segoe UI Semibold" pitchFamily="34" charset="-122"/>
                <a:cs typeface="Segoe UI Semibold" pitchFamily="34" charset="-120"/>
              </a:rPr>
              <a:t>±Rp 30 jt</a:t>
            </a:r>
            <a:endParaRPr lang="en-US" sz="3000" dirty="0"/>
          </a:p>
        </p:txBody>
      </p:sp>
      <p:sp>
        <p:nvSpPr>
          <p:cNvPr id="8" name="Text 6"/>
          <p:cNvSpPr/>
          <p:nvPr/>
        </p:nvSpPr>
        <p:spPr>
          <a:xfrm>
            <a:off x="822960" y="2221992"/>
            <a:ext cx="4389120" cy="274320"/>
          </a:xfrm>
          <a:prstGeom prst="rect">
            <a:avLst/>
          </a:prstGeom>
          <a:noFill/>
          <a:ln/>
        </p:spPr>
        <p:txBody>
          <a:bodyPr wrap="square" lIns="0" tIns="0" rIns="0" bIns="0" rtlCol="0" anchor="t"/>
          <a:lstStyle/>
          <a:p>
            <a:pPr indent="0" marL="0">
              <a:buNone/>
            </a:pPr>
            <a:r>
              <a:rPr lang="en-US" sz="1400" dirty="0">
                <a:solidFill>
                  <a:srgbClr val="EAF3F4"/>
                </a:solidFill>
                <a:latin typeface="Segoe UI" pitchFamily="34" charset="0"/>
                <a:ea typeface="Segoe UI" pitchFamily="34" charset="-122"/>
                <a:cs typeface="Segoe UI" pitchFamily="34" charset="-120"/>
              </a:rPr>
              <a:t>stok hidup satu kolam nila 4.000 m²</a:t>
            </a:r>
            <a:endParaRPr lang="en-US" sz="1400" dirty="0"/>
          </a:p>
        </p:txBody>
      </p:sp>
      <p:sp>
        <p:nvSpPr>
          <p:cNvPr id="9" name="Text 7"/>
          <p:cNvSpPr/>
          <p:nvPr/>
        </p:nvSpPr>
        <p:spPr>
          <a:xfrm>
            <a:off x="822960" y="2487168"/>
            <a:ext cx="4389120" cy="237744"/>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contoh KRW-P2 di prototipe · harga contoh</a:t>
            </a:r>
            <a:endParaRPr lang="en-US" sz="1100" dirty="0"/>
          </a:p>
        </p:txBody>
      </p:sp>
      <p:sp>
        <p:nvSpPr>
          <p:cNvPr id="10" name="Shape 8"/>
          <p:cNvSpPr/>
          <p:nvPr/>
        </p:nvSpPr>
        <p:spPr>
          <a:xfrm>
            <a:off x="548640" y="2990088"/>
            <a:ext cx="4754880" cy="1298448"/>
          </a:xfrm>
          <a:prstGeom prst="roundRect">
            <a:avLst>
              <a:gd name="adj" fmla="val 6338"/>
            </a:avLst>
          </a:prstGeom>
          <a:solidFill>
            <a:srgbClr val="0F2C33"/>
          </a:solidFill>
          <a:ln w="12700">
            <a:solidFill>
              <a:srgbClr val="24505A"/>
            </a:solidFill>
            <a:prstDash val="solid"/>
          </a:ln>
        </p:spPr>
      </p:sp>
      <p:sp>
        <p:nvSpPr>
          <p:cNvPr id="11" name="Shape 9"/>
          <p:cNvSpPr/>
          <p:nvPr/>
        </p:nvSpPr>
        <p:spPr>
          <a:xfrm>
            <a:off x="548640" y="3118104"/>
            <a:ext cx="54864" cy="1042416"/>
          </a:xfrm>
          <a:prstGeom prst="rect">
            <a:avLst/>
          </a:prstGeom>
          <a:solidFill>
            <a:srgbClr val="FFB347"/>
          </a:solidFill>
          <a:ln w="12700">
            <a:solidFill>
              <a:srgbClr val="FFB347"/>
            </a:solidFill>
            <a:prstDash val="solid"/>
          </a:ln>
        </p:spPr>
      </p:sp>
      <p:sp>
        <p:nvSpPr>
          <p:cNvPr id="12" name="Text 10"/>
          <p:cNvSpPr/>
          <p:nvPr/>
        </p:nvSpPr>
        <p:spPr>
          <a:xfrm>
            <a:off x="822960" y="3154680"/>
            <a:ext cx="4389120" cy="548640"/>
          </a:xfrm>
          <a:prstGeom prst="rect">
            <a:avLst/>
          </a:prstGeom>
          <a:noFill/>
          <a:ln/>
        </p:spPr>
        <p:txBody>
          <a:bodyPr wrap="square" lIns="0" tIns="0" rIns="0" bIns="0" rtlCol="0" anchor="t"/>
          <a:lstStyle/>
          <a:p>
            <a:pPr indent="0" marL="0">
              <a:buNone/>
            </a:pPr>
            <a:r>
              <a:rPr lang="en-US" sz="3000" dirty="0">
                <a:solidFill>
                  <a:srgbClr val="FFB347"/>
                </a:solidFill>
                <a:latin typeface="Segoe UI Semibold" pitchFamily="34" charset="0"/>
                <a:ea typeface="Segoe UI Semibold" pitchFamily="34" charset="-122"/>
                <a:cs typeface="Segoe UI Semibold" pitchFamily="34" charset="-120"/>
              </a:rPr>
              <a:t>Subuh</a:t>
            </a:r>
            <a:endParaRPr lang="en-US" sz="3000" dirty="0"/>
          </a:p>
        </p:txBody>
      </p:sp>
      <p:sp>
        <p:nvSpPr>
          <p:cNvPr id="13" name="Text 11"/>
          <p:cNvSpPr/>
          <p:nvPr/>
        </p:nvSpPr>
        <p:spPr>
          <a:xfrm>
            <a:off x="822960" y="3703320"/>
            <a:ext cx="4389120" cy="274320"/>
          </a:xfrm>
          <a:prstGeom prst="rect">
            <a:avLst/>
          </a:prstGeom>
          <a:noFill/>
          <a:ln/>
        </p:spPr>
        <p:txBody>
          <a:bodyPr wrap="square" lIns="0" tIns="0" rIns="0" bIns="0" rtlCol="0" anchor="t"/>
          <a:lstStyle/>
          <a:p>
            <a:pPr indent="0" marL="0">
              <a:buNone/>
            </a:pPr>
            <a:r>
              <a:rPr lang="en-US" sz="1400" dirty="0">
                <a:solidFill>
                  <a:srgbClr val="EAF3F4"/>
                </a:solidFill>
                <a:latin typeface="Segoe UI" pitchFamily="34" charset="0"/>
                <a:ea typeface="Segoe UI" pitchFamily="34" charset="-122"/>
                <a:cs typeface="Segoe UI" pitchFamily="34" charset="-120"/>
              </a:rPr>
              <a:t>oksigen (DO) paling rendah</a:t>
            </a:r>
            <a:endParaRPr lang="en-US" sz="1400" dirty="0"/>
          </a:p>
        </p:txBody>
      </p:sp>
      <p:sp>
        <p:nvSpPr>
          <p:cNvPr id="14" name="Text 12"/>
          <p:cNvSpPr/>
          <p:nvPr/>
        </p:nvSpPr>
        <p:spPr>
          <a:xfrm>
            <a:off x="822960" y="3968496"/>
            <a:ext cx="4389120" cy="237744"/>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justru saat tidak ada yang mengukur</a:t>
            </a:r>
            <a:endParaRPr lang="en-US" sz="1100" dirty="0"/>
          </a:p>
        </p:txBody>
      </p:sp>
      <p:sp>
        <p:nvSpPr>
          <p:cNvPr id="15" name="Shape 13"/>
          <p:cNvSpPr/>
          <p:nvPr/>
        </p:nvSpPr>
        <p:spPr>
          <a:xfrm>
            <a:off x="548640" y="4471416"/>
            <a:ext cx="4754880" cy="1298448"/>
          </a:xfrm>
          <a:prstGeom prst="roundRect">
            <a:avLst>
              <a:gd name="adj" fmla="val 6338"/>
            </a:avLst>
          </a:prstGeom>
          <a:solidFill>
            <a:srgbClr val="0F2C33"/>
          </a:solidFill>
          <a:ln w="12700">
            <a:solidFill>
              <a:srgbClr val="24505A"/>
            </a:solidFill>
            <a:prstDash val="solid"/>
          </a:ln>
        </p:spPr>
      </p:sp>
      <p:sp>
        <p:nvSpPr>
          <p:cNvPr id="16" name="Shape 14"/>
          <p:cNvSpPr/>
          <p:nvPr/>
        </p:nvSpPr>
        <p:spPr>
          <a:xfrm>
            <a:off x="548640" y="4599432"/>
            <a:ext cx="54864" cy="1042416"/>
          </a:xfrm>
          <a:prstGeom prst="rect">
            <a:avLst/>
          </a:prstGeom>
          <a:solidFill>
            <a:srgbClr val="FF7D6B"/>
          </a:solidFill>
          <a:ln w="12700">
            <a:solidFill>
              <a:srgbClr val="FF7D6B"/>
            </a:solidFill>
            <a:prstDash val="solid"/>
          </a:ln>
        </p:spPr>
      </p:sp>
      <p:sp>
        <p:nvSpPr>
          <p:cNvPr id="17" name="Text 15"/>
          <p:cNvSpPr/>
          <p:nvPr/>
        </p:nvSpPr>
        <p:spPr>
          <a:xfrm>
            <a:off x="822960" y="4636008"/>
            <a:ext cx="4389120" cy="548640"/>
          </a:xfrm>
          <a:prstGeom prst="rect">
            <a:avLst/>
          </a:prstGeom>
          <a:noFill/>
          <a:ln/>
        </p:spPr>
        <p:txBody>
          <a:bodyPr wrap="square" lIns="0" tIns="0" rIns="0" bIns="0" rtlCol="0" anchor="t"/>
          <a:lstStyle/>
          <a:p>
            <a:pPr indent="0" marL="0">
              <a:buNone/>
            </a:pPr>
            <a:r>
              <a:rPr lang="en-US" sz="3000" dirty="0">
                <a:solidFill>
                  <a:srgbClr val="FF7D6B"/>
                </a:solidFill>
                <a:latin typeface="Segoe UI Semibold" pitchFamily="34" charset="0"/>
                <a:ea typeface="Segoe UI Semibold" pitchFamily="34" charset="-122"/>
                <a:cs typeface="Segoe UI Semibold" pitchFamily="34" charset="-120"/>
              </a:rPr>
              <a:t>Hitungan jam</a:t>
            </a:r>
            <a:endParaRPr lang="en-US" sz="3000" dirty="0"/>
          </a:p>
        </p:txBody>
      </p:sp>
      <p:sp>
        <p:nvSpPr>
          <p:cNvPr id="18" name="Text 16"/>
          <p:cNvSpPr/>
          <p:nvPr/>
        </p:nvSpPr>
        <p:spPr>
          <a:xfrm>
            <a:off x="822960" y="5184648"/>
            <a:ext cx="4389120" cy="274320"/>
          </a:xfrm>
          <a:prstGeom prst="rect">
            <a:avLst/>
          </a:prstGeom>
          <a:noFill/>
          <a:ln/>
        </p:spPr>
        <p:txBody>
          <a:bodyPr wrap="square" lIns="0" tIns="0" rIns="0" bIns="0" rtlCol="0" anchor="t"/>
          <a:lstStyle/>
          <a:p>
            <a:pPr indent="0" marL="0">
              <a:buNone/>
            </a:pPr>
            <a:r>
              <a:rPr lang="en-US" sz="1400" dirty="0">
                <a:solidFill>
                  <a:srgbClr val="EAF3F4"/>
                </a:solidFill>
                <a:latin typeface="Segoe UI" pitchFamily="34" charset="0"/>
                <a:ea typeface="Segoe UI" pitchFamily="34" charset="-122"/>
                <a:cs typeface="Segoe UI" pitchFamily="34" charset="-120"/>
              </a:rPr>
              <a:t>dari waspada ke kematian massal</a:t>
            </a:r>
            <a:endParaRPr lang="en-US" sz="1400" dirty="0"/>
          </a:p>
        </p:txBody>
      </p:sp>
      <p:sp>
        <p:nvSpPr>
          <p:cNvPr id="19" name="Text 17"/>
          <p:cNvSpPr/>
          <p:nvPr/>
        </p:nvSpPr>
        <p:spPr>
          <a:xfrm>
            <a:off x="822960" y="5449824"/>
            <a:ext cx="4389120" cy="237744"/>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jika aerator tidak menyala tepat waktu</a:t>
            </a:r>
            <a:endParaRPr lang="en-US" sz="1100" dirty="0"/>
          </a:p>
        </p:txBody>
      </p:sp>
      <p:sp>
        <p:nvSpPr>
          <p:cNvPr id="20" name="Shape 18"/>
          <p:cNvSpPr/>
          <p:nvPr/>
        </p:nvSpPr>
        <p:spPr>
          <a:xfrm>
            <a:off x="5669280" y="1508760"/>
            <a:ext cx="2880360" cy="4261104"/>
          </a:xfrm>
          <a:prstGeom prst="roundRect">
            <a:avLst>
              <a:gd name="adj" fmla="val 2857"/>
            </a:avLst>
          </a:prstGeom>
          <a:solidFill>
            <a:srgbClr val="0F2C33"/>
          </a:solidFill>
          <a:ln w="12700">
            <a:solidFill>
              <a:srgbClr val="24505A"/>
            </a:solidFill>
            <a:prstDash val="solid"/>
          </a:ln>
        </p:spPr>
      </p:sp>
      <p:sp>
        <p:nvSpPr>
          <p:cNvPr id="21" name="Text 19"/>
          <p:cNvSpPr/>
          <p:nvPr/>
        </p:nvSpPr>
        <p:spPr>
          <a:xfrm>
            <a:off x="5897880" y="1719072"/>
            <a:ext cx="2423160" cy="274320"/>
          </a:xfrm>
          <a:prstGeom prst="rect">
            <a:avLst/>
          </a:prstGeom>
          <a:noFill/>
          <a:ln/>
        </p:spPr>
        <p:txBody>
          <a:bodyPr wrap="square" lIns="0" tIns="0" rIns="0" bIns="0" rtlCol="0" anchor="t"/>
          <a:lstStyle/>
          <a:p>
            <a:pPr indent="0" marL="0">
              <a:buNone/>
            </a:pPr>
            <a:r>
              <a:rPr lang="en-US" sz="1100" b="1" spc="150" kern="0" dirty="0">
                <a:solidFill>
                  <a:srgbClr val="86A0A6"/>
                </a:solidFill>
                <a:latin typeface="Segoe UI" pitchFamily="34" charset="0"/>
                <a:ea typeface="Segoe UI" pitchFamily="34" charset="-122"/>
                <a:cs typeface="Segoe UI" pitchFamily="34" charset="-120"/>
              </a:rPr>
              <a:t>HARI INI</a:t>
            </a:r>
            <a:endParaRPr lang="en-US" sz="1100" dirty="0"/>
          </a:p>
        </p:txBody>
      </p:sp>
      <p:sp>
        <p:nvSpPr>
          <p:cNvPr id="22" name="Shape 20"/>
          <p:cNvSpPr/>
          <p:nvPr/>
        </p:nvSpPr>
        <p:spPr>
          <a:xfrm>
            <a:off x="5916168" y="2258568"/>
            <a:ext cx="128016" cy="128016"/>
          </a:xfrm>
          <a:prstGeom prst="ellipse">
            <a:avLst/>
          </a:prstGeom>
          <a:solidFill>
            <a:srgbClr val="86A0A6"/>
          </a:solidFill>
          <a:ln w="12700">
            <a:solidFill>
              <a:srgbClr val="86A0A6"/>
            </a:solidFill>
            <a:prstDash val="solid"/>
          </a:ln>
        </p:spPr>
      </p:sp>
      <p:sp>
        <p:nvSpPr>
          <p:cNvPr id="23" name="Text 21"/>
          <p:cNvSpPr/>
          <p:nvPr/>
        </p:nvSpPr>
        <p:spPr>
          <a:xfrm>
            <a:off x="6172200" y="2148840"/>
            <a:ext cx="2148840" cy="1051560"/>
          </a:xfrm>
          <a:prstGeom prst="rect">
            <a:avLst/>
          </a:prstGeom>
          <a:noFill/>
          <a:ln/>
        </p:spPr>
        <p:txBody>
          <a:bodyPr wrap="square" lIns="0" tIns="0" rIns="0" bIns="0" rtlCol="0" anchor="t"/>
          <a:lstStyle/>
          <a:p>
            <a:pPr indent="0" marL="0">
              <a:lnSpc>
                <a:spcPct val="110000"/>
              </a:lnSpc>
              <a:buNone/>
            </a:pPr>
            <a:r>
              <a:rPr lang="en-US" sz="1350" dirty="0">
                <a:solidFill>
                  <a:srgbClr val="B9CCD0"/>
                </a:solidFill>
                <a:latin typeface="Segoe UI" pitchFamily="34" charset="0"/>
                <a:ea typeface="Segoe UI" pitchFamily="34" charset="-122"/>
                <a:cs typeface="Segoe UI" pitchFamily="34" charset="-120"/>
              </a:rPr>
              <a:t>Air diukur manual; masalah ketahuan saat ikan sudah stres</a:t>
            </a:r>
            <a:endParaRPr lang="en-US" sz="1350" dirty="0"/>
          </a:p>
        </p:txBody>
      </p:sp>
      <p:sp>
        <p:nvSpPr>
          <p:cNvPr id="24" name="Shape 22"/>
          <p:cNvSpPr/>
          <p:nvPr/>
        </p:nvSpPr>
        <p:spPr>
          <a:xfrm>
            <a:off x="5916168" y="3401568"/>
            <a:ext cx="128016" cy="128016"/>
          </a:xfrm>
          <a:prstGeom prst="ellipse">
            <a:avLst/>
          </a:prstGeom>
          <a:solidFill>
            <a:srgbClr val="86A0A6"/>
          </a:solidFill>
          <a:ln w="12700">
            <a:solidFill>
              <a:srgbClr val="86A0A6"/>
            </a:solidFill>
            <a:prstDash val="solid"/>
          </a:ln>
        </p:spPr>
      </p:sp>
      <p:sp>
        <p:nvSpPr>
          <p:cNvPr id="25" name="Text 23"/>
          <p:cNvSpPr/>
          <p:nvPr/>
        </p:nvSpPr>
        <p:spPr>
          <a:xfrm>
            <a:off x="6172200" y="3291840"/>
            <a:ext cx="2148840" cy="1051560"/>
          </a:xfrm>
          <a:prstGeom prst="rect">
            <a:avLst/>
          </a:prstGeom>
          <a:noFill/>
          <a:ln/>
        </p:spPr>
        <p:txBody>
          <a:bodyPr wrap="square" lIns="0" tIns="0" rIns="0" bIns="0" rtlCol="0" anchor="t"/>
          <a:lstStyle/>
          <a:p>
            <a:pPr indent="0" marL="0">
              <a:lnSpc>
                <a:spcPct val="110000"/>
              </a:lnSpc>
              <a:buNone/>
            </a:pPr>
            <a:r>
              <a:rPr lang="en-US" sz="1350" dirty="0">
                <a:solidFill>
                  <a:srgbClr val="B9CCD0"/>
                </a:solidFill>
                <a:latin typeface="Segoe UI" pitchFamily="34" charset="0"/>
                <a:ea typeface="Segoe UI" pitchFamily="34" charset="-122"/>
                <a:cs typeface="Segoe UI" pitchFamily="34" charset="-120"/>
              </a:rPr>
              <a:t>Vendor sensor dan dashboard berbeda per lokasi, tidak saling terhubung</a:t>
            </a:r>
            <a:endParaRPr lang="en-US" sz="1350" dirty="0"/>
          </a:p>
        </p:txBody>
      </p:sp>
      <p:sp>
        <p:nvSpPr>
          <p:cNvPr id="26" name="Shape 24"/>
          <p:cNvSpPr/>
          <p:nvPr/>
        </p:nvSpPr>
        <p:spPr>
          <a:xfrm>
            <a:off x="5916168" y="4544568"/>
            <a:ext cx="128016" cy="128016"/>
          </a:xfrm>
          <a:prstGeom prst="ellipse">
            <a:avLst/>
          </a:prstGeom>
          <a:solidFill>
            <a:srgbClr val="86A0A6"/>
          </a:solidFill>
          <a:ln w="12700">
            <a:solidFill>
              <a:srgbClr val="86A0A6"/>
            </a:solidFill>
            <a:prstDash val="solid"/>
          </a:ln>
        </p:spPr>
      </p:sp>
      <p:sp>
        <p:nvSpPr>
          <p:cNvPr id="27" name="Text 25"/>
          <p:cNvSpPr/>
          <p:nvPr/>
        </p:nvSpPr>
        <p:spPr>
          <a:xfrm>
            <a:off x="6172200" y="4434840"/>
            <a:ext cx="2148840" cy="1051560"/>
          </a:xfrm>
          <a:prstGeom prst="rect">
            <a:avLst/>
          </a:prstGeom>
          <a:noFill/>
          <a:ln/>
        </p:spPr>
        <p:txBody>
          <a:bodyPr wrap="square" lIns="0" tIns="0" rIns="0" bIns="0" rtlCol="0" anchor="t"/>
          <a:lstStyle/>
          <a:p>
            <a:pPr indent="0" marL="0">
              <a:lnSpc>
                <a:spcPct val="110000"/>
              </a:lnSpc>
              <a:buNone/>
            </a:pPr>
            <a:r>
              <a:rPr lang="en-US" sz="1350" dirty="0">
                <a:solidFill>
                  <a:srgbClr val="B9CCD0"/>
                </a:solidFill>
                <a:latin typeface="Segoe UI" pitchFamily="34" charset="0"/>
                <a:ea typeface="Segoe UI" pitchFamily="34" charset="-122"/>
                <a:cs typeface="Segoe UI" pitchFamily="34" charset="-120"/>
              </a:rPr>
              <a:t>Kinerja antar site tidak bisa dibandingkan; laporan manual terlambat</a:t>
            </a:r>
            <a:endParaRPr lang="en-US" sz="1350" dirty="0"/>
          </a:p>
        </p:txBody>
      </p:sp>
      <p:sp>
        <p:nvSpPr>
          <p:cNvPr id="28" name="Shape 26"/>
          <p:cNvSpPr/>
          <p:nvPr/>
        </p:nvSpPr>
        <p:spPr>
          <a:xfrm>
            <a:off x="8732520" y="1508760"/>
            <a:ext cx="2880360" cy="4261104"/>
          </a:xfrm>
          <a:prstGeom prst="roundRect">
            <a:avLst>
              <a:gd name="adj" fmla="val 2857"/>
            </a:avLst>
          </a:prstGeom>
          <a:solidFill>
            <a:srgbClr val="133A43"/>
          </a:solidFill>
          <a:ln w="12700">
            <a:solidFill>
              <a:srgbClr val="3FD0D4"/>
            </a:solidFill>
            <a:prstDash val="solid"/>
          </a:ln>
        </p:spPr>
      </p:sp>
      <p:sp>
        <p:nvSpPr>
          <p:cNvPr id="29" name="Text 27"/>
          <p:cNvSpPr/>
          <p:nvPr/>
        </p:nvSpPr>
        <p:spPr>
          <a:xfrm>
            <a:off x="8961120" y="1719072"/>
            <a:ext cx="2423160" cy="274320"/>
          </a:xfrm>
          <a:prstGeom prst="rect">
            <a:avLst/>
          </a:prstGeom>
          <a:noFill/>
          <a:ln/>
        </p:spPr>
        <p:txBody>
          <a:bodyPr wrap="square" lIns="0" tIns="0" rIns="0" bIns="0" rtlCol="0" anchor="t"/>
          <a:lstStyle/>
          <a:p>
            <a:pPr indent="0" marL="0">
              <a:buNone/>
            </a:pPr>
            <a:r>
              <a:rPr lang="en-US" sz="1100" b="1" spc="150" kern="0" dirty="0">
                <a:solidFill>
                  <a:srgbClr val="3FD0D4"/>
                </a:solidFill>
                <a:latin typeface="Segoe UI" pitchFamily="34" charset="0"/>
                <a:ea typeface="Segoe UI" pitchFamily="34" charset="-122"/>
                <a:cs typeface="Segoe UI" pitchFamily="34" charset="-120"/>
              </a:rPr>
              <a:t>DENGAN SMARTAQUA POND</a:t>
            </a:r>
            <a:endParaRPr lang="en-US" sz="1100" dirty="0"/>
          </a:p>
        </p:txBody>
      </p:sp>
      <p:sp>
        <p:nvSpPr>
          <p:cNvPr id="30" name="Shape 28"/>
          <p:cNvSpPr/>
          <p:nvPr/>
        </p:nvSpPr>
        <p:spPr>
          <a:xfrm>
            <a:off x="8979408" y="2258568"/>
            <a:ext cx="128016" cy="128016"/>
          </a:xfrm>
          <a:prstGeom prst="ellipse">
            <a:avLst/>
          </a:prstGeom>
          <a:solidFill>
            <a:srgbClr val="3FD0D4"/>
          </a:solidFill>
          <a:ln w="12700">
            <a:solidFill>
              <a:srgbClr val="3FD0D4"/>
            </a:solidFill>
            <a:prstDash val="solid"/>
          </a:ln>
        </p:spPr>
      </p:sp>
      <p:sp>
        <p:nvSpPr>
          <p:cNvPr id="31" name="Text 29"/>
          <p:cNvSpPr/>
          <p:nvPr/>
        </p:nvSpPr>
        <p:spPr>
          <a:xfrm>
            <a:off x="9235440" y="2148840"/>
            <a:ext cx="2148840" cy="1051560"/>
          </a:xfrm>
          <a:prstGeom prst="rect">
            <a:avLst/>
          </a:prstGeom>
          <a:noFill/>
          <a:ln/>
        </p:spPr>
        <p:txBody>
          <a:bodyPr wrap="square" lIns="0" tIns="0" rIns="0" bIns="0" rtlCol="0" anchor="t"/>
          <a:lstStyle/>
          <a:p>
            <a:pPr indent="0" marL="0">
              <a:lnSpc>
                <a:spcPct val="110000"/>
              </a:lnSpc>
              <a:buNone/>
            </a:pPr>
            <a:r>
              <a:rPr lang="en-US" sz="1350" dirty="0">
                <a:solidFill>
                  <a:srgbClr val="EAF3F4"/>
                </a:solidFill>
                <a:latin typeface="Segoe UI" pitchFamily="34" charset="0"/>
                <a:ea typeface="Segoe UI" pitchFamily="34" charset="-122"/>
                <a:cs typeface="Segoe UI" pitchFamily="34" charset="-120"/>
              </a:rPr>
              <a:t>10 parameter diukur tiap menit; aerator menyala sendiri sebelum batas bahaya</a:t>
            </a:r>
            <a:endParaRPr lang="en-US" sz="1350" dirty="0"/>
          </a:p>
        </p:txBody>
      </p:sp>
      <p:sp>
        <p:nvSpPr>
          <p:cNvPr id="32" name="Shape 30"/>
          <p:cNvSpPr/>
          <p:nvPr/>
        </p:nvSpPr>
        <p:spPr>
          <a:xfrm>
            <a:off x="8979408" y="3401568"/>
            <a:ext cx="128016" cy="128016"/>
          </a:xfrm>
          <a:prstGeom prst="ellipse">
            <a:avLst/>
          </a:prstGeom>
          <a:solidFill>
            <a:srgbClr val="3FD0D4"/>
          </a:solidFill>
          <a:ln w="12700">
            <a:solidFill>
              <a:srgbClr val="3FD0D4"/>
            </a:solidFill>
            <a:prstDash val="solid"/>
          </a:ln>
        </p:spPr>
      </p:sp>
      <p:sp>
        <p:nvSpPr>
          <p:cNvPr id="33" name="Text 31"/>
          <p:cNvSpPr/>
          <p:nvPr/>
        </p:nvSpPr>
        <p:spPr>
          <a:xfrm>
            <a:off x="9235440" y="3291840"/>
            <a:ext cx="2148840" cy="1051560"/>
          </a:xfrm>
          <a:prstGeom prst="rect">
            <a:avLst/>
          </a:prstGeom>
          <a:noFill/>
          <a:ln/>
        </p:spPr>
        <p:txBody>
          <a:bodyPr wrap="square" lIns="0" tIns="0" rIns="0" bIns="0" rtlCol="0" anchor="t"/>
          <a:lstStyle/>
          <a:p>
            <a:pPr indent="0" marL="0">
              <a:lnSpc>
                <a:spcPct val="110000"/>
              </a:lnSpc>
              <a:buNone/>
            </a:pPr>
            <a:r>
              <a:rPr lang="en-US" sz="1350" dirty="0">
                <a:solidFill>
                  <a:srgbClr val="EAF3F4"/>
                </a:solidFill>
                <a:latin typeface="Segoe UI" pitchFamily="34" charset="0"/>
                <a:ea typeface="Segoe UI" pitchFamily="34" charset="-122"/>
                <a:cs typeface="Segoe UI" pitchFamily="34" charset="-120"/>
              </a:rPr>
              <a:t>Satu platform vendor-neutral, terhubung ke STELINA, SICEKATAN, Satu Data</a:t>
            </a:r>
            <a:endParaRPr lang="en-US" sz="1350" dirty="0"/>
          </a:p>
        </p:txBody>
      </p:sp>
      <p:sp>
        <p:nvSpPr>
          <p:cNvPr id="34" name="Shape 32"/>
          <p:cNvSpPr/>
          <p:nvPr/>
        </p:nvSpPr>
        <p:spPr>
          <a:xfrm>
            <a:off x="8979408" y="4544568"/>
            <a:ext cx="128016" cy="128016"/>
          </a:xfrm>
          <a:prstGeom prst="ellipse">
            <a:avLst/>
          </a:prstGeom>
          <a:solidFill>
            <a:srgbClr val="3FD0D4"/>
          </a:solidFill>
          <a:ln w="12700">
            <a:solidFill>
              <a:srgbClr val="3FD0D4"/>
            </a:solidFill>
            <a:prstDash val="solid"/>
          </a:ln>
        </p:spPr>
      </p:sp>
      <p:sp>
        <p:nvSpPr>
          <p:cNvPr id="35" name="Text 33"/>
          <p:cNvSpPr/>
          <p:nvPr/>
        </p:nvSpPr>
        <p:spPr>
          <a:xfrm>
            <a:off x="9235440" y="4434840"/>
            <a:ext cx="2148840" cy="1051560"/>
          </a:xfrm>
          <a:prstGeom prst="rect">
            <a:avLst/>
          </a:prstGeom>
          <a:noFill/>
          <a:ln/>
        </p:spPr>
        <p:txBody>
          <a:bodyPr wrap="square" lIns="0" tIns="0" rIns="0" bIns="0" rtlCol="0" anchor="t"/>
          <a:lstStyle/>
          <a:p>
            <a:pPr indent="0" marL="0">
              <a:lnSpc>
                <a:spcPct val="110000"/>
              </a:lnSpc>
              <a:buNone/>
            </a:pPr>
            <a:r>
              <a:rPr lang="en-US" sz="1350" dirty="0">
                <a:solidFill>
                  <a:srgbClr val="EAF3F4"/>
                </a:solidFill>
                <a:latin typeface="Segoe UI" pitchFamily="34" charset="0"/>
                <a:ea typeface="Segoe UI" pitchFamily="34" charset="-122"/>
                <a:cs typeface="Segoe UI" pitchFamily="34" charset="-120"/>
              </a:rPr>
              <a:t>KPI sebanding antar site: sintasan, FCR, energi/kg, uptime alat</a:t>
            </a:r>
            <a:endParaRPr lang="en-US" sz="1350" dirty="0"/>
          </a:p>
        </p:txBody>
      </p:sp>
      <p:sp>
        <p:nvSpPr>
          <p:cNvPr id="36" name="Text 34"/>
          <p:cNvSpPr/>
          <p:nvPr/>
        </p:nvSpPr>
        <p:spPr>
          <a:xfrm>
            <a:off x="548640" y="5943600"/>
            <a:ext cx="10972800" cy="274320"/>
          </a:xfrm>
          <a:prstGeom prst="rect">
            <a:avLst/>
          </a:prstGeom>
          <a:noFill/>
          <a:ln/>
        </p:spPr>
        <p:txBody>
          <a:bodyPr wrap="square" lIns="0" tIns="0" rIns="0" bIns="0" rtlCol="0" anchor="t"/>
          <a:lstStyle/>
          <a:p>
            <a:pPr indent="0" marL="0">
              <a:buNone/>
            </a:pPr>
            <a:r>
              <a:rPr lang="en-US" sz="1200" dirty="0">
                <a:solidFill>
                  <a:srgbClr val="3FD0D4"/>
                </a:solidFill>
                <a:latin typeface="Segoe UI" pitchFamily="34" charset="0"/>
                <a:ea typeface="Segoe UI" pitchFamily="34" charset="-122"/>
                <a:cs typeface="Segoe UI" pitchFamily="34" charset="-120"/>
              </a:rPr>
              <a:t>Fokus pilot: nila air tawar dan nila salin (payau) · mendukung program prioritas KKP 2026–2029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3</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3FD0D4"/>
                </a:solidFill>
                <a:latin typeface="Segoe UI" pitchFamily="34" charset="0"/>
                <a:ea typeface="Segoe UI" pitchFamily="34" charset="-122"/>
                <a:cs typeface="Segoe UI" pitchFamily="34" charset="-120"/>
              </a:rPr>
              <a:t>CARA KERJA</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Satu putaran tertutup: ukur, pastikan, bertindak, buktikan</a:t>
            </a:r>
            <a:endParaRPr lang="en-US" sz="2700" dirty="0"/>
          </a:p>
        </p:txBody>
      </p:sp>
      <p:sp>
        <p:nvSpPr>
          <p:cNvPr id="5" name="Shape 3"/>
          <p:cNvSpPr/>
          <p:nvPr/>
        </p:nvSpPr>
        <p:spPr>
          <a:xfrm>
            <a:off x="548640" y="1828800"/>
            <a:ext cx="1682496" cy="2240280"/>
          </a:xfrm>
          <a:prstGeom prst="roundRect">
            <a:avLst>
              <a:gd name="adj" fmla="val 4891"/>
            </a:avLst>
          </a:prstGeom>
          <a:solidFill>
            <a:srgbClr val="0F2C33"/>
          </a:solidFill>
          <a:ln w="12700">
            <a:solidFill>
              <a:srgbClr val="5EE6B0"/>
            </a:solidFill>
            <a:prstDash val="solid"/>
          </a:ln>
        </p:spPr>
      </p:sp>
      <p:sp>
        <p:nvSpPr>
          <p:cNvPr id="6" name="Shape 4"/>
          <p:cNvSpPr/>
          <p:nvPr/>
        </p:nvSpPr>
        <p:spPr>
          <a:xfrm>
            <a:off x="749808" y="2057400"/>
            <a:ext cx="475488" cy="475488"/>
          </a:xfrm>
          <a:prstGeom prst="ellipse">
            <a:avLst/>
          </a:prstGeom>
          <a:solidFill>
            <a:srgbClr val="5EE6B0"/>
          </a:solidFill>
          <a:ln w="12700">
            <a:solidFill>
              <a:srgbClr val="5EE6B0"/>
            </a:solidFill>
            <a:prstDash val="solid"/>
          </a:ln>
        </p:spPr>
      </p:sp>
      <p:sp>
        <p:nvSpPr>
          <p:cNvPr id="7" name="Text 5"/>
          <p:cNvSpPr/>
          <p:nvPr/>
        </p:nvSpPr>
        <p:spPr>
          <a:xfrm>
            <a:off x="749808" y="2057400"/>
            <a:ext cx="475488" cy="475488"/>
          </a:xfrm>
          <a:prstGeom prst="rect">
            <a:avLst/>
          </a:prstGeom>
          <a:noFill/>
          <a:ln/>
        </p:spPr>
        <p:txBody>
          <a:bodyPr wrap="square" lIns="0" tIns="0" rIns="0" bIns="0" rtlCol="0" anchor="ctr"/>
          <a:lstStyle/>
          <a:p>
            <a:pPr algn="ctr" indent="0" marL="0">
              <a:buNone/>
            </a:pPr>
            <a:r>
              <a:rPr lang="en-US" sz="1600" b="1" dirty="0">
                <a:solidFill>
                  <a:srgbClr val="0A1E24"/>
                </a:solidFill>
                <a:latin typeface="Segoe UI" pitchFamily="34" charset="0"/>
                <a:ea typeface="Segoe UI" pitchFamily="34" charset="-122"/>
                <a:cs typeface="Segoe UI" pitchFamily="34" charset="-120"/>
              </a:rPr>
              <a:t>1</a:t>
            </a:r>
            <a:endParaRPr lang="en-US" sz="1600" dirty="0"/>
          </a:p>
        </p:txBody>
      </p:sp>
      <p:sp>
        <p:nvSpPr>
          <p:cNvPr id="8" name="Text 6"/>
          <p:cNvSpPr/>
          <p:nvPr/>
        </p:nvSpPr>
        <p:spPr>
          <a:xfrm>
            <a:off x="749808" y="2697480"/>
            <a:ext cx="1316736" cy="365760"/>
          </a:xfrm>
          <a:prstGeom prst="rect">
            <a:avLst/>
          </a:prstGeom>
          <a:noFill/>
          <a:ln/>
        </p:spPr>
        <p:txBody>
          <a:bodyPr wrap="square" lIns="0" tIns="0" rIns="0" bIns="0" rtlCol="0" anchor="t"/>
          <a:lstStyle/>
          <a:p>
            <a:pPr indent="0" marL="0">
              <a:buNone/>
            </a:pPr>
            <a:r>
              <a:rPr lang="en-US" sz="1600" dirty="0">
                <a:solidFill>
                  <a:srgbClr val="EAF3F4"/>
                </a:solidFill>
                <a:latin typeface="Segoe UI Semibold" pitchFamily="34" charset="0"/>
                <a:ea typeface="Segoe UI Semibold" pitchFamily="34" charset="-122"/>
                <a:cs typeface="Segoe UI Semibold" pitchFamily="34" charset="-120"/>
              </a:rPr>
              <a:t>Ukur</a:t>
            </a:r>
            <a:endParaRPr lang="en-US" sz="1600" dirty="0"/>
          </a:p>
        </p:txBody>
      </p:sp>
      <p:sp>
        <p:nvSpPr>
          <p:cNvPr id="9" name="Text 7"/>
          <p:cNvSpPr/>
          <p:nvPr/>
        </p:nvSpPr>
        <p:spPr>
          <a:xfrm>
            <a:off x="749808" y="3090672"/>
            <a:ext cx="1316736" cy="868680"/>
          </a:xfrm>
          <a:prstGeom prst="rect">
            <a:avLst/>
          </a:prstGeom>
          <a:noFill/>
          <a:ln/>
        </p:spPr>
        <p:txBody>
          <a:bodyPr wrap="square" lIns="0" tIns="0" rIns="0" bIns="0" rtlCol="0" anchor="t"/>
          <a:lstStyle/>
          <a:p>
            <a:pPr indent="0" marL="0">
              <a:lnSpc>
                <a:spcPct val="110000"/>
              </a:lnSpc>
              <a:buNone/>
            </a:pPr>
            <a:r>
              <a:rPr lang="en-US" sz="1200" dirty="0">
                <a:solidFill>
                  <a:srgbClr val="B9CCD0"/>
                </a:solidFill>
                <a:latin typeface="Segoe UI" pitchFamily="34" charset="0"/>
                <a:ea typeface="Segoe UI" pitchFamily="34" charset="-122"/>
                <a:cs typeface="Segoe UI" pitchFamily="34" charset="-120"/>
              </a:rPr>
              <a:t>10 sensor per kolam, setiap menit</a:t>
            </a:r>
            <a:endParaRPr lang="en-US" sz="1200" dirty="0"/>
          </a:p>
        </p:txBody>
      </p:sp>
      <p:sp>
        <p:nvSpPr>
          <p:cNvPr id="10" name="Shape 8"/>
          <p:cNvSpPr/>
          <p:nvPr/>
        </p:nvSpPr>
        <p:spPr>
          <a:xfrm>
            <a:off x="2249424" y="2944368"/>
            <a:ext cx="146304" cy="914"/>
          </a:xfrm>
          <a:prstGeom prst="line">
            <a:avLst/>
          </a:prstGeom>
          <a:noFill/>
          <a:ln w="19050">
            <a:solidFill>
              <a:srgbClr val="86A0A6"/>
            </a:solidFill>
            <a:prstDash val="solid"/>
            <a:tailEnd type="triangle"/>
          </a:ln>
        </p:spPr>
      </p:sp>
      <p:sp>
        <p:nvSpPr>
          <p:cNvPr id="11" name="Shape 9"/>
          <p:cNvSpPr/>
          <p:nvPr/>
        </p:nvSpPr>
        <p:spPr>
          <a:xfrm>
            <a:off x="2414016" y="1828800"/>
            <a:ext cx="1682496" cy="2240280"/>
          </a:xfrm>
          <a:prstGeom prst="roundRect">
            <a:avLst>
              <a:gd name="adj" fmla="val 4891"/>
            </a:avLst>
          </a:prstGeom>
          <a:solidFill>
            <a:srgbClr val="0F2C33"/>
          </a:solidFill>
          <a:ln w="12700">
            <a:solidFill>
              <a:srgbClr val="F5D35C"/>
            </a:solidFill>
            <a:prstDash val="solid"/>
          </a:ln>
        </p:spPr>
      </p:sp>
      <p:sp>
        <p:nvSpPr>
          <p:cNvPr id="12" name="Shape 10"/>
          <p:cNvSpPr/>
          <p:nvPr/>
        </p:nvSpPr>
        <p:spPr>
          <a:xfrm>
            <a:off x="2615184" y="2057400"/>
            <a:ext cx="475488" cy="475488"/>
          </a:xfrm>
          <a:prstGeom prst="ellipse">
            <a:avLst/>
          </a:prstGeom>
          <a:solidFill>
            <a:srgbClr val="F5D35C"/>
          </a:solidFill>
          <a:ln w="12700">
            <a:solidFill>
              <a:srgbClr val="F5D35C"/>
            </a:solidFill>
            <a:prstDash val="solid"/>
          </a:ln>
        </p:spPr>
      </p:sp>
      <p:sp>
        <p:nvSpPr>
          <p:cNvPr id="13" name="Text 11"/>
          <p:cNvSpPr/>
          <p:nvPr/>
        </p:nvSpPr>
        <p:spPr>
          <a:xfrm>
            <a:off x="2615184" y="2057400"/>
            <a:ext cx="475488" cy="475488"/>
          </a:xfrm>
          <a:prstGeom prst="rect">
            <a:avLst/>
          </a:prstGeom>
          <a:noFill/>
          <a:ln/>
        </p:spPr>
        <p:txBody>
          <a:bodyPr wrap="square" lIns="0" tIns="0" rIns="0" bIns="0" rtlCol="0" anchor="ctr"/>
          <a:lstStyle/>
          <a:p>
            <a:pPr algn="ctr" indent="0" marL="0">
              <a:buNone/>
            </a:pPr>
            <a:r>
              <a:rPr lang="en-US" sz="1600" b="1" dirty="0">
                <a:solidFill>
                  <a:srgbClr val="0A1E24"/>
                </a:solidFill>
                <a:latin typeface="Segoe UI" pitchFamily="34" charset="0"/>
                <a:ea typeface="Segoe UI" pitchFamily="34" charset="-122"/>
                <a:cs typeface="Segoe UI" pitchFamily="34" charset="-120"/>
              </a:rPr>
              <a:t>2</a:t>
            </a:r>
            <a:endParaRPr lang="en-US" sz="1600" dirty="0"/>
          </a:p>
        </p:txBody>
      </p:sp>
      <p:sp>
        <p:nvSpPr>
          <p:cNvPr id="14" name="Text 12"/>
          <p:cNvSpPr/>
          <p:nvPr/>
        </p:nvSpPr>
        <p:spPr>
          <a:xfrm>
            <a:off x="2615184" y="2697480"/>
            <a:ext cx="1316736" cy="365760"/>
          </a:xfrm>
          <a:prstGeom prst="rect">
            <a:avLst/>
          </a:prstGeom>
          <a:noFill/>
          <a:ln/>
        </p:spPr>
        <p:txBody>
          <a:bodyPr wrap="square" lIns="0" tIns="0" rIns="0" bIns="0" rtlCol="0" anchor="t"/>
          <a:lstStyle/>
          <a:p>
            <a:pPr indent="0" marL="0">
              <a:buNone/>
            </a:pPr>
            <a:r>
              <a:rPr lang="en-US" sz="1600" dirty="0">
                <a:solidFill>
                  <a:srgbClr val="EAF3F4"/>
                </a:solidFill>
                <a:latin typeface="Segoe UI Semibold" pitchFamily="34" charset="0"/>
                <a:ea typeface="Segoe UI Semibold" pitchFamily="34" charset="-122"/>
                <a:cs typeface="Segoe UI Semibold" pitchFamily="34" charset="-120"/>
              </a:rPr>
              <a:t>Pastikan</a:t>
            </a:r>
            <a:endParaRPr lang="en-US" sz="1600" dirty="0"/>
          </a:p>
        </p:txBody>
      </p:sp>
      <p:sp>
        <p:nvSpPr>
          <p:cNvPr id="15" name="Text 13"/>
          <p:cNvSpPr/>
          <p:nvPr/>
        </p:nvSpPr>
        <p:spPr>
          <a:xfrm>
            <a:off x="2615184" y="3090672"/>
            <a:ext cx="1316736" cy="868680"/>
          </a:xfrm>
          <a:prstGeom prst="rect">
            <a:avLst/>
          </a:prstGeom>
          <a:noFill/>
          <a:ln/>
        </p:spPr>
        <p:txBody>
          <a:bodyPr wrap="square" lIns="0" tIns="0" rIns="0" bIns="0" rtlCol="0" anchor="t"/>
          <a:lstStyle/>
          <a:p>
            <a:pPr indent="0" marL="0">
              <a:lnSpc>
                <a:spcPct val="110000"/>
              </a:lnSpc>
              <a:buNone/>
            </a:pPr>
            <a:r>
              <a:rPr lang="en-US" sz="1200" dirty="0">
                <a:solidFill>
                  <a:srgbClr val="B9CCD0"/>
                </a:solidFill>
                <a:latin typeface="Segoe UI" pitchFamily="34" charset="0"/>
                <a:ea typeface="Segoe UI" pitchFamily="34" charset="-122"/>
                <a:cs typeface="Segoe UI" pitchFamily="34" charset="-120"/>
              </a:rPr>
              <a:t>Mutu data diperiksa; dua sensor DO dibandingkan</a:t>
            </a:r>
            <a:endParaRPr lang="en-US" sz="1200" dirty="0"/>
          </a:p>
        </p:txBody>
      </p:sp>
      <p:sp>
        <p:nvSpPr>
          <p:cNvPr id="16" name="Shape 14"/>
          <p:cNvSpPr/>
          <p:nvPr/>
        </p:nvSpPr>
        <p:spPr>
          <a:xfrm>
            <a:off x="4114800" y="2944368"/>
            <a:ext cx="146304" cy="914"/>
          </a:xfrm>
          <a:prstGeom prst="line">
            <a:avLst/>
          </a:prstGeom>
          <a:noFill/>
          <a:ln w="19050">
            <a:solidFill>
              <a:srgbClr val="86A0A6"/>
            </a:solidFill>
            <a:prstDash val="solid"/>
            <a:tailEnd type="triangle"/>
          </a:ln>
        </p:spPr>
      </p:sp>
      <p:sp>
        <p:nvSpPr>
          <p:cNvPr id="17" name="Shape 15"/>
          <p:cNvSpPr/>
          <p:nvPr/>
        </p:nvSpPr>
        <p:spPr>
          <a:xfrm>
            <a:off x="4279392" y="1828800"/>
            <a:ext cx="1682496" cy="2240280"/>
          </a:xfrm>
          <a:prstGeom prst="roundRect">
            <a:avLst>
              <a:gd name="adj" fmla="val 4891"/>
            </a:avLst>
          </a:prstGeom>
          <a:solidFill>
            <a:srgbClr val="0F2C33"/>
          </a:solidFill>
          <a:ln w="12700">
            <a:solidFill>
              <a:srgbClr val="FFB347"/>
            </a:solidFill>
            <a:prstDash val="solid"/>
          </a:ln>
        </p:spPr>
      </p:sp>
      <p:sp>
        <p:nvSpPr>
          <p:cNvPr id="18" name="Shape 16"/>
          <p:cNvSpPr/>
          <p:nvPr/>
        </p:nvSpPr>
        <p:spPr>
          <a:xfrm>
            <a:off x="4480560" y="2057400"/>
            <a:ext cx="475488" cy="475488"/>
          </a:xfrm>
          <a:prstGeom prst="ellipse">
            <a:avLst/>
          </a:prstGeom>
          <a:solidFill>
            <a:srgbClr val="FFB347"/>
          </a:solidFill>
          <a:ln w="12700">
            <a:solidFill>
              <a:srgbClr val="FFB347"/>
            </a:solidFill>
            <a:prstDash val="solid"/>
          </a:ln>
        </p:spPr>
      </p:sp>
      <p:sp>
        <p:nvSpPr>
          <p:cNvPr id="19" name="Text 17"/>
          <p:cNvSpPr/>
          <p:nvPr/>
        </p:nvSpPr>
        <p:spPr>
          <a:xfrm>
            <a:off x="4480560" y="2057400"/>
            <a:ext cx="475488" cy="475488"/>
          </a:xfrm>
          <a:prstGeom prst="rect">
            <a:avLst/>
          </a:prstGeom>
          <a:noFill/>
          <a:ln/>
        </p:spPr>
        <p:txBody>
          <a:bodyPr wrap="square" lIns="0" tIns="0" rIns="0" bIns="0" rtlCol="0" anchor="ctr"/>
          <a:lstStyle/>
          <a:p>
            <a:pPr algn="ctr" indent="0" marL="0">
              <a:buNone/>
            </a:pPr>
            <a:r>
              <a:rPr lang="en-US" sz="1600" b="1" dirty="0">
                <a:solidFill>
                  <a:srgbClr val="0A1E24"/>
                </a:solidFill>
                <a:latin typeface="Segoe UI" pitchFamily="34" charset="0"/>
                <a:ea typeface="Segoe UI" pitchFamily="34" charset="-122"/>
                <a:cs typeface="Segoe UI" pitchFamily="34" charset="-120"/>
              </a:rPr>
              <a:t>3</a:t>
            </a:r>
            <a:endParaRPr lang="en-US" sz="1600" dirty="0"/>
          </a:p>
        </p:txBody>
      </p:sp>
      <p:sp>
        <p:nvSpPr>
          <p:cNvPr id="20" name="Text 18"/>
          <p:cNvSpPr/>
          <p:nvPr/>
        </p:nvSpPr>
        <p:spPr>
          <a:xfrm>
            <a:off x="4480560" y="2697480"/>
            <a:ext cx="1316736" cy="365760"/>
          </a:xfrm>
          <a:prstGeom prst="rect">
            <a:avLst/>
          </a:prstGeom>
          <a:noFill/>
          <a:ln/>
        </p:spPr>
        <p:txBody>
          <a:bodyPr wrap="square" lIns="0" tIns="0" rIns="0" bIns="0" rtlCol="0" anchor="t"/>
          <a:lstStyle/>
          <a:p>
            <a:pPr indent="0" marL="0">
              <a:buNone/>
            </a:pPr>
            <a:r>
              <a:rPr lang="en-US" sz="1600" dirty="0">
                <a:solidFill>
                  <a:srgbClr val="EAF3F4"/>
                </a:solidFill>
                <a:latin typeface="Segoe UI Semibold" pitchFamily="34" charset="0"/>
                <a:ea typeface="Segoe UI Semibold" pitchFamily="34" charset="-122"/>
                <a:cs typeface="Segoe UI Semibold" pitchFamily="34" charset="-120"/>
              </a:rPr>
              <a:t>Putuskan</a:t>
            </a:r>
            <a:endParaRPr lang="en-US" sz="1600" dirty="0"/>
          </a:p>
        </p:txBody>
      </p:sp>
      <p:sp>
        <p:nvSpPr>
          <p:cNvPr id="21" name="Text 19"/>
          <p:cNvSpPr/>
          <p:nvPr/>
        </p:nvSpPr>
        <p:spPr>
          <a:xfrm>
            <a:off x="4480560" y="3090672"/>
            <a:ext cx="1316736" cy="868680"/>
          </a:xfrm>
          <a:prstGeom prst="rect">
            <a:avLst/>
          </a:prstGeom>
          <a:noFill/>
          <a:ln/>
        </p:spPr>
        <p:txBody>
          <a:bodyPr wrap="square" lIns="0" tIns="0" rIns="0" bIns="0" rtlCol="0" anchor="t"/>
          <a:lstStyle/>
          <a:p>
            <a:pPr indent="0" marL="0">
              <a:lnSpc>
                <a:spcPct val="110000"/>
              </a:lnSpc>
              <a:buNone/>
            </a:pPr>
            <a:r>
              <a:rPr lang="en-US" sz="1200" dirty="0">
                <a:solidFill>
                  <a:srgbClr val="B9CCD0"/>
                </a:solidFill>
                <a:latin typeface="Segoe UI" pitchFamily="34" charset="0"/>
                <a:ea typeface="Segoe UI" pitchFamily="34" charset="-122"/>
                <a:cs typeface="Segoe UI" pitchFamily="34" charset="-120"/>
              </a:rPr>
              <a:t>Batas per komoditas + prakiraan oksigen subuh</a:t>
            </a:r>
            <a:endParaRPr lang="en-US" sz="1200" dirty="0"/>
          </a:p>
        </p:txBody>
      </p:sp>
      <p:sp>
        <p:nvSpPr>
          <p:cNvPr id="22" name="Shape 20"/>
          <p:cNvSpPr/>
          <p:nvPr/>
        </p:nvSpPr>
        <p:spPr>
          <a:xfrm>
            <a:off x="5980176" y="2944368"/>
            <a:ext cx="146304" cy="914"/>
          </a:xfrm>
          <a:prstGeom prst="line">
            <a:avLst/>
          </a:prstGeom>
          <a:noFill/>
          <a:ln w="19050">
            <a:solidFill>
              <a:srgbClr val="86A0A6"/>
            </a:solidFill>
            <a:prstDash val="solid"/>
            <a:tailEnd type="triangle"/>
          </a:ln>
        </p:spPr>
      </p:sp>
      <p:sp>
        <p:nvSpPr>
          <p:cNvPr id="23" name="Shape 21"/>
          <p:cNvSpPr/>
          <p:nvPr/>
        </p:nvSpPr>
        <p:spPr>
          <a:xfrm>
            <a:off x="6144768" y="1828800"/>
            <a:ext cx="1682496" cy="2240280"/>
          </a:xfrm>
          <a:prstGeom prst="roundRect">
            <a:avLst>
              <a:gd name="adj" fmla="val 4891"/>
            </a:avLst>
          </a:prstGeom>
          <a:solidFill>
            <a:srgbClr val="0F2C33"/>
          </a:solidFill>
          <a:ln w="12700">
            <a:solidFill>
              <a:srgbClr val="FF8A7A"/>
            </a:solidFill>
            <a:prstDash val="solid"/>
          </a:ln>
        </p:spPr>
      </p:sp>
      <p:sp>
        <p:nvSpPr>
          <p:cNvPr id="24" name="Shape 22"/>
          <p:cNvSpPr/>
          <p:nvPr/>
        </p:nvSpPr>
        <p:spPr>
          <a:xfrm>
            <a:off x="6345936" y="2057400"/>
            <a:ext cx="475488" cy="475488"/>
          </a:xfrm>
          <a:prstGeom prst="ellipse">
            <a:avLst/>
          </a:prstGeom>
          <a:solidFill>
            <a:srgbClr val="FF8A7A"/>
          </a:solidFill>
          <a:ln w="12700">
            <a:solidFill>
              <a:srgbClr val="FF8A7A"/>
            </a:solidFill>
            <a:prstDash val="solid"/>
          </a:ln>
        </p:spPr>
      </p:sp>
      <p:sp>
        <p:nvSpPr>
          <p:cNvPr id="25" name="Text 23"/>
          <p:cNvSpPr/>
          <p:nvPr/>
        </p:nvSpPr>
        <p:spPr>
          <a:xfrm>
            <a:off x="6345936" y="2057400"/>
            <a:ext cx="475488" cy="475488"/>
          </a:xfrm>
          <a:prstGeom prst="rect">
            <a:avLst/>
          </a:prstGeom>
          <a:noFill/>
          <a:ln/>
        </p:spPr>
        <p:txBody>
          <a:bodyPr wrap="square" lIns="0" tIns="0" rIns="0" bIns="0" rtlCol="0" anchor="ctr"/>
          <a:lstStyle/>
          <a:p>
            <a:pPr algn="ctr" indent="0" marL="0">
              <a:buNone/>
            </a:pPr>
            <a:r>
              <a:rPr lang="en-US" sz="1600" b="1" dirty="0">
                <a:solidFill>
                  <a:srgbClr val="0A1E24"/>
                </a:solidFill>
                <a:latin typeface="Segoe UI" pitchFamily="34" charset="0"/>
                <a:ea typeface="Segoe UI" pitchFamily="34" charset="-122"/>
                <a:cs typeface="Segoe UI" pitchFamily="34" charset="-120"/>
              </a:rPr>
              <a:t>4</a:t>
            </a:r>
            <a:endParaRPr lang="en-US" sz="1600" dirty="0"/>
          </a:p>
        </p:txBody>
      </p:sp>
      <p:sp>
        <p:nvSpPr>
          <p:cNvPr id="26" name="Text 24"/>
          <p:cNvSpPr/>
          <p:nvPr/>
        </p:nvSpPr>
        <p:spPr>
          <a:xfrm>
            <a:off x="6345936" y="2697480"/>
            <a:ext cx="1316736" cy="365760"/>
          </a:xfrm>
          <a:prstGeom prst="rect">
            <a:avLst/>
          </a:prstGeom>
          <a:noFill/>
          <a:ln/>
        </p:spPr>
        <p:txBody>
          <a:bodyPr wrap="square" lIns="0" tIns="0" rIns="0" bIns="0" rtlCol="0" anchor="t"/>
          <a:lstStyle/>
          <a:p>
            <a:pPr indent="0" marL="0">
              <a:buNone/>
            </a:pPr>
            <a:r>
              <a:rPr lang="en-US" sz="1600" dirty="0">
                <a:solidFill>
                  <a:srgbClr val="EAF3F4"/>
                </a:solidFill>
                <a:latin typeface="Segoe UI Semibold" pitchFamily="34" charset="0"/>
                <a:ea typeface="Segoe UI Semibold" pitchFamily="34" charset="-122"/>
                <a:cs typeface="Segoe UI Semibold" pitchFamily="34" charset="-120"/>
              </a:rPr>
              <a:t>Bertindak</a:t>
            </a:r>
            <a:endParaRPr lang="en-US" sz="1600" dirty="0"/>
          </a:p>
        </p:txBody>
      </p:sp>
      <p:sp>
        <p:nvSpPr>
          <p:cNvPr id="27" name="Text 25"/>
          <p:cNvSpPr/>
          <p:nvPr/>
        </p:nvSpPr>
        <p:spPr>
          <a:xfrm>
            <a:off x="6345936" y="3090672"/>
            <a:ext cx="1316736" cy="868680"/>
          </a:xfrm>
          <a:prstGeom prst="rect">
            <a:avLst/>
          </a:prstGeom>
          <a:noFill/>
          <a:ln/>
        </p:spPr>
        <p:txBody>
          <a:bodyPr wrap="square" lIns="0" tIns="0" rIns="0" bIns="0" rtlCol="0" anchor="t"/>
          <a:lstStyle/>
          <a:p>
            <a:pPr indent="0" marL="0">
              <a:lnSpc>
                <a:spcPct val="110000"/>
              </a:lnSpc>
              <a:buNone/>
            </a:pPr>
            <a:r>
              <a:rPr lang="en-US" sz="1200" dirty="0">
                <a:solidFill>
                  <a:srgbClr val="B9CCD0"/>
                </a:solidFill>
                <a:latin typeface="Segoe UI" pitchFamily="34" charset="0"/>
                <a:ea typeface="Segoe UI" pitchFamily="34" charset="-122"/>
                <a:cs typeface="Segoe UI" pitchFamily="34" charset="-120"/>
              </a:rPr>
              <a:t>Aerator/pompa otomatis di lokasi + tugas ke operator</a:t>
            </a:r>
            <a:endParaRPr lang="en-US" sz="1200" dirty="0"/>
          </a:p>
        </p:txBody>
      </p:sp>
      <p:sp>
        <p:nvSpPr>
          <p:cNvPr id="28" name="Shape 26"/>
          <p:cNvSpPr/>
          <p:nvPr/>
        </p:nvSpPr>
        <p:spPr>
          <a:xfrm>
            <a:off x="7845552" y="2944368"/>
            <a:ext cx="146304" cy="914"/>
          </a:xfrm>
          <a:prstGeom prst="line">
            <a:avLst/>
          </a:prstGeom>
          <a:noFill/>
          <a:ln w="19050">
            <a:solidFill>
              <a:srgbClr val="86A0A6"/>
            </a:solidFill>
            <a:prstDash val="solid"/>
            <a:tailEnd type="triangle"/>
          </a:ln>
        </p:spPr>
      </p:sp>
      <p:sp>
        <p:nvSpPr>
          <p:cNvPr id="29" name="Shape 27"/>
          <p:cNvSpPr/>
          <p:nvPr/>
        </p:nvSpPr>
        <p:spPr>
          <a:xfrm>
            <a:off x="8010144" y="1828800"/>
            <a:ext cx="1682496" cy="2240280"/>
          </a:xfrm>
          <a:prstGeom prst="roundRect">
            <a:avLst>
              <a:gd name="adj" fmla="val 4891"/>
            </a:avLst>
          </a:prstGeom>
          <a:solidFill>
            <a:srgbClr val="0F2C33"/>
          </a:solidFill>
          <a:ln w="12700">
            <a:solidFill>
              <a:srgbClr val="B39DFF"/>
            </a:solidFill>
            <a:prstDash val="solid"/>
          </a:ln>
        </p:spPr>
      </p:sp>
      <p:sp>
        <p:nvSpPr>
          <p:cNvPr id="30" name="Shape 28"/>
          <p:cNvSpPr/>
          <p:nvPr/>
        </p:nvSpPr>
        <p:spPr>
          <a:xfrm>
            <a:off x="8211312" y="2057400"/>
            <a:ext cx="475488" cy="475488"/>
          </a:xfrm>
          <a:prstGeom prst="ellipse">
            <a:avLst/>
          </a:prstGeom>
          <a:solidFill>
            <a:srgbClr val="B39DFF"/>
          </a:solidFill>
          <a:ln w="12700">
            <a:solidFill>
              <a:srgbClr val="B39DFF"/>
            </a:solidFill>
            <a:prstDash val="solid"/>
          </a:ln>
        </p:spPr>
      </p:sp>
      <p:sp>
        <p:nvSpPr>
          <p:cNvPr id="31" name="Text 29"/>
          <p:cNvSpPr/>
          <p:nvPr/>
        </p:nvSpPr>
        <p:spPr>
          <a:xfrm>
            <a:off x="8211312" y="2057400"/>
            <a:ext cx="475488" cy="475488"/>
          </a:xfrm>
          <a:prstGeom prst="rect">
            <a:avLst/>
          </a:prstGeom>
          <a:noFill/>
          <a:ln/>
        </p:spPr>
        <p:txBody>
          <a:bodyPr wrap="square" lIns="0" tIns="0" rIns="0" bIns="0" rtlCol="0" anchor="ctr"/>
          <a:lstStyle/>
          <a:p>
            <a:pPr algn="ctr" indent="0" marL="0">
              <a:buNone/>
            </a:pPr>
            <a:r>
              <a:rPr lang="en-US" sz="1600" b="1" dirty="0">
                <a:solidFill>
                  <a:srgbClr val="0A1E24"/>
                </a:solidFill>
                <a:latin typeface="Segoe UI" pitchFamily="34" charset="0"/>
                <a:ea typeface="Segoe UI" pitchFamily="34" charset="-122"/>
                <a:cs typeface="Segoe UI" pitchFamily="34" charset="-120"/>
              </a:rPr>
              <a:t>5</a:t>
            </a:r>
            <a:endParaRPr lang="en-US" sz="1600" dirty="0"/>
          </a:p>
        </p:txBody>
      </p:sp>
      <p:sp>
        <p:nvSpPr>
          <p:cNvPr id="32" name="Text 30"/>
          <p:cNvSpPr/>
          <p:nvPr/>
        </p:nvSpPr>
        <p:spPr>
          <a:xfrm>
            <a:off x="8211312" y="2697480"/>
            <a:ext cx="1316736" cy="365760"/>
          </a:xfrm>
          <a:prstGeom prst="rect">
            <a:avLst/>
          </a:prstGeom>
          <a:noFill/>
          <a:ln/>
        </p:spPr>
        <p:txBody>
          <a:bodyPr wrap="square" lIns="0" tIns="0" rIns="0" bIns="0" rtlCol="0" anchor="t"/>
          <a:lstStyle/>
          <a:p>
            <a:pPr indent="0" marL="0">
              <a:buNone/>
            </a:pPr>
            <a:r>
              <a:rPr lang="en-US" sz="1600" dirty="0">
                <a:solidFill>
                  <a:srgbClr val="EAF3F4"/>
                </a:solidFill>
                <a:latin typeface="Segoe UI Semibold" pitchFamily="34" charset="0"/>
                <a:ea typeface="Segoe UI Semibold" pitchFamily="34" charset="-122"/>
                <a:cs typeface="Segoe UI Semibold" pitchFamily="34" charset="-120"/>
              </a:rPr>
              <a:t>Verifikasi</a:t>
            </a:r>
            <a:endParaRPr lang="en-US" sz="1600" dirty="0"/>
          </a:p>
        </p:txBody>
      </p:sp>
      <p:sp>
        <p:nvSpPr>
          <p:cNvPr id="33" name="Text 31"/>
          <p:cNvSpPr/>
          <p:nvPr/>
        </p:nvSpPr>
        <p:spPr>
          <a:xfrm>
            <a:off x="8211312" y="3090672"/>
            <a:ext cx="1316736" cy="868680"/>
          </a:xfrm>
          <a:prstGeom prst="rect">
            <a:avLst/>
          </a:prstGeom>
          <a:noFill/>
          <a:ln/>
        </p:spPr>
        <p:txBody>
          <a:bodyPr wrap="square" lIns="0" tIns="0" rIns="0" bIns="0" rtlCol="0" anchor="t"/>
          <a:lstStyle/>
          <a:p>
            <a:pPr indent="0" marL="0">
              <a:lnSpc>
                <a:spcPct val="110000"/>
              </a:lnSpc>
              <a:buNone/>
            </a:pPr>
            <a:r>
              <a:rPr lang="en-US" sz="1200" dirty="0">
                <a:solidFill>
                  <a:srgbClr val="B9CCD0"/>
                </a:solidFill>
                <a:latin typeface="Segoe UI" pitchFamily="34" charset="0"/>
                <a:ea typeface="Segoe UI" pitchFamily="34" charset="-122"/>
                <a:cs typeface="Segoe UI" pitchFamily="34" charset="-120"/>
              </a:rPr>
              <a:t>Sinyal balik alat dan DO naik kembali</a:t>
            </a:r>
            <a:endParaRPr lang="en-US" sz="1200" dirty="0"/>
          </a:p>
        </p:txBody>
      </p:sp>
      <p:sp>
        <p:nvSpPr>
          <p:cNvPr id="34" name="Shape 32"/>
          <p:cNvSpPr/>
          <p:nvPr/>
        </p:nvSpPr>
        <p:spPr>
          <a:xfrm>
            <a:off x="9710928" y="2944368"/>
            <a:ext cx="146304" cy="914"/>
          </a:xfrm>
          <a:prstGeom prst="line">
            <a:avLst/>
          </a:prstGeom>
          <a:noFill/>
          <a:ln w="19050">
            <a:solidFill>
              <a:srgbClr val="86A0A6"/>
            </a:solidFill>
            <a:prstDash val="solid"/>
            <a:tailEnd type="triangle"/>
          </a:ln>
        </p:spPr>
      </p:sp>
      <p:sp>
        <p:nvSpPr>
          <p:cNvPr id="35" name="Shape 33"/>
          <p:cNvSpPr/>
          <p:nvPr/>
        </p:nvSpPr>
        <p:spPr>
          <a:xfrm>
            <a:off x="9875520" y="1828800"/>
            <a:ext cx="1682496" cy="2240280"/>
          </a:xfrm>
          <a:prstGeom prst="roundRect">
            <a:avLst>
              <a:gd name="adj" fmla="val 4891"/>
            </a:avLst>
          </a:prstGeom>
          <a:solidFill>
            <a:srgbClr val="0F2C33"/>
          </a:solidFill>
          <a:ln w="12700">
            <a:solidFill>
              <a:srgbClr val="5AA9FF"/>
            </a:solidFill>
            <a:prstDash val="solid"/>
          </a:ln>
        </p:spPr>
      </p:sp>
      <p:sp>
        <p:nvSpPr>
          <p:cNvPr id="36" name="Shape 34"/>
          <p:cNvSpPr/>
          <p:nvPr/>
        </p:nvSpPr>
        <p:spPr>
          <a:xfrm>
            <a:off x="10076688" y="2057400"/>
            <a:ext cx="475488" cy="475488"/>
          </a:xfrm>
          <a:prstGeom prst="ellipse">
            <a:avLst/>
          </a:prstGeom>
          <a:solidFill>
            <a:srgbClr val="5AA9FF"/>
          </a:solidFill>
          <a:ln w="12700">
            <a:solidFill>
              <a:srgbClr val="5AA9FF"/>
            </a:solidFill>
            <a:prstDash val="solid"/>
          </a:ln>
        </p:spPr>
      </p:sp>
      <p:sp>
        <p:nvSpPr>
          <p:cNvPr id="37" name="Text 35"/>
          <p:cNvSpPr/>
          <p:nvPr/>
        </p:nvSpPr>
        <p:spPr>
          <a:xfrm>
            <a:off x="10076688" y="2057400"/>
            <a:ext cx="475488" cy="475488"/>
          </a:xfrm>
          <a:prstGeom prst="rect">
            <a:avLst/>
          </a:prstGeom>
          <a:noFill/>
          <a:ln/>
        </p:spPr>
        <p:txBody>
          <a:bodyPr wrap="square" lIns="0" tIns="0" rIns="0" bIns="0" rtlCol="0" anchor="ctr"/>
          <a:lstStyle/>
          <a:p>
            <a:pPr algn="ctr" indent="0" marL="0">
              <a:buNone/>
            </a:pPr>
            <a:r>
              <a:rPr lang="en-US" sz="1600" b="1" dirty="0">
                <a:solidFill>
                  <a:srgbClr val="0A1E24"/>
                </a:solidFill>
                <a:latin typeface="Segoe UI" pitchFamily="34" charset="0"/>
                <a:ea typeface="Segoe UI" pitchFamily="34" charset="-122"/>
                <a:cs typeface="Segoe UI" pitchFamily="34" charset="-120"/>
              </a:rPr>
              <a:t>6</a:t>
            </a:r>
            <a:endParaRPr lang="en-US" sz="1600" dirty="0"/>
          </a:p>
        </p:txBody>
      </p:sp>
      <p:sp>
        <p:nvSpPr>
          <p:cNvPr id="38" name="Text 36"/>
          <p:cNvSpPr/>
          <p:nvPr/>
        </p:nvSpPr>
        <p:spPr>
          <a:xfrm>
            <a:off x="10076688" y="2697480"/>
            <a:ext cx="1316736" cy="365760"/>
          </a:xfrm>
          <a:prstGeom prst="rect">
            <a:avLst/>
          </a:prstGeom>
          <a:noFill/>
          <a:ln/>
        </p:spPr>
        <p:txBody>
          <a:bodyPr wrap="square" lIns="0" tIns="0" rIns="0" bIns="0" rtlCol="0" anchor="t"/>
          <a:lstStyle/>
          <a:p>
            <a:pPr indent="0" marL="0">
              <a:buNone/>
            </a:pPr>
            <a:r>
              <a:rPr lang="en-US" sz="1600" dirty="0">
                <a:solidFill>
                  <a:srgbClr val="EAF3F4"/>
                </a:solidFill>
                <a:latin typeface="Segoe UI Semibold" pitchFamily="34" charset="0"/>
                <a:ea typeface="Segoe UI Semibold" pitchFamily="34" charset="-122"/>
                <a:cs typeface="Segoe UI Semibold" pitchFamily="34" charset="-120"/>
              </a:rPr>
              <a:t>Catat</a:t>
            </a:r>
            <a:endParaRPr lang="en-US" sz="1600" dirty="0"/>
          </a:p>
        </p:txBody>
      </p:sp>
      <p:sp>
        <p:nvSpPr>
          <p:cNvPr id="39" name="Text 37"/>
          <p:cNvSpPr/>
          <p:nvPr/>
        </p:nvSpPr>
        <p:spPr>
          <a:xfrm>
            <a:off x="10076688" y="3090672"/>
            <a:ext cx="1316736" cy="868680"/>
          </a:xfrm>
          <a:prstGeom prst="rect">
            <a:avLst/>
          </a:prstGeom>
          <a:noFill/>
          <a:ln/>
        </p:spPr>
        <p:txBody>
          <a:bodyPr wrap="square" lIns="0" tIns="0" rIns="0" bIns="0" rtlCol="0" anchor="t"/>
          <a:lstStyle/>
          <a:p>
            <a:pPr indent="0" marL="0">
              <a:lnSpc>
                <a:spcPct val="110000"/>
              </a:lnSpc>
              <a:buNone/>
            </a:pPr>
            <a:r>
              <a:rPr lang="en-US" sz="1200" dirty="0">
                <a:solidFill>
                  <a:srgbClr val="B9CCD0"/>
                </a:solidFill>
                <a:latin typeface="Segoe UI" pitchFamily="34" charset="0"/>
                <a:ea typeface="Segoe UI" pitchFamily="34" charset="-122"/>
                <a:cs typeface="Segoe UI" pitchFamily="34" charset="-120"/>
              </a:rPr>
              <a:t>Bukti, siklus budidaya, nilai rupiah — batas makin tepat</a:t>
            </a:r>
            <a:endParaRPr lang="en-US" sz="1200" dirty="0"/>
          </a:p>
        </p:txBody>
      </p:sp>
      <p:sp>
        <p:nvSpPr>
          <p:cNvPr id="40" name="Shape 38"/>
          <p:cNvSpPr/>
          <p:nvPr/>
        </p:nvSpPr>
        <p:spPr>
          <a:xfrm>
            <a:off x="10716768" y="4069080"/>
            <a:ext cx="914" cy="274320"/>
          </a:xfrm>
          <a:prstGeom prst="line">
            <a:avLst/>
          </a:prstGeom>
          <a:noFill/>
          <a:ln w="19050">
            <a:solidFill>
              <a:srgbClr val="3FD0D4"/>
            </a:solidFill>
            <a:prstDash val="solid"/>
          </a:ln>
        </p:spPr>
      </p:sp>
      <p:sp>
        <p:nvSpPr>
          <p:cNvPr id="41" name="Shape 39"/>
          <p:cNvSpPr/>
          <p:nvPr/>
        </p:nvSpPr>
        <p:spPr>
          <a:xfrm>
            <a:off x="1389888" y="4343400"/>
            <a:ext cx="9326880" cy="914"/>
          </a:xfrm>
          <a:prstGeom prst="line">
            <a:avLst/>
          </a:prstGeom>
          <a:noFill/>
          <a:ln w="19050">
            <a:solidFill>
              <a:srgbClr val="3FD0D4"/>
            </a:solidFill>
            <a:prstDash val="solid"/>
          </a:ln>
        </p:spPr>
      </p:sp>
      <p:sp>
        <p:nvSpPr>
          <p:cNvPr id="42" name="Shape 40"/>
          <p:cNvSpPr/>
          <p:nvPr/>
        </p:nvSpPr>
        <p:spPr>
          <a:xfrm flipV="1">
            <a:off x="1389888" y="4087368"/>
            <a:ext cx="914" cy="256032"/>
          </a:xfrm>
          <a:prstGeom prst="line">
            <a:avLst/>
          </a:prstGeom>
          <a:noFill/>
          <a:ln w="19050">
            <a:solidFill>
              <a:srgbClr val="3FD0D4"/>
            </a:solidFill>
            <a:prstDash val="solid"/>
            <a:tailEnd type="triangle"/>
          </a:ln>
        </p:spPr>
      </p:sp>
      <p:sp>
        <p:nvSpPr>
          <p:cNvPr id="43" name="Text 41"/>
          <p:cNvSpPr/>
          <p:nvPr/>
        </p:nvSpPr>
        <p:spPr>
          <a:xfrm>
            <a:off x="3200400" y="4416552"/>
            <a:ext cx="5852160" cy="274320"/>
          </a:xfrm>
          <a:prstGeom prst="rect">
            <a:avLst/>
          </a:prstGeom>
          <a:noFill/>
          <a:ln/>
        </p:spPr>
        <p:txBody>
          <a:bodyPr wrap="square" lIns="0" tIns="0" rIns="0" bIns="0" rtlCol="0" anchor="t"/>
          <a:lstStyle/>
          <a:p>
            <a:pPr algn="ctr" indent="0" marL="0">
              <a:buNone/>
            </a:pPr>
            <a:r>
              <a:rPr lang="en-US" sz="1200" i="1" dirty="0">
                <a:solidFill>
                  <a:srgbClr val="3FD0D4"/>
                </a:solidFill>
                <a:latin typeface="Segoe UI" pitchFamily="34" charset="0"/>
                <a:ea typeface="Segoe UI" pitchFamily="34" charset="-122"/>
                <a:cs typeface="Segoe UI" pitchFamily="34" charset="-120"/>
              </a:rPr>
              <a:t>hasil setiap putaran mempertajam batas dan prakiraan</a:t>
            </a:r>
            <a:endParaRPr lang="en-US" sz="1200" dirty="0"/>
          </a:p>
        </p:txBody>
      </p:sp>
      <p:sp>
        <p:nvSpPr>
          <p:cNvPr id="44" name="Shape 42"/>
          <p:cNvSpPr/>
          <p:nvPr/>
        </p:nvSpPr>
        <p:spPr>
          <a:xfrm>
            <a:off x="548640" y="5166360"/>
            <a:ext cx="5486400" cy="868680"/>
          </a:xfrm>
          <a:prstGeom prst="roundRect">
            <a:avLst>
              <a:gd name="adj" fmla="val 9474"/>
            </a:avLst>
          </a:prstGeom>
          <a:solidFill>
            <a:srgbClr val="0F2C33"/>
          </a:solidFill>
          <a:ln w="12700">
            <a:solidFill>
              <a:srgbClr val="24505A"/>
            </a:solidFill>
            <a:prstDash val="solid"/>
          </a:ln>
        </p:spPr>
      </p:sp>
      <p:sp>
        <p:nvSpPr>
          <p:cNvPr id="45" name="Shape 43"/>
          <p:cNvSpPr/>
          <p:nvPr/>
        </p:nvSpPr>
        <p:spPr>
          <a:xfrm>
            <a:off x="548640" y="5294376"/>
            <a:ext cx="54864" cy="612648"/>
          </a:xfrm>
          <a:prstGeom prst="rect">
            <a:avLst/>
          </a:prstGeom>
          <a:solidFill>
            <a:srgbClr val="FFB347"/>
          </a:solidFill>
          <a:ln w="12700">
            <a:solidFill>
              <a:srgbClr val="FFB347"/>
            </a:solidFill>
            <a:prstDash val="solid"/>
          </a:ln>
        </p:spPr>
      </p:sp>
      <p:sp>
        <p:nvSpPr>
          <p:cNvPr id="46" name="Text 44"/>
          <p:cNvSpPr/>
          <p:nvPr/>
        </p:nvSpPr>
        <p:spPr>
          <a:xfrm>
            <a:off x="777240" y="5276088"/>
            <a:ext cx="5120640" cy="685800"/>
          </a:xfrm>
          <a:prstGeom prst="rect">
            <a:avLst/>
          </a:prstGeom>
          <a:noFill/>
          <a:ln/>
        </p:spPr>
        <p:txBody>
          <a:bodyPr wrap="square" lIns="0" tIns="0" rIns="0" bIns="0" rtlCol="0" anchor="t"/>
          <a:lstStyle/>
          <a:p>
            <a:pPr indent="0" marL="0">
              <a:buNone/>
            </a:pPr>
            <a:r>
              <a:rPr lang="en-US" sz="1250" b="1" dirty="0">
                <a:solidFill>
                  <a:srgbClr val="FFB347"/>
                </a:solidFill>
                <a:latin typeface="Segoe UI" pitchFamily="34" charset="0"/>
                <a:ea typeface="Segoe UI" pitchFamily="34" charset="-122"/>
                <a:cs typeface="Segoe UI" pitchFamily="34" charset="-120"/>
              </a:rPr>
              <a:t>Putaran keselamatan · detik</a:t>
            </a:r>
            <a:endParaRPr lang="en-US" sz="1250" dirty="0"/>
          </a:p>
          <a:p>
            <a:pPr indent="0" marL="0">
              <a:buNone/>
            </a:pPr>
            <a:r>
              <a:rPr lang="en-US" sz="1250" dirty="0">
                <a:solidFill>
                  <a:srgbClr val="B9CCD0"/>
                </a:solidFill>
                <a:latin typeface="Segoe UI" pitchFamily="34" charset="0"/>
                <a:ea typeface="Segoe UI" pitchFamily="34" charset="-122"/>
                <a:cs typeface="Segoe UI" pitchFamily="34" charset="-120"/>
              </a:rPr>
              <a:t>DO rendah → aerator ON → cek sinyal balik, langsung di lokasi (edge). Tetap bekerja saat internet putus.</a:t>
            </a:r>
            <a:endParaRPr lang="en-US" sz="1250" dirty="0"/>
          </a:p>
        </p:txBody>
      </p:sp>
      <p:sp>
        <p:nvSpPr>
          <p:cNvPr id="47" name="Shape 45"/>
          <p:cNvSpPr/>
          <p:nvPr/>
        </p:nvSpPr>
        <p:spPr>
          <a:xfrm>
            <a:off x="6172200" y="5166360"/>
            <a:ext cx="5468112" cy="868680"/>
          </a:xfrm>
          <a:prstGeom prst="roundRect">
            <a:avLst>
              <a:gd name="adj" fmla="val 9474"/>
            </a:avLst>
          </a:prstGeom>
          <a:solidFill>
            <a:srgbClr val="0F2C33"/>
          </a:solidFill>
          <a:ln w="12700">
            <a:solidFill>
              <a:srgbClr val="24505A"/>
            </a:solidFill>
            <a:prstDash val="solid"/>
          </a:ln>
        </p:spPr>
      </p:sp>
      <p:sp>
        <p:nvSpPr>
          <p:cNvPr id="48" name="Shape 46"/>
          <p:cNvSpPr/>
          <p:nvPr/>
        </p:nvSpPr>
        <p:spPr>
          <a:xfrm>
            <a:off x="6172200" y="5294376"/>
            <a:ext cx="54864" cy="612648"/>
          </a:xfrm>
          <a:prstGeom prst="rect">
            <a:avLst/>
          </a:prstGeom>
          <a:solidFill>
            <a:srgbClr val="5AA9FF"/>
          </a:solidFill>
          <a:ln w="12700">
            <a:solidFill>
              <a:srgbClr val="5AA9FF"/>
            </a:solidFill>
            <a:prstDash val="solid"/>
          </a:ln>
        </p:spPr>
      </p:sp>
      <p:sp>
        <p:nvSpPr>
          <p:cNvPr id="49" name="Text 47"/>
          <p:cNvSpPr/>
          <p:nvPr/>
        </p:nvSpPr>
        <p:spPr>
          <a:xfrm>
            <a:off x="6400800" y="5276088"/>
            <a:ext cx="5120640" cy="685800"/>
          </a:xfrm>
          <a:prstGeom prst="rect">
            <a:avLst/>
          </a:prstGeom>
          <a:noFill/>
          <a:ln/>
        </p:spPr>
        <p:txBody>
          <a:bodyPr wrap="square" lIns="0" tIns="0" rIns="0" bIns="0" rtlCol="0" anchor="t"/>
          <a:lstStyle/>
          <a:p>
            <a:pPr indent="0" marL="0">
              <a:buNone/>
            </a:pPr>
            <a:r>
              <a:rPr lang="en-US" sz="1250" b="1" dirty="0">
                <a:solidFill>
                  <a:srgbClr val="5AA9FF"/>
                </a:solidFill>
                <a:latin typeface="Segoe UI" pitchFamily="34" charset="0"/>
                <a:ea typeface="Segoe UI" pitchFamily="34" charset="-122"/>
                <a:cs typeface="Segoe UI" pitchFamily="34" charset="-120"/>
              </a:rPr>
              <a:t>Putaran manajemen · menit sampai siklus panen</a:t>
            </a:r>
            <a:endParaRPr lang="en-US" sz="1250" dirty="0"/>
          </a:p>
          <a:p>
            <a:pPr indent="0" marL="0">
              <a:buNone/>
            </a:pPr>
            <a:r>
              <a:rPr lang="en-US" sz="1250" dirty="0">
                <a:solidFill>
                  <a:srgbClr val="B9CCD0"/>
                </a:solidFill>
                <a:latin typeface="Segoe UI" pitchFamily="34" charset="0"/>
                <a:ea typeface="Segoe UI" pitchFamily="34" charset="-122"/>
                <a:cs typeface="Segoe UI" pitchFamily="34" charset="-120"/>
              </a:rPr>
              <a:t>Cloud dan aplikasi: peringatan, tugas, bukti, laporan, keuangan.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4</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3FD0D4"/>
                </a:solidFill>
                <a:latin typeface="Segoe UI" pitchFamily="34" charset="0"/>
                <a:ea typeface="Segoe UI" pitchFamily="34" charset="-122"/>
                <a:cs typeface="Segoe UI" pitchFamily="34" charset="-120"/>
              </a:rPr>
              <a:t>ARSITEKTUR</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Tujuh lapis, dari sensor di kolam sampai keputusan di layar</a:t>
            </a:r>
            <a:endParaRPr lang="en-US" sz="2700" dirty="0"/>
          </a:p>
        </p:txBody>
      </p:sp>
      <p:sp>
        <p:nvSpPr>
          <p:cNvPr id="5" name="Shape 3"/>
          <p:cNvSpPr/>
          <p:nvPr/>
        </p:nvSpPr>
        <p:spPr>
          <a:xfrm>
            <a:off x="548640" y="1444752"/>
            <a:ext cx="11091672" cy="548640"/>
          </a:xfrm>
          <a:prstGeom prst="roundRect">
            <a:avLst>
              <a:gd name="adj" fmla="val 15000"/>
            </a:avLst>
          </a:prstGeom>
          <a:solidFill>
            <a:srgbClr val="0F2C33"/>
          </a:solidFill>
          <a:ln w="12700">
            <a:solidFill>
              <a:srgbClr val="24505A"/>
            </a:solidFill>
            <a:prstDash val="solid"/>
          </a:ln>
        </p:spPr>
      </p:sp>
      <p:sp>
        <p:nvSpPr>
          <p:cNvPr id="6" name="Shape 4"/>
          <p:cNvSpPr/>
          <p:nvPr/>
        </p:nvSpPr>
        <p:spPr>
          <a:xfrm>
            <a:off x="548640" y="1572768"/>
            <a:ext cx="54864" cy="292608"/>
          </a:xfrm>
          <a:prstGeom prst="rect">
            <a:avLst/>
          </a:prstGeom>
          <a:solidFill>
            <a:srgbClr val="A9B4BC"/>
          </a:solidFill>
          <a:ln w="12700">
            <a:solidFill>
              <a:srgbClr val="A9B4BC"/>
            </a:solidFill>
            <a:prstDash val="solid"/>
          </a:ln>
        </p:spPr>
      </p:sp>
      <p:sp>
        <p:nvSpPr>
          <p:cNvPr id="7" name="Text 5"/>
          <p:cNvSpPr/>
          <p:nvPr/>
        </p:nvSpPr>
        <p:spPr>
          <a:xfrm>
            <a:off x="777240" y="1444752"/>
            <a:ext cx="1920240" cy="548640"/>
          </a:xfrm>
          <a:prstGeom prst="rect">
            <a:avLst/>
          </a:prstGeom>
          <a:noFill/>
          <a:ln/>
        </p:spPr>
        <p:txBody>
          <a:bodyPr wrap="square" lIns="0" tIns="0" rIns="0" bIns="0" rtlCol="0" anchor="ctr"/>
          <a:lstStyle/>
          <a:p>
            <a:pPr indent="0" marL="0">
              <a:buNone/>
            </a:pPr>
            <a:r>
              <a:rPr lang="en-US" sz="1500" dirty="0">
                <a:solidFill>
                  <a:srgbClr val="A9B4BC"/>
                </a:solidFill>
                <a:latin typeface="Segoe UI Semibold" pitchFamily="34" charset="0"/>
                <a:ea typeface="Segoe UI Semibold" pitchFamily="34" charset="-122"/>
                <a:cs typeface="Segoe UI Semibold" pitchFamily="34" charset="-120"/>
              </a:rPr>
              <a:t>7 · Aktuasi</a:t>
            </a:r>
            <a:endParaRPr lang="en-US" sz="1500" dirty="0"/>
          </a:p>
        </p:txBody>
      </p:sp>
      <p:sp>
        <p:nvSpPr>
          <p:cNvPr id="8" name="Text 6"/>
          <p:cNvSpPr/>
          <p:nvPr/>
        </p:nvSpPr>
        <p:spPr>
          <a:xfrm>
            <a:off x="2697480" y="1444752"/>
            <a:ext cx="5852160" cy="548640"/>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Modul I/O per kolam: aerator &amp; pompa + sinyal balik (feeder, valve menyusul)</a:t>
            </a:r>
            <a:endParaRPr lang="en-US" sz="1250" dirty="0"/>
          </a:p>
        </p:txBody>
      </p:sp>
      <p:sp>
        <p:nvSpPr>
          <p:cNvPr id="9" name="Text 7"/>
          <p:cNvSpPr/>
          <p:nvPr/>
        </p:nvSpPr>
        <p:spPr>
          <a:xfrm>
            <a:off x="8503920" y="1444752"/>
            <a:ext cx="731520" cy="548640"/>
          </a:xfrm>
          <a:prstGeom prst="rect">
            <a:avLst/>
          </a:prstGeom>
          <a:noFill/>
          <a:ln/>
        </p:spPr>
        <p:txBody>
          <a:bodyPr wrap="square" lIns="0" tIns="0" rIns="0" bIns="0" rtlCol="0" anchor="ctr"/>
          <a:lstStyle/>
          <a:p>
            <a:pPr indent="0" marL="0">
              <a:buNone/>
            </a:pPr>
            <a:r>
              <a:rPr lang="en-US" sz="1000" b="1" dirty="0">
                <a:solidFill>
                  <a:srgbClr val="FFB347"/>
                </a:solidFill>
                <a:latin typeface="Segoe UI" pitchFamily="34" charset="0"/>
                <a:ea typeface="Segoe UI" pitchFamily="34" charset="-122"/>
                <a:cs typeface="Segoe UI" pitchFamily="34" charset="-120"/>
              </a:rPr>
              <a:t>◆ revisi</a:t>
            </a:r>
            <a:endParaRPr lang="en-US" sz="1000" dirty="0"/>
          </a:p>
        </p:txBody>
      </p:sp>
      <p:sp>
        <p:nvSpPr>
          <p:cNvPr id="10" name="Text 8"/>
          <p:cNvSpPr/>
          <p:nvPr/>
        </p:nvSpPr>
        <p:spPr>
          <a:xfrm>
            <a:off x="9189720" y="1444752"/>
            <a:ext cx="868680" cy="548640"/>
          </a:xfrm>
          <a:prstGeom prst="rect">
            <a:avLst/>
          </a:prstGeom>
          <a:noFill/>
          <a:ln/>
        </p:spPr>
        <p:txBody>
          <a:bodyPr wrap="square" lIns="0" tIns="0" rIns="0" bIns="0" rtlCol="0" anchor="ctr"/>
          <a:lstStyle/>
          <a:p>
            <a:pPr indent="0" marL="0">
              <a:buNone/>
            </a:pPr>
            <a:r>
              <a:rPr lang="en-US" sz="1100" dirty="0">
                <a:solidFill>
                  <a:srgbClr val="86A0A6"/>
                </a:solidFill>
                <a:latin typeface="Segoe UI" pitchFamily="34" charset="0"/>
                <a:ea typeface="Segoe UI" pitchFamily="34" charset="-122"/>
                <a:cs typeface="Segoe UI" pitchFamily="34" charset="-120"/>
              </a:rPr>
              <a:t>Fase 1</a:t>
            </a:r>
            <a:endParaRPr lang="en-US" sz="1100" dirty="0"/>
          </a:p>
        </p:txBody>
      </p:sp>
      <p:sp>
        <p:nvSpPr>
          <p:cNvPr id="11" name="Shape 9"/>
          <p:cNvSpPr/>
          <p:nvPr/>
        </p:nvSpPr>
        <p:spPr>
          <a:xfrm>
            <a:off x="10058400" y="1591056"/>
            <a:ext cx="1463040" cy="256032"/>
          </a:xfrm>
          <a:prstGeom prst="roundRect">
            <a:avLst>
              <a:gd name="adj" fmla="val 50000"/>
            </a:avLst>
          </a:prstGeom>
          <a:solidFill>
            <a:srgbClr val="0A1E24"/>
          </a:solidFill>
          <a:ln w="12700">
            <a:solidFill>
              <a:srgbClr val="3FD0D4"/>
            </a:solidFill>
            <a:prstDash val="solid"/>
          </a:ln>
        </p:spPr>
      </p:sp>
      <p:sp>
        <p:nvSpPr>
          <p:cNvPr id="12" name="Text 10"/>
          <p:cNvSpPr/>
          <p:nvPr/>
        </p:nvSpPr>
        <p:spPr>
          <a:xfrm>
            <a:off x="10058400" y="1591056"/>
            <a:ext cx="1463040" cy="256032"/>
          </a:xfrm>
          <a:prstGeom prst="rect">
            <a:avLst/>
          </a:prstGeom>
          <a:noFill/>
          <a:ln/>
        </p:spPr>
        <p:txBody>
          <a:bodyPr wrap="square" lIns="0" tIns="0" rIns="0" bIns="0" rtlCol="0" anchor="ctr"/>
          <a:lstStyle/>
          <a:p>
            <a:pPr algn="ctr" indent="0" marL="0">
              <a:buNone/>
            </a:pPr>
            <a:r>
              <a:rPr lang="en-US" sz="1000" b="1" dirty="0">
                <a:solidFill>
                  <a:srgbClr val="3FD0D4"/>
                </a:solidFill>
                <a:latin typeface="Segoe UI" pitchFamily="34" charset="0"/>
                <a:ea typeface="Segoe UI" pitchFamily="34" charset="-122"/>
                <a:cs typeface="Segoe UI" pitchFamily="34" charset="-120"/>
              </a:rPr>
              <a:t>Didesain</a:t>
            </a:r>
            <a:endParaRPr lang="en-US" sz="1000" dirty="0"/>
          </a:p>
        </p:txBody>
      </p:sp>
      <p:sp>
        <p:nvSpPr>
          <p:cNvPr id="13" name="Shape 11"/>
          <p:cNvSpPr/>
          <p:nvPr/>
        </p:nvSpPr>
        <p:spPr>
          <a:xfrm>
            <a:off x="548640" y="2084832"/>
            <a:ext cx="11091672" cy="548640"/>
          </a:xfrm>
          <a:prstGeom prst="roundRect">
            <a:avLst>
              <a:gd name="adj" fmla="val 15000"/>
            </a:avLst>
          </a:prstGeom>
          <a:solidFill>
            <a:srgbClr val="0F2C33"/>
          </a:solidFill>
          <a:ln w="12700">
            <a:solidFill>
              <a:srgbClr val="24505A"/>
            </a:solidFill>
            <a:prstDash val="solid"/>
          </a:ln>
        </p:spPr>
      </p:sp>
      <p:sp>
        <p:nvSpPr>
          <p:cNvPr id="14" name="Shape 12"/>
          <p:cNvSpPr/>
          <p:nvPr/>
        </p:nvSpPr>
        <p:spPr>
          <a:xfrm>
            <a:off x="548640" y="2212848"/>
            <a:ext cx="54864" cy="292608"/>
          </a:xfrm>
          <a:prstGeom prst="rect">
            <a:avLst/>
          </a:prstGeom>
          <a:solidFill>
            <a:srgbClr val="FF8A7A"/>
          </a:solidFill>
          <a:ln w="12700">
            <a:solidFill>
              <a:srgbClr val="FF8A7A"/>
            </a:solidFill>
            <a:prstDash val="solid"/>
          </a:ln>
        </p:spPr>
      </p:sp>
      <p:sp>
        <p:nvSpPr>
          <p:cNvPr id="15" name="Text 13"/>
          <p:cNvSpPr/>
          <p:nvPr/>
        </p:nvSpPr>
        <p:spPr>
          <a:xfrm>
            <a:off x="777240" y="2084832"/>
            <a:ext cx="1920240" cy="548640"/>
          </a:xfrm>
          <a:prstGeom prst="rect">
            <a:avLst/>
          </a:prstGeom>
          <a:noFill/>
          <a:ln/>
        </p:spPr>
        <p:txBody>
          <a:bodyPr wrap="square" lIns="0" tIns="0" rIns="0" bIns="0" rtlCol="0" anchor="ctr"/>
          <a:lstStyle/>
          <a:p>
            <a:pPr indent="0" marL="0">
              <a:buNone/>
            </a:pPr>
            <a:r>
              <a:rPr lang="en-US" sz="1500" dirty="0">
                <a:solidFill>
                  <a:srgbClr val="FF8A7A"/>
                </a:solidFill>
                <a:latin typeface="Segoe UI Semibold" pitchFamily="34" charset="0"/>
                <a:ea typeface="Segoe UI Semibold" pitchFamily="34" charset="-122"/>
                <a:cs typeface="Segoe UI Semibold" pitchFamily="34" charset="-120"/>
              </a:rPr>
              <a:t>6 · Aplikasi</a:t>
            </a:r>
            <a:endParaRPr lang="en-US" sz="1500" dirty="0"/>
          </a:p>
        </p:txBody>
      </p:sp>
      <p:sp>
        <p:nvSpPr>
          <p:cNvPr id="16" name="Text 14"/>
          <p:cNvSpPr/>
          <p:nvPr/>
        </p:nvSpPr>
        <p:spPr>
          <a:xfrm>
            <a:off x="2697480" y="2084832"/>
            <a:ext cx="5852160" cy="548640"/>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Neopond: operasi harian, siklus, keuangan, kesiapan, GIS kolam → nasional</a:t>
            </a:r>
            <a:endParaRPr lang="en-US" sz="1250" dirty="0"/>
          </a:p>
        </p:txBody>
      </p:sp>
      <p:sp>
        <p:nvSpPr>
          <p:cNvPr id="17" name="Text 15"/>
          <p:cNvSpPr/>
          <p:nvPr/>
        </p:nvSpPr>
        <p:spPr>
          <a:xfrm>
            <a:off x="9189720" y="2084832"/>
            <a:ext cx="868680" cy="548640"/>
          </a:xfrm>
          <a:prstGeom prst="rect">
            <a:avLst/>
          </a:prstGeom>
          <a:noFill/>
          <a:ln/>
        </p:spPr>
        <p:txBody>
          <a:bodyPr wrap="square" lIns="0" tIns="0" rIns="0" bIns="0" rtlCol="0" anchor="ctr"/>
          <a:lstStyle/>
          <a:p>
            <a:pPr indent="0" marL="0">
              <a:buNone/>
            </a:pPr>
            <a:r>
              <a:rPr lang="en-US" sz="1100" dirty="0">
                <a:solidFill>
                  <a:srgbClr val="86A0A6"/>
                </a:solidFill>
                <a:latin typeface="Segoe UI" pitchFamily="34" charset="0"/>
                <a:ea typeface="Segoe UI" pitchFamily="34" charset="-122"/>
                <a:cs typeface="Segoe UI" pitchFamily="34" charset="-120"/>
              </a:rPr>
              <a:t>Fase 1</a:t>
            </a:r>
            <a:endParaRPr lang="en-US" sz="1100" dirty="0"/>
          </a:p>
        </p:txBody>
      </p:sp>
      <p:sp>
        <p:nvSpPr>
          <p:cNvPr id="18" name="Shape 16"/>
          <p:cNvSpPr/>
          <p:nvPr/>
        </p:nvSpPr>
        <p:spPr>
          <a:xfrm>
            <a:off x="10058400" y="2231136"/>
            <a:ext cx="1463040" cy="256032"/>
          </a:xfrm>
          <a:prstGeom prst="roundRect">
            <a:avLst>
              <a:gd name="adj" fmla="val 50000"/>
            </a:avLst>
          </a:prstGeom>
          <a:solidFill>
            <a:srgbClr val="0A1E24"/>
          </a:solidFill>
          <a:ln w="12700">
            <a:solidFill>
              <a:srgbClr val="5EE6B0"/>
            </a:solidFill>
            <a:prstDash val="solid"/>
          </a:ln>
        </p:spPr>
      </p:sp>
      <p:sp>
        <p:nvSpPr>
          <p:cNvPr id="19" name="Text 17"/>
          <p:cNvSpPr/>
          <p:nvPr/>
        </p:nvSpPr>
        <p:spPr>
          <a:xfrm>
            <a:off x="10058400" y="2231136"/>
            <a:ext cx="1463040" cy="256032"/>
          </a:xfrm>
          <a:prstGeom prst="rect">
            <a:avLst/>
          </a:prstGeom>
          <a:noFill/>
          <a:ln/>
        </p:spPr>
        <p:txBody>
          <a:bodyPr wrap="square" lIns="0" tIns="0" rIns="0" bIns="0" rtlCol="0" anchor="ctr"/>
          <a:lstStyle/>
          <a:p>
            <a:pPr algn="ctr" indent="0" marL="0">
              <a:buNone/>
            </a:pPr>
            <a:r>
              <a:rPr lang="en-US" sz="1000" b="1" dirty="0">
                <a:solidFill>
                  <a:srgbClr val="5EE6B0"/>
                </a:solidFill>
                <a:latin typeface="Segoe UI" pitchFamily="34" charset="0"/>
                <a:ea typeface="Segoe UI" pitchFamily="34" charset="-122"/>
                <a:cs typeface="Segoe UI" pitchFamily="34" charset="-120"/>
              </a:rPr>
              <a:t>Prototipe berjalan</a:t>
            </a:r>
            <a:endParaRPr lang="en-US" sz="1000" dirty="0"/>
          </a:p>
        </p:txBody>
      </p:sp>
      <p:sp>
        <p:nvSpPr>
          <p:cNvPr id="20" name="Shape 18"/>
          <p:cNvSpPr/>
          <p:nvPr/>
        </p:nvSpPr>
        <p:spPr>
          <a:xfrm>
            <a:off x="548640" y="2724912"/>
            <a:ext cx="11091672" cy="548640"/>
          </a:xfrm>
          <a:prstGeom prst="roundRect">
            <a:avLst>
              <a:gd name="adj" fmla="val 15000"/>
            </a:avLst>
          </a:prstGeom>
          <a:solidFill>
            <a:srgbClr val="0F2C33"/>
          </a:solidFill>
          <a:ln w="12700">
            <a:solidFill>
              <a:srgbClr val="24505A"/>
            </a:solidFill>
            <a:prstDash val="dash"/>
          </a:ln>
        </p:spPr>
      </p:sp>
      <p:sp>
        <p:nvSpPr>
          <p:cNvPr id="21" name="Shape 19"/>
          <p:cNvSpPr/>
          <p:nvPr/>
        </p:nvSpPr>
        <p:spPr>
          <a:xfrm>
            <a:off x="548640" y="2852928"/>
            <a:ext cx="54864" cy="292608"/>
          </a:xfrm>
          <a:prstGeom prst="rect">
            <a:avLst/>
          </a:prstGeom>
          <a:solidFill>
            <a:srgbClr val="5AA9FF"/>
          </a:solidFill>
          <a:ln w="12700">
            <a:solidFill>
              <a:srgbClr val="5AA9FF"/>
            </a:solidFill>
            <a:prstDash val="solid"/>
          </a:ln>
        </p:spPr>
      </p:sp>
      <p:sp>
        <p:nvSpPr>
          <p:cNvPr id="22" name="Text 20"/>
          <p:cNvSpPr/>
          <p:nvPr/>
        </p:nvSpPr>
        <p:spPr>
          <a:xfrm>
            <a:off x="777240" y="2724912"/>
            <a:ext cx="1920240" cy="548640"/>
          </a:xfrm>
          <a:prstGeom prst="rect">
            <a:avLst/>
          </a:prstGeom>
          <a:noFill/>
          <a:ln/>
        </p:spPr>
        <p:txBody>
          <a:bodyPr wrap="square" lIns="0" tIns="0" rIns="0" bIns="0" rtlCol="0" anchor="ctr"/>
          <a:lstStyle/>
          <a:p>
            <a:pPr indent="0" marL="0">
              <a:buNone/>
            </a:pPr>
            <a:r>
              <a:rPr lang="en-US" sz="1500" dirty="0">
                <a:solidFill>
                  <a:srgbClr val="5AA9FF"/>
                </a:solidFill>
                <a:latin typeface="Segoe UI Semibold" pitchFamily="34" charset="0"/>
                <a:ea typeface="Segoe UI Semibold" pitchFamily="34" charset="-122"/>
                <a:cs typeface="Segoe UI Semibold" pitchFamily="34" charset="-120"/>
              </a:rPr>
              <a:t>5 · Backend</a:t>
            </a:r>
            <a:endParaRPr lang="en-US" sz="1500" dirty="0"/>
          </a:p>
        </p:txBody>
      </p:sp>
      <p:sp>
        <p:nvSpPr>
          <p:cNvPr id="23" name="Text 21"/>
          <p:cNvSpPr/>
          <p:nvPr/>
        </p:nvSpPr>
        <p:spPr>
          <a:xfrm>
            <a:off x="2697480" y="2724912"/>
            <a:ext cx="5852160" cy="548640"/>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MQTT, mutu data, aturan, basis data; API ke STELINA, SICEKATAN, Satu Data</a:t>
            </a:r>
            <a:endParaRPr lang="en-US" sz="1250" dirty="0"/>
          </a:p>
        </p:txBody>
      </p:sp>
      <p:sp>
        <p:nvSpPr>
          <p:cNvPr id="24" name="Text 22"/>
          <p:cNvSpPr/>
          <p:nvPr/>
        </p:nvSpPr>
        <p:spPr>
          <a:xfrm>
            <a:off x="9189720" y="2724912"/>
            <a:ext cx="868680" cy="548640"/>
          </a:xfrm>
          <a:prstGeom prst="rect">
            <a:avLst/>
          </a:prstGeom>
          <a:noFill/>
          <a:ln/>
        </p:spPr>
        <p:txBody>
          <a:bodyPr wrap="square" lIns="0" tIns="0" rIns="0" bIns="0" rtlCol="0" anchor="ctr"/>
          <a:lstStyle/>
          <a:p>
            <a:pPr indent="0" marL="0">
              <a:buNone/>
            </a:pPr>
            <a:r>
              <a:rPr lang="en-US" sz="1100" dirty="0">
                <a:solidFill>
                  <a:srgbClr val="86A0A6"/>
                </a:solidFill>
                <a:latin typeface="Segoe UI" pitchFamily="34" charset="0"/>
                <a:ea typeface="Segoe UI" pitchFamily="34" charset="-122"/>
                <a:cs typeface="Segoe UI" pitchFamily="34" charset="-120"/>
              </a:rPr>
              <a:t>Fase 1–2</a:t>
            </a:r>
            <a:endParaRPr lang="en-US" sz="1100" dirty="0"/>
          </a:p>
        </p:txBody>
      </p:sp>
      <p:sp>
        <p:nvSpPr>
          <p:cNvPr id="25" name="Shape 23"/>
          <p:cNvSpPr/>
          <p:nvPr/>
        </p:nvSpPr>
        <p:spPr>
          <a:xfrm>
            <a:off x="10058400" y="2871216"/>
            <a:ext cx="1463040" cy="256032"/>
          </a:xfrm>
          <a:prstGeom prst="roundRect">
            <a:avLst>
              <a:gd name="adj" fmla="val 50000"/>
            </a:avLst>
          </a:prstGeom>
          <a:solidFill>
            <a:srgbClr val="0A1E24"/>
          </a:solidFill>
          <a:ln w="12700">
            <a:solidFill>
              <a:srgbClr val="86A0A6"/>
            </a:solidFill>
            <a:prstDash val="solid"/>
          </a:ln>
        </p:spPr>
      </p:sp>
      <p:sp>
        <p:nvSpPr>
          <p:cNvPr id="26" name="Text 24"/>
          <p:cNvSpPr/>
          <p:nvPr/>
        </p:nvSpPr>
        <p:spPr>
          <a:xfrm>
            <a:off x="10058400" y="2871216"/>
            <a:ext cx="1463040" cy="256032"/>
          </a:xfrm>
          <a:prstGeom prst="rect">
            <a:avLst/>
          </a:prstGeom>
          <a:noFill/>
          <a:ln/>
        </p:spPr>
        <p:txBody>
          <a:bodyPr wrap="square" lIns="0" tIns="0" rIns="0" bIns="0" rtlCol="0" anchor="ctr"/>
          <a:lstStyle/>
          <a:p>
            <a:pPr algn="ctr" indent="0" marL="0">
              <a:buNone/>
            </a:pPr>
            <a:r>
              <a:rPr lang="en-US" sz="1000" b="1" dirty="0">
                <a:solidFill>
                  <a:srgbClr val="86A0A6"/>
                </a:solidFill>
                <a:latin typeface="Segoe UI" pitchFamily="34" charset="0"/>
                <a:ea typeface="Segoe UI" pitchFamily="34" charset="-122"/>
                <a:cs typeface="Segoe UI" pitchFamily="34" charset="-120"/>
              </a:rPr>
              <a:t>Belum dibangun</a:t>
            </a:r>
            <a:endParaRPr lang="en-US" sz="1000" dirty="0"/>
          </a:p>
        </p:txBody>
      </p:sp>
      <p:sp>
        <p:nvSpPr>
          <p:cNvPr id="27" name="Shape 25"/>
          <p:cNvSpPr/>
          <p:nvPr/>
        </p:nvSpPr>
        <p:spPr>
          <a:xfrm>
            <a:off x="548640" y="3364992"/>
            <a:ext cx="11091672" cy="548640"/>
          </a:xfrm>
          <a:prstGeom prst="roundRect">
            <a:avLst>
              <a:gd name="adj" fmla="val 15000"/>
            </a:avLst>
          </a:prstGeom>
          <a:solidFill>
            <a:srgbClr val="0F2C33"/>
          </a:solidFill>
          <a:ln w="12700">
            <a:solidFill>
              <a:srgbClr val="24505A"/>
            </a:solidFill>
            <a:prstDash val="solid"/>
          </a:ln>
        </p:spPr>
      </p:sp>
      <p:sp>
        <p:nvSpPr>
          <p:cNvPr id="28" name="Shape 26"/>
          <p:cNvSpPr/>
          <p:nvPr/>
        </p:nvSpPr>
        <p:spPr>
          <a:xfrm>
            <a:off x="548640" y="3493008"/>
            <a:ext cx="54864" cy="292608"/>
          </a:xfrm>
          <a:prstGeom prst="rect">
            <a:avLst/>
          </a:prstGeom>
          <a:solidFill>
            <a:srgbClr val="B39DFF"/>
          </a:solidFill>
          <a:ln w="12700">
            <a:solidFill>
              <a:srgbClr val="B39DFF"/>
            </a:solidFill>
            <a:prstDash val="solid"/>
          </a:ln>
        </p:spPr>
      </p:sp>
      <p:sp>
        <p:nvSpPr>
          <p:cNvPr id="29" name="Text 27"/>
          <p:cNvSpPr/>
          <p:nvPr/>
        </p:nvSpPr>
        <p:spPr>
          <a:xfrm>
            <a:off x="777240" y="3364992"/>
            <a:ext cx="1920240" cy="548640"/>
          </a:xfrm>
          <a:prstGeom prst="rect">
            <a:avLst/>
          </a:prstGeom>
          <a:noFill/>
          <a:ln/>
        </p:spPr>
        <p:txBody>
          <a:bodyPr wrap="square" lIns="0" tIns="0" rIns="0" bIns="0" rtlCol="0" anchor="ctr"/>
          <a:lstStyle/>
          <a:p>
            <a:pPr indent="0" marL="0">
              <a:buNone/>
            </a:pPr>
            <a:r>
              <a:rPr lang="en-US" sz="1500" dirty="0">
                <a:solidFill>
                  <a:srgbClr val="B39DFF"/>
                </a:solidFill>
                <a:latin typeface="Segoe UI Semibold" pitchFamily="34" charset="0"/>
                <a:ea typeface="Segoe UI Semibold" pitchFamily="34" charset="-122"/>
                <a:cs typeface="Segoe UI Semibold" pitchFamily="34" charset="-120"/>
              </a:rPr>
              <a:t>4 · Transport</a:t>
            </a:r>
            <a:endParaRPr lang="en-US" sz="1500" dirty="0"/>
          </a:p>
        </p:txBody>
      </p:sp>
      <p:sp>
        <p:nvSpPr>
          <p:cNvPr id="30" name="Text 28"/>
          <p:cNvSpPr/>
          <p:nvPr/>
        </p:nvSpPr>
        <p:spPr>
          <a:xfrm>
            <a:off x="2697480" y="3364992"/>
            <a:ext cx="5852160" cy="548640"/>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Router 4G dual SIM + cadangan WiFi/Ethernet, VPN, MQTT ber-TLS</a:t>
            </a:r>
            <a:endParaRPr lang="en-US" sz="1250" dirty="0"/>
          </a:p>
        </p:txBody>
      </p:sp>
      <p:sp>
        <p:nvSpPr>
          <p:cNvPr id="31" name="Text 29"/>
          <p:cNvSpPr/>
          <p:nvPr/>
        </p:nvSpPr>
        <p:spPr>
          <a:xfrm>
            <a:off x="9189720" y="3364992"/>
            <a:ext cx="868680" cy="548640"/>
          </a:xfrm>
          <a:prstGeom prst="rect">
            <a:avLst/>
          </a:prstGeom>
          <a:noFill/>
          <a:ln/>
        </p:spPr>
        <p:txBody>
          <a:bodyPr wrap="square" lIns="0" tIns="0" rIns="0" bIns="0" rtlCol="0" anchor="ctr"/>
          <a:lstStyle/>
          <a:p>
            <a:pPr indent="0" marL="0">
              <a:buNone/>
            </a:pPr>
            <a:r>
              <a:rPr lang="en-US" sz="1100" dirty="0">
                <a:solidFill>
                  <a:srgbClr val="86A0A6"/>
                </a:solidFill>
                <a:latin typeface="Segoe UI" pitchFamily="34" charset="0"/>
                <a:ea typeface="Segoe UI" pitchFamily="34" charset="-122"/>
                <a:cs typeface="Segoe UI" pitchFamily="34" charset="-120"/>
              </a:rPr>
              <a:t>Fase 1</a:t>
            </a:r>
            <a:endParaRPr lang="en-US" sz="1100" dirty="0"/>
          </a:p>
        </p:txBody>
      </p:sp>
      <p:sp>
        <p:nvSpPr>
          <p:cNvPr id="32" name="Shape 30"/>
          <p:cNvSpPr/>
          <p:nvPr/>
        </p:nvSpPr>
        <p:spPr>
          <a:xfrm>
            <a:off x="10058400" y="3511296"/>
            <a:ext cx="1463040" cy="256032"/>
          </a:xfrm>
          <a:prstGeom prst="roundRect">
            <a:avLst>
              <a:gd name="adj" fmla="val 50000"/>
            </a:avLst>
          </a:prstGeom>
          <a:solidFill>
            <a:srgbClr val="0A1E24"/>
          </a:solidFill>
          <a:ln w="12700">
            <a:solidFill>
              <a:srgbClr val="3FD0D4"/>
            </a:solidFill>
            <a:prstDash val="solid"/>
          </a:ln>
        </p:spPr>
      </p:sp>
      <p:sp>
        <p:nvSpPr>
          <p:cNvPr id="33" name="Text 31"/>
          <p:cNvSpPr/>
          <p:nvPr/>
        </p:nvSpPr>
        <p:spPr>
          <a:xfrm>
            <a:off x="10058400" y="3511296"/>
            <a:ext cx="1463040" cy="256032"/>
          </a:xfrm>
          <a:prstGeom prst="rect">
            <a:avLst/>
          </a:prstGeom>
          <a:noFill/>
          <a:ln/>
        </p:spPr>
        <p:txBody>
          <a:bodyPr wrap="square" lIns="0" tIns="0" rIns="0" bIns="0" rtlCol="0" anchor="ctr"/>
          <a:lstStyle/>
          <a:p>
            <a:pPr algn="ctr" indent="0" marL="0">
              <a:buNone/>
            </a:pPr>
            <a:r>
              <a:rPr lang="en-US" sz="1000" b="1" dirty="0">
                <a:solidFill>
                  <a:srgbClr val="3FD0D4"/>
                </a:solidFill>
                <a:latin typeface="Segoe UI" pitchFamily="34" charset="0"/>
                <a:ea typeface="Segoe UI" pitchFamily="34" charset="-122"/>
                <a:cs typeface="Segoe UI" pitchFamily="34" charset="-120"/>
              </a:rPr>
              <a:t>Didesain</a:t>
            </a:r>
            <a:endParaRPr lang="en-US" sz="1000" dirty="0"/>
          </a:p>
        </p:txBody>
      </p:sp>
      <p:sp>
        <p:nvSpPr>
          <p:cNvPr id="34" name="Shape 32"/>
          <p:cNvSpPr/>
          <p:nvPr/>
        </p:nvSpPr>
        <p:spPr>
          <a:xfrm>
            <a:off x="548640" y="4005072"/>
            <a:ext cx="11091672" cy="548640"/>
          </a:xfrm>
          <a:prstGeom prst="roundRect">
            <a:avLst>
              <a:gd name="adj" fmla="val 15000"/>
            </a:avLst>
          </a:prstGeom>
          <a:solidFill>
            <a:srgbClr val="0F2C33"/>
          </a:solidFill>
          <a:ln w="12700">
            <a:solidFill>
              <a:srgbClr val="24505A"/>
            </a:solidFill>
            <a:prstDash val="solid"/>
          </a:ln>
        </p:spPr>
      </p:sp>
      <p:sp>
        <p:nvSpPr>
          <p:cNvPr id="35" name="Shape 33"/>
          <p:cNvSpPr/>
          <p:nvPr/>
        </p:nvSpPr>
        <p:spPr>
          <a:xfrm>
            <a:off x="548640" y="4133088"/>
            <a:ext cx="54864" cy="292608"/>
          </a:xfrm>
          <a:prstGeom prst="rect">
            <a:avLst/>
          </a:prstGeom>
          <a:solidFill>
            <a:srgbClr val="FFB347"/>
          </a:solidFill>
          <a:ln w="12700">
            <a:solidFill>
              <a:srgbClr val="FFB347"/>
            </a:solidFill>
            <a:prstDash val="solid"/>
          </a:ln>
        </p:spPr>
      </p:sp>
      <p:sp>
        <p:nvSpPr>
          <p:cNvPr id="36" name="Text 34"/>
          <p:cNvSpPr/>
          <p:nvPr/>
        </p:nvSpPr>
        <p:spPr>
          <a:xfrm>
            <a:off x="777240" y="4005072"/>
            <a:ext cx="1920240" cy="548640"/>
          </a:xfrm>
          <a:prstGeom prst="rect">
            <a:avLst/>
          </a:prstGeom>
          <a:noFill/>
          <a:ln/>
        </p:spPr>
        <p:txBody>
          <a:bodyPr wrap="square" lIns="0" tIns="0" rIns="0" bIns="0" rtlCol="0" anchor="ctr"/>
          <a:lstStyle/>
          <a:p>
            <a:pPr indent="0" marL="0">
              <a:buNone/>
            </a:pPr>
            <a:r>
              <a:rPr lang="en-US" sz="1500" dirty="0">
                <a:solidFill>
                  <a:srgbClr val="FFB347"/>
                </a:solidFill>
                <a:latin typeface="Segoe UI Semibold" pitchFamily="34" charset="0"/>
                <a:ea typeface="Segoe UI Semibold" pitchFamily="34" charset="-122"/>
                <a:cs typeface="Segoe UI Semibold" pitchFamily="34" charset="-120"/>
              </a:rPr>
              <a:t>3 · Edge</a:t>
            </a:r>
            <a:endParaRPr lang="en-US" sz="1500" dirty="0"/>
          </a:p>
        </p:txBody>
      </p:sp>
      <p:sp>
        <p:nvSpPr>
          <p:cNvPr id="37" name="Text 35"/>
          <p:cNvSpPr/>
          <p:nvPr/>
        </p:nvSpPr>
        <p:spPr>
          <a:xfrm>
            <a:off x="2697480" y="4005072"/>
            <a:ext cx="5852160" cy="548640"/>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Gateway industri IP65 aktif + cadangan, kendali pengaman lokal, buffer</a:t>
            </a:r>
            <a:endParaRPr lang="en-US" sz="1250" dirty="0"/>
          </a:p>
        </p:txBody>
      </p:sp>
      <p:sp>
        <p:nvSpPr>
          <p:cNvPr id="38" name="Text 36"/>
          <p:cNvSpPr/>
          <p:nvPr/>
        </p:nvSpPr>
        <p:spPr>
          <a:xfrm>
            <a:off x="8503920" y="4005072"/>
            <a:ext cx="731520" cy="548640"/>
          </a:xfrm>
          <a:prstGeom prst="rect">
            <a:avLst/>
          </a:prstGeom>
          <a:noFill/>
          <a:ln/>
        </p:spPr>
        <p:txBody>
          <a:bodyPr wrap="square" lIns="0" tIns="0" rIns="0" bIns="0" rtlCol="0" anchor="ctr"/>
          <a:lstStyle/>
          <a:p>
            <a:pPr indent="0" marL="0">
              <a:buNone/>
            </a:pPr>
            <a:r>
              <a:rPr lang="en-US" sz="1000" b="1" dirty="0">
                <a:solidFill>
                  <a:srgbClr val="FFB347"/>
                </a:solidFill>
                <a:latin typeface="Segoe UI" pitchFamily="34" charset="0"/>
                <a:ea typeface="Segoe UI" pitchFamily="34" charset="-122"/>
                <a:cs typeface="Segoe UI" pitchFamily="34" charset="-120"/>
              </a:rPr>
              <a:t>◆ revisi</a:t>
            </a:r>
            <a:endParaRPr lang="en-US" sz="1000" dirty="0"/>
          </a:p>
        </p:txBody>
      </p:sp>
      <p:sp>
        <p:nvSpPr>
          <p:cNvPr id="39" name="Text 37"/>
          <p:cNvSpPr/>
          <p:nvPr/>
        </p:nvSpPr>
        <p:spPr>
          <a:xfrm>
            <a:off x="9189720" y="4005072"/>
            <a:ext cx="868680" cy="548640"/>
          </a:xfrm>
          <a:prstGeom prst="rect">
            <a:avLst/>
          </a:prstGeom>
          <a:noFill/>
          <a:ln/>
        </p:spPr>
        <p:txBody>
          <a:bodyPr wrap="square" lIns="0" tIns="0" rIns="0" bIns="0" rtlCol="0" anchor="ctr"/>
          <a:lstStyle/>
          <a:p>
            <a:pPr indent="0" marL="0">
              <a:buNone/>
            </a:pPr>
            <a:r>
              <a:rPr lang="en-US" sz="1100" dirty="0">
                <a:solidFill>
                  <a:srgbClr val="86A0A6"/>
                </a:solidFill>
                <a:latin typeface="Segoe UI" pitchFamily="34" charset="0"/>
                <a:ea typeface="Segoe UI" pitchFamily="34" charset="-122"/>
                <a:cs typeface="Segoe UI" pitchFamily="34" charset="-120"/>
              </a:rPr>
              <a:t>Fase 1</a:t>
            </a:r>
            <a:endParaRPr lang="en-US" sz="1100" dirty="0"/>
          </a:p>
        </p:txBody>
      </p:sp>
      <p:sp>
        <p:nvSpPr>
          <p:cNvPr id="40" name="Shape 38"/>
          <p:cNvSpPr/>
          <p:nvPr/>
        </p:nvSpPr>
        <p:spPr>
          <a:xfrm>
            <a:off x="10058400" y="4151376"/>
            <a:ext cx="1463040" cy="256032"/>
          </a:xfrm>
          <a:prstGeom prst="roundRect">
            <a:avLst>
              <a:gd name="adj" fmla="val 50000"/>
            </a:avLst>
          </a:prstGeom>
          <a:solidFill>
            <a:srgbClr val="0A1E24"/>
          </a:solidFill>
          <a:ln w="12700">
            <a:solidFill>
              <a:srgbClr val="3FD0D4"/>
            </a:solidFill>
            <a:prstDash val="solid"/>
          </a:ln>
        </p:spPr>
      </p:sp>
      <p:sp>
        <p:nvSpPr>
          <p:cNvPr id="41" name="Text 39"/>
          <p:cNvSpPr/>
          <p:nvPr/>
        </p:nvSpPr>
        <p:spPr>
          <a:xfrm>
            <a:off x="10058400" y="4151376"/>
            <a:ext cx="1463040" cy="256032"/>
          </a:xfrm>
          <a:prstGeom prst="rect">
            <a:avLst/>
          </a:prstGeom>
          <a:noFill/>
          <a:ln/>
        </p:spPr>
        <p:txBody>
          <a:bodyPr wrap="square" lIns="0" tIns="0" rIns="0" bIns="0" rtlCol="0" anchor="ctr"/>
          <a:lstStyle/>
          <a:p>
            <a:pPr algn="ctr" indent="0" marL="0">
              <a:buNone/>
            </a:pPr>
            <a:r>
              <a:rPr lang="en-US" sz="1000" b="1" dirty="0">
                <a:solidFill>
                  <a:srgbClr val="3FD0D4"/>
                </a:solidFill>
                <a:latin typeface="Segoe UI" pitchFamily="34" charset="0"/>
                <a:ea typeface="Segoe UI" pitchFamily="34" charset="-122"/>
                <a:cs typeface="Segoe UI" pitchFamily="34" charset="-120"/>
              </a:rPr>
              <a:t>Didesain</a:t>
            </a:r>
            <a:endParaRPr lang="en-US" sz="1000" dirty="0"/>
          </a:p>
        </p:txBody>
      </p:sp>
      <p:sp>
        <p:nvSpPr>
          <p:cNvPr id="42" name="Shape 40"/>
          <p:cNvSpPr/>
          <p:nvPr/>
        </p:nvSpPr>
        <p:spPr>
          <a:xfrm>
            <a:off x="548640" y="4645152"/>
            <a:ext cx="11091672" cy="548640"/>
          </a:xfrm>
          <a:prstGeom prst="roundRect">
            <a:avLst>
              <a:gd name="adj" fmla="val 15000"/>
            </a:avLst>
          </a:prstGeom>
          <a:solidFill>
            <a:srgbClr val="0F2C33"/>
          </a:solidFill>
          <a:ln w="12700">
            <a:solidFill>
              <a:srgbClr val="24505A"/>
            </a:solidFill>
            <a:prstDash val="solid"/>
          </a:ln>
        </p:spPr>
      </p:sp>
      <p:sp>
        <p:nvSpPr>
          <p:cNvPr id="43" name="Shape 41"/>
          <p:cNvSpPr/>
          <p:nvPr/>
        </p:nvSpPr>
        <p:spPr>
          <a:xfrm>
            <a:off x="548640" y="4773168"/>
            <a:ext cx="54864" cy="292608"/>
          </a:xfrm>
          <a:prstGeom prst="rect">
            <a:avLst/>
          </a:prstGeom>
          <a:solidFill>
            <a:srgbClr val="F5D35C"/>
          </a:solidFill>
          <a:ln w="12700">
            <a:solidFill>
              <a:srgbClr val="F5D35C"/>
            </a:solidFill>
            <a:prstDash val="solid"/>
          </a:ln>
        </p:spPr>
      </p:sp>
      <p:sp>
        <p:nvSpPr>
          <p:cNvPr id="44" name="Text 42"/>
          <p:cNvSpPr/>
          <p:nvPr/>
        </p:nvSpPr>
        <p:spPr>
          <a:xfrm>
            <a:off x="777240" y="4645152"/>
            <a:ext cx="1920240" cy="548640"/>
          </a:xfrm>
          <a:prstGeom prst="rect">
            <a:avLst/>
          </a:prstGeom>
          <a:noFill/>
          <a:ln/>
        </p:spPr>
        <p:txBody>
          <a:bodyPr wrap="square" lIns="0" tIns="0" rIns="0" bIns="0" rtlCol="0" anchor="ctr"/>
          <a:lstStyle/>
          <a:p>
            <a:pPr indent="0" marL="0">
              <a:buNone/>
            </a:pPr>
            <a:r>
              <a:rPr lang="en-US" sz="1500" dirty="0">
                <a:solidFill>
                  <a:srgbClr val="F5D35C"/>
                </a:solidFill>
                <a:latin typeface="Segoe UI Semibold" pitchFamily="34" charset="0"/>
                <a:ea typeface="Segoe UI Semibold" pitchFamily="34" charset="-122"/>
                <a:cs typeface="Segoe UI Semibold" pitchFamily="34" charset="-120"/>
              </a:rPr>
              <a:t>2 · Konektivitas</a:t>
            </a:r>
            <a:endParaRPr lang="en-US" sz="1500" dirty="0"/>
          </a:p>
        </p:txBody>
      </p:sp>
      <p:sp>
        <p:nvSpPr>
          <p:cNvPr id="45" name="Text 43"/>
          <p:cNvSpPr/>
          <p:nvPr/>
        </p:nvSpPr>
        <p:spPr>
          <a:xfrm>
            <a:off x="2697480" y="4645152"/>
            <a:ext cx="5852160" cy="548640"/>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Kabel STP 2 pasang, RS485 5 segmen, repeater terisolasi</a:t>
            </a:r>
            <a:endParaRPr lang="en-US" sz="1250" dirty="0"/>
          </a:p>
        </p:txBody>
      </p:sp>
      <p:sp>
        <p:nvSpPr>
          <p:cNvPr id="46" name="Text 44"/>
          <p:cNvSpPr/>
          <p:nvPr/>
        </p:nvSpPr>
        <p:spPr>
          <a:xfrm>
            <a:off x="8503920" y="4645152"/>
            <a:ext cx="731520" cy="548640"/>
          </a:xfrm>
          <a:prstGeom prst="rect">
            <a:avLst/>
          </a:prstGeom>
          <a:noFill/>
          <a:ln/>
        </p:spPr>
        <p:txBody>
          <a:bodyPr wrap="square" lIns="0" tIns="0" rIns="0" bIns="0" rtlCol="0" anchor="ctr"/>
          <a:lstStyle/>
          <a:p>
            <a:pPr indent="0" marL="0">
              <a:buNone/>
            </a:pPr>
            <a:r>
              <a:rPr lang="en-US" sz="1000" b="1" dirty="0">
                <a:solidFill>
                  <a:srgbClr val="FFB347"/>
                </a:solidFill>
                <a:latin typeface="Segoe UI" pitchFamily="34" charset="0"/>
                <a:ea typeface="Segoe UI" pitchFamily="34" charset="-122"/>
                <a:cs typeface="Segoe UI" pitchFamily="34" charset="-120"/>
              </a:rPr>
              <a:t>◆ revisi</a:t>
            </a:r>
            <a:endParaRPr lang="en-US" sz="1000" dirty="0"/>
          </a:p>
        </p:txBody>
      </p:sp>
      <p:sp>
        <p:nvSpPr>
          <p:cNvPr id="47" name="Text 45"/>
          <p:cNvSpPr/>
          <p:nvPr/>
        </p:nvSpPr>
        <p:spPr>
          <a:xfrm>
            <a:off x="9189720" y="4645152"/>
            <a:ext cx="868680" cy="548640"/>
          </a:xfrm>
          <a:prstGeom prst="rect">
            <a:avLst/>
          </a:prstGeom>
          <a:noFill/>
          <a:ln/>
        </p:spPr>
        <p:txBody>
          <a:bodyPr wrap="square" lIns="0" tIns="0" rIns="0" bIns="0" rtlCol="0" anchor="ctr"/>
          <a:lstStyle/>
          <a:p>
            <a:pPr indent="0" marL="0">
              <a:buNone/>
            </a:pPr>
            <a:r>
              <a:rPr lang="en-US" sz="1100" dirty="0">
                <a:solidFill>
                  <a:srgbClr val="86A0A6"/>
                </a:solidFill>
                <a:latin typeface="Segoe UI" pitchFamily="34" charset="0"/>
                <a:ea typeface="Segoe UI" pitchFamily="34" charset="-122"/>
                <a:cs typeface="Segoe UI" pitchFamily="34" charset="-120"/>
              </a:rPr>
              <a:t>Fase 1</a:t>
            </a:r>
            <a:endParaRPr lang="en-US" sz="1100" dirty="0"/>
          </a:p>
        </p:txBody>
      </p:sp>
      <p:sp>
        <p:nvSpPr>
          <p:cNvPr id="48" name="Shape 46"/>
          <p:cNvSpPr/>
          <p:nvPr/>
        </p:nvSpPr>
        <p:spPr>
          <a:xfrm>
            <a:off x="10058400" y="4791456"/>
            <a:ext cx="1463040" cy="256032"/>
          </a:xfrm>
          <a:prstGeom prst="roundRect">
            <a:avLst>
              <a:gd name="adj" fmla="val 50000"/>
            </a:avLst>
          </a:prstGeom>
          <a:solidFill>
            <a:srgbClr val="0A1E24"/>
          </a:solidFill>
          <a:ln w="12700">
            <a:solidFill>
              <a:srgbClr val="3FD0D4"/>
            </a:solidFill>
            <a:prstDash val="solid"/>
          </a:ln>
        </p:spPr>
      </p:sp>
      <p:sp>
        <p:nvSpPr>
          <p:cNvPr id="49" name="Text 47"/>
          <p:cNvSpPr/>
          <p:nvPr/>
        </p:nvSpPr>
        <p:spPr>
          <a:xfrm>
            <a:off x="10058400" y="4791456"/>
            <a:ext cx="1463040" cy="256032"/>
          </a:xfrm>
          <a:prstGeom prst="rect">
            <a:avLst/>
          </a:prstGeom>
          <a:noFill/>
          <a:ln/>
        </p:spPr>
        <p:txBody>
          <a:bodyPr wrap="square" lIns="0" tIns="0" rIns="0" bIns="0" rtlCol="0" anchor="ctr"/>
          <a:lstStyle/>
          <a:p>
            <a:pPr algn="ctr" indent="0" marL="0">
              <a:buNone/>
            </a:pPr>
            <a:r>
              <a:rPr lang="en-US" sz="1000" b="1" dirty="0">
                <a:solidFill>
                  <a:srgbClr val="3FD0D4"/>
                </a:solidFill>
                <a:latin typeface="Segoe UI" pitchFamily="34" charset="0"/>
                <a:ea typeface="Segoe UI" pitchFamily="34" charset="-122"/>
                <a:cs typeface="Segoe UI" pitchFamily="34" charset="-120"/>
              </a:rPr>
              <a:t>Didesain</a:t>
            </a:r>
            <a:endParaRPr lang="en-US" sz="1000" dirty="0"/>
          </a:p>
        </p:txBody>
      </p:sp>
      <p:sp>
        <p:nvSpPr>
          <p:cNvPr id="50" name="Shape 48"/>
          <p:cNvSpPr/>
          <p:nvPr/>
        </p:nvSpPr>
        <p:spPr>
          <a:xfrm>
            <a:off x="548640" y="5285232"/>
            <a:ext cx="11091672" cy="548640"/>
          </a:xfrm>
          <a:prstGeom prst="roundRect">
            <a:avLst>
              <a:gd name="adj" fmla="val 15000"/>
            </a:avLst>
          </a:prstGeom>
          <a:solidFill>
            <a:srgbClr val="0F2C33"/>
          </a:solidFill>
          <a:ln w="12700">
            <a:solidFill>
              <a:srgbClr val="24505A"/>
            </a:solidFill>
            <a:prstDash val="solid"/>
          </a:ln>
        </p:spPr>
      </p:sp>
      <p:sp>
        <p:nvSpPr>
          <p:cNvPr id="51" name="Shape 49"/>
          <p:cNvSpPr/>
          <p:nvPr/>
        </p:nvSpPr>
        <p:spPr>
          <a:xfrm>
            <a:off x="548640" y="5413248"/>
            <a:ext cx="54864" cy="292608"/>
          </a:xfrm>
          <a:prstGeom prst="rect">
            <a:avLst/>
          </a:prstGeom>
          <a:solidFill>
            <a:srgbClr val="5EE6B0"/>
          </a:solidFill>
          <a:ln w="12700">
            <a:solidFill>
              <a:srgbClr val="5EE6B0"/>
            </a:solidFill>
            <a:prstDash val="solid"/>
          </a:ln>
        </p:spPr>
      </p:sp>
      <p:sp>
        <p:nvSpPr>
          <p:cNvPr id="52" name="Text 50"/>
          <p:cNvSpPr/>
          <p:nvPr/>
        </p:nvSpPr>
        <p:spPr>
          <a:xfrm>
            <a:off x="777240" y="5285232"/>
            <a:ext cx="1920240" cy="548640"/>
          </a:xfrm>
          <a:prstGeom prst="rect">
            <a:avLst/>
          </a:prstGeom>
          <a:noFill/>
          <a:ln/>
        </p:spPr>
        <p:txBody>
          <a:bodyPr wrap="square" lIns="0" tIns="0" rIns="0" bIns="0" rtlCol="0" anchor="ctr"/>
          <a:lstStyle/>
          <a:p>
            <a:pPr indent="0" marL="0">
              <a:buNone/>
            </a:pPr>
            <a:r>
              <a:rPr lang="en-US" sz="1500" dirty="0">
                <a:solidFill>
                  <a:srgbClr val="5EE6B0"/>
                </a:solidFill>
                <a:latin typeface="Segoe UI Semibold" pitchFamily="34" charset="0"/>
                <a:ea typeface="Segoe UI Semibold" pitchFamily="34" charset="-122"/>
                <a:cs typeface="Segoe UI Semibold" pitchFamily="34" charset="-120"/>
              </a:rPr>
              <a:t>1 · Lapangan</a:t>
            </a:r>
            <a:endParaRPr lang="en-US" sz="1500" dirty="0"/>
          </a:p>
        </p:txBody>
      </p:sp>
      <p:sp>
        <p:nvSpPr>
          <p:cNvPr id="53" name="Text 51"/>
          <p:cNvSpPr/>
          <p:nvPr/>
        </p:nvSpPr>
        <p:spPr>
          <a:xfrm>
            <a:off x="2697480" y="5285232"/>
            <a:ext cx="5852160" cy="548640"/>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10 sensor Modbus per kolam (DO ganda) + stasiun cuaca site</a:t>
            </a:r>
            <a:endParaRPr lang="en-US" sz="1250" dirty="0"/>
          </a:p>
        </p:txBody>
      </p:sp>
      <p:sp>
        <p:nvSpPr>
          <p:cNvPr id="54" name="Text 52"/>
          <p:cNvSpPr/>
          <p:nvPr/>
        </p:nvSpPr>
        <p:spPr>
          <a:xfrm>
            <a:off x="8503920" y="5285232"/>
            <a:ext cx="731520" cy="548640"/>
          </a:xfrm>
          <a:prstGeom prst="rect">
            <a:avLst/>
          </a:prstGeom>
          <a:noFill/>
          <a:ln/>
        </p:spPr>
        <p:txBody>
          <a:bodyPr wrap="square" lIns="0" tIns="0" rIns="0" bIns="0" rtlCol="0" anchor="ctr"/>
          <a:lstStyle/>
          <a:p>
            <a:pPr indent="0" marL="0">
              <a:buNone/>
            </a:pPr>
            <a:r>
              <a:rPr lang="en-US" sz="1000" b="1" dirty="0">
                <a:solidFill>
                  <a:srgbClr val="FFB347"/>
                </a:solidFill>
                <a:latin typeface="Segoe UI" pitchFamily="34" charset="0"/>
                <a:ea typeface="Segoe UI" pitchFamily="34" charset="-122"/>
                <a:cs typeface="Segoe UI" pitchFamily="34" charset="-120"/>
              </a:rPr>
              <a:t>◆ revisi</a:t>
            </a:r>
            <a:endParaRPr lang="en-US" sz="1000" dirty="0"/>
          </a:p>
        </p:txBody>
      </p:sp>
      <p:sp>
        <p:nvSpPr>
          <p:cNvPr id="55" name="Text 53"/>
          <p:cNvSpPr/>
          <p:nvPr/>
        </p:nvSpPr>
        <p:spPr>
          <a:xfrm>
            <a:off x="9189720" y="5285232"/>
            <a:ext cx="868680" cy="548640"/>
          </a:xfrm>
          <a:prstGeom prst="rect">
            <a:avLst/>
          </a:prstGeom>
          <a:noFill/>
          <a:ln/>
        </p:spPr>
        <p:txBody>
          <a:bodyPr wrap="square" lIns="0" tIns="0" rIns="0" bIns="0" rtlCol="0" anchor="ctr"/>
          <a:lstStyle/>
          <a:p>
            <a:pPr indent="0" marL="0">
              <a:buNone/>
            </a:pPr>
            <a:r>
              <a:rPr lang="en-US" sz="1100" dirty="0">
                <a:solidFill>
                  <a:srgbClr val="86A0A6"/>
                </a:solidFill>
                <a:latin typeface="Segoe UI" pitchFamily="34" charset="0"/>
                <a:ea typeface="Segoe UI" pitchFamily="34" charset="-122"/>
                <a:cs typeface="Segoe UI" pitchFamily="34" charset="-120"/>
              </a:rPr>
              <a:t>Fase 1</a:t>
            </a:r>
            <a:endParaRPr lang="en-US" sz="1100" dirty="0"/>
          </a:p>
        </p:txBody>
      </p:sp>
      <p:sp>
        <p:nvSpPr>
          <p:cNvPr id="56" name="Shape 54"/>
          <p:cNvSpPr/>
          <p:nvPr/>
        </p:nvSpPr>
        <p:spPr>
          <a:xfrm>
            <a:off x="10058400" y="5431536"/>
            <a:ext cx="1463040" cy="256032"/>
          </a:xfrm>
          <a:prstGeom prst="roundRect">
            <a:avLst>
              <a:gd name="adj" fmla="val 50000"/>
            </a:avLst>
          </a:prstGeom>
          <a:solidFill>
            <a:srgbClr val="0A1E24"/>
          </a:solidFill>
          <a:ln w="12700">
            <a:solidFill>
              <a:srgbClr val="3FD0D4"/>
            </a:solidFill>
            <a:prstDash val="solid"/>
          </a:ln>
        </p:spPr>
      </p:sp>
      <p:sp>
        <p:nvSpPr>
          <p:cNvPr id="57" name="Text 55"/>
          <p:cNvSpPr/>
          <p:nvPr/>
        </p:nvSpPr>
        <p:spPr>
          <a:xfrm>
            <a:off x="10058400" y="5431536"/>
            <a:ext cx="1463040" cy="256032"/>
          </a:xfrm>
          <a:prstGeom prst="rect">
            <a:avLst/>
          </a:prstGeom>
          <a:noFill/>
          <a:ln/>
        </p:spPr>
        <p:txBody>
          <a:bodyPr wrap="square" lIns="0" tIns="0" rIns="0" bIns="0" rtlCol="0" anchor="ctr"/>
          <a:lstStyle/>
          <a:p>
            <a:pPr algn="ctr" indent="0" marL="0">
              <a:buNone/>
            </a:pPr>
            <a:r>
              <a:rPr lang="en-US" sz="1000" b="1" dirty="0">
                <a:solidFill>
                  <a:srgbClr val="3FD0D4"/>
                </a:solidFill>
                <a:latin typeface="Segoe UI" pitchFamily="34" charset="0"/>
                <a:ea typeface="Segoe UI" pitchFamily="34" charset="-122"/>
                <a:cs typeface="Segoe UI" pitchFamily="34" charset="-120"/>
              </a:rPr>
              <a:t>Didesain</a:t>
            </a:r>
            <a:endParaRPr lang="en-US" sz="1000" dirty="0"/>
          </a:p>
        </p:txBody>
      </p:sp>
      <p:sp>
        <p:nvSpPr>
          <p:cNvPr id="58" name="Text 56"/>
          <p:cNvSpPr/>
          <p:nvPr/>
        </p:nvSpPr>
        <p:spPr>
          <a:xfrm>
            <a:off x="548640" y="5943600"/>
            <a:ext cx="11155680" cy="457200"/>
          </a:xfrm>
          <a:prstGeom prst="rect">
            <a:avLst/>
          </a:prstGeom>
          <a:noFill/>
          <a:ln/>
        </p:spPr>
        <p:txBody>
          <a:bodyPr wrap="square" lIns="0" tIns="0" rIns="0" bIns="0" rtlCol="0" anchor="t"/>
          <a:lstStyle/>
          <a:p>
            <a:pPr indent="0" marL="0">
              <a:buNone/>
            </a:pPr>
            <a:r>
              <a:rPr lang="en-US" sz="1050" b="1" dirty="0">
                <a:solidFill>
                  <a:srgbClr val="3FD0D4"/>
                </a:solidFill>
                <a:latin typeface="Segoe UI" pitchFamily="34" charset="0"/>
                <a:ea typeface="Segoe UI" pitchFamily="34" charset="-122"/>
                <a:cs typeface="Segoe UI" pitchFamily="34" charset="-120"/>
              </a:rPr>
              <a:t>Lintas lapis: </a:t>
            </a:r>
            <a:pPr indent="0" marL="0">
              <a:buNone/>
            </a:pPr>
            <a:r>
              <a:rPr lang="en-US" sz="1050" dirty="0">
                <a:solidFill>
                  <a:srgbClr val="B9CCD0"/>
                </a:solidFill>
                <a:latin typeface="Segoe UI" pitchFamily="34" charset="0"/>
                <a:ea typeface="Segoe UI" pitchFamily="34" charset="-122"/>
                <a:cs typeface="Segoe UI" pitchFamily="34" charset="-120"/>
              </a:rPr>
              <a:t>profil lingkungan nila (tawar / salin) menentukan batas dan sensor · keamanan &amp; pemantauan perangkat (OTA) · vendor-neutral lewat Modbus RTU</a:t>
            </a:r>
            <a:endParaRPr lang="en-US" sz="1050" dirty="0"/>
          </a:p>
          <a:p>
            <a:pPr indent="0" marL="0">
              <a:buNone/>
            </a:pPr>
            <a:r>
              <a:rPr lang="en-US" sz="1050" dirty="0">
                <a:solidFill>
                  <a:srgbClr val="FFB347"/>
                </a:solidFill>
                <a:latin typeface="Segoe UI" pitchFamily="34" charset="0"/>
                <a:ea typeface="Segoe UI" pitchFamily="34" charset="-122"/>
                <a:cs typeface="Segoe UI" pitchFamily="34" charset="-120"/>
              </a:rPr>
              <a:t>◆ revisi = berubah dari rancangan awal: DO ganda, modul kendali + sinyal balik, gateway industri dengan kendali pengaman lokal, segmen kendali.</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5</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5EE6B0"/>
                </a:solidFill>
                <a:latin typeface="Segoe UI" pitchFamily="34" charset="0"/>
                <a:ea typeface="Segoe UI" pitchFamily="34" charset="-122"/>
                <a:cs typeface="Segoe UI" pitchFamily="34" charset="-120"/>
              </a:rPr>
              <a:t>LAPIS 1 · LAPANGAN</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Per kolam: 10 sensor dan satu modul kendali</a:t>
            </a:r>
            <a:endParaRPr lang="en-US" sz="2700" dirty="0"/>
          </a:p>
        </p:txBody>
      </p:sp>
      <p:sp>
        <p:nvSpPr>
          <p:cNvPr id="5" name="Shape 3"/>
          <p:cNvSpPr/>
          <p:nvPr/>
        </p:nvSpPr>
        <p:spPr>
          <a:xfrm>
            <a:off x="548640" y="1463040"/>
            <a:ext cx="5943600" cy="4480560"/>
          </a:xfrm>
          <a:prstGeom prst="roundRect">
            <a:avLst>
              <a:gd name="adj" fmla="val 1837"/>
            </a:avLst>
          </a:prstGeom>
          <a:solidFill>
            <a:srgbClr val="0D3640"/>
          </a:solidFill>
          <a:ln w="12700">
            <a:solidFill>
              <a:srgbClr val="2C6470"/>
            </a:solidFill>
            <a:prstDash val="solid"/>
          </a:ln>
        </p:spPr>
      </p:sp>
      <p:sp>
        <p:nvSpPr>
          <p:cNvPr id="6" name="Text 4"/>
          <p:cNvSpPr/>
          <p:nvPr/>
        </p:nvSpPr>
        <p:spPr>
          <a:xfrm>
            <a:off x="731520" y="1572768"/>
            <a:ext cx="2743200" cy="228600"/>
          </a:xfrm>
          <a:prstGeom prst="rect">
            <a:avLst/>
          </a:prstGeom>
          <a:noFill/>
          <a:ln/>
        </p:spPr>
        <p:txBody>
          <a:bodyPr wrap="square" lIns="0" tIns="0" rIns="0" bIns="0" rtlCol="0" anchor="t"/>
          <a:lstStyle/>
          <a:p>
            <a:pPr indent="0" marL="0">
              <a:buNone/>
            </a:pPr>
            <a:r>
              <a:rPr lang="en-US" sz="1000" dirty="0">
                <a:solidFill>
                  <a:srgbClr val="86A0A6"/>
                </a:solidFill>
                <a:latin typeface="Segoe UI" pitchFamily="34" charset="0"/>
                <a:ea typeface="Segoe UI" pitchFamily="34" charset="-122"/>
                <a:cs typeface="Segoe UI" pitchFamily="34" charset="-120"/>
              </a:rPr>
              <a:t>Tampak atas · skematik</a:t>
            </a:r>
            <a:endParaRPr lang="en-US" sz="1000" dirty="0"/>
          </a:p>
        </p:txBody>
      </p:sp>
      <p:sp>
        <p:nvSpPr>
          <p:cNvPr id="7" name="Shape 5"/>
          <p:cNvSpPr/>
          <p:nvPr/>
        </p:nvSpPr>
        <p:spPr>
          <a:xfrm>
            <a:off x="1965960" y="2331720"/>
            <a:ext cx="3154680" cy="1783080"/>
          </a:xfrm>
          <a:prstGeom prst="roundRect">
            <a:avLst>
              <a:gd name="adj" fmla="val 5128"/>
            </a:avLst>
          </a:prstGeom>
          <a:solidFill>
            <a:srgbClr val="0A2A31"/>
          </a:solidFill>
          <a:ln w="12700">
            <a:solidFill>
              <a:srgbClr val="3FD0D4"/>
            </a:solidFill>
            <a:prstDash val="dash"/>
          </a:ln>
        </p:spPr>
      </p:sp>
      <p:sp>
        <p:nvSpPr>
          <p:cNvPr id="8" name="Text 6"/>
          <p:cNvSpPr/>
          <p:nvPr/>
        </p:nvSpPr>
        <p:spPr>
          <a:xfrm>
            <a:off x="1965960" y="2395728"/>
            <a:ext cx="3154680" cy="256032"/>
          </a:xfrm>
          <a:prstGeom prst="rect">
            <a:avLst/>
          </a:prstGeom>
          <a:noFill/>
          <a:ln/>
        </p:spPr>
        <p:txBody>
          <a:bodyPr wrap="square" lIns="0" tIns="0" rIns="0" bIns="0" rtlCol="0" anchor="t"/>
          <a:lstStyle/>
          <a:p>
            <a:pPr algn="ctr" indent="0" marL="0">
              <a:buNone/>
            </a:pPr>
            <a:r>
              <a:rPr lang="en-US" sz="1100" b="1" dirty="0">
                <a:solidFill>
                  <a:srgbClr val="3FD0D4"/>
                </a:solidFill>
                <a:latin typeface="Segoe UI" pitchFamily="34" charset="0"/>
                <a:ea typeface="Segoe UI" pitchFamily="34" charset="-122"/>
                <a:cs typeface="Segoe UI" pitchFamily="34" charset="-120"/>
              </a:rPr>
              <a:t>Klaster tengah · ±30–50 cm</a:t>
            </a:r>
            <a:endParaRPr lang="en-US" sz="1100" dirty="0"/>
          </a:p>
        </p:txBody>
      </p:sp>
      <p:sp>
        <p:nvSpPr>
          <p:cNvPr id="9" name="Shape 7"/>
          <p:cNvSpPr/>
          <p:nvPr/>
        </p:nvSpPr>
        <p:spPr>
          <a:xfrm>
            <a:off x="2368296" y="2788920"/>
            <a:ext cx="182880" cy="182880"/>
          </a:xfrm>
          <a:prstGeom prst="ellipse">
            <a:avLst/>
          </a:prstGeom>
          <a:solidFill>
            <a:srgbClr val="5EE6B0"/>
          </a:solidFill>
          <a:ln w="12700">
            <a:solidFill>
              <a:srgbClr val="0A1E24"/>
            </a:solidFill>
            <a:prstDash val="solid"/>
          </a:ln>
        </p:spPr>
      </p:sp>
      <p:sp>
        <p:nvSpPr>
          <p:cNvPr id="10" name="Text 8"/>
          <p:cNvSpPr/>
          <p:nvPr/>
        </p:nvSpPr>
        <p:spPr>
          <a:xfrm>
            <a:off x="2075688" y="2990088"/>
            <a:ext cx="777240" cy="228600"/>
          </a:xfrm>
          <a:prstGeom prst="rect">
            <a:avLst/>
          </a:prstGeom>
          <a:noFill/>
          <a:ln/>
        </p:spPr>
        <p:txBody>
          <a:bodyPr wrap="square" lIns="0" tIns="0" rIns="0" bIns="0" rtlCol="0" anchor="t"/>
          <a:lstStyle/>
          <a:p>
            <a:pPr algn="ctr" indent="0" marL="0">
              <a:buNone/>
            </a:pPr>
            <a:r>
              <a:rPr lang="en-US" sz="1000" dirty="0">
                <a:solidFill>
                  <a:srgbClr val="EAF3F4"/>
                </a:solidFill>
                <a:latin typeface="Segoe UI" pitchFamily="34" charset="0"/>
                <a:ea typeface="Segoe UI" pitchFamily="34" charset="-122"/>
                <a:cs typeface="Segoe UI" pitchFamily="34" charset="-120"/>
              </a:rPr>
              <a:t>DO-1</a:t>
            </a:r>
            <a:endParaRPr lang="en-US" sz="1000" dirty="0"/>
          </a:p>
        </p:txBody>
      </p:sp>
      <p:sp>
        <p:nvSpPr>
          <p:cNvPr id="11" name="Shape 9"/>
          <p:cNvSpPr/>
          <p:nvPr/>
        </p:nvSpPr>
        <p:spPr>
          <a:xfrm>
            <a:off x="3099816" y="2788920"/>
            <a:ext cx="182880" cy="182880"/>
          </a:xfrm>
          <a:prstGeom prst="ellipse">
            <a:avLst/>
          </a:prstGeom>
          <a:solidFill>
            <a:srgbClr val="5EE6B0"/>
          </a:solidFill>
          <a:ln w="12700">
            <a:solidFill>
              <a:srgbClr val="0A1E24"/>
            </a:solidFill>
            <a:prstDash val="solid"/>
          </a:ln>
        </p:spPr>
      </p:sp>
      <p:sp>
        <p:nvSpPr>
          <p:cNvPr id="12" name="Text 10"/>
          <p:cNvSpPr/>
          <p:nvPr/>
        </p:nvSpPr>
        <p:spPr>
          <a:xfrm>
            <a:off x="2807208" y="2990088"/>
            <a:ext cx="777240" cy="228600"/>
          </a:xfrm>
          <a:prstGeom prst="rect">
            <a:avLst/>
          </a:prstGeom>
          <a:noFill/>
          <a:ln/>
        </p:spPr>
        <p:txBody>
          <a:bodyPr wrap="square" lIns="0" tIns="0" rIns="0" bIns="0" rtlCol="0" anchor="t"/>
          <a:lstStyle/>
          <a:p>
            <a:pPr algn="ctr" indent="0" marL="0">
              <a:buNone/>
            </a:pPr>
            <a:r>
              <a:rPr lang="en-US" sz="1000" dirty="0">
                <a:solidFill>
                  <a:srgbClr val="EAF3F4"/>
                </a:solidFill>
                <a:latin typeface="Segoe UI" pitchFamily="34" charset="0"/>
                <a:ea typeface="Segoe UI" pitchFamily="34" charset="-122"/>
                <a:cs typeface="Segoe UI" pitchFamily="34" charset="-120"/>
              </a:rPr>
              <a:t>DO-2</a:t>
            </a:r>
            <a:endParaRPr lang="en-US" sz="1000" dirty="0"/>
          </a:p>
        </p:txBody>
      </p:sp>
      <p:sp>
        <p:nvSpPr>
          <p:cNvPr id="13" name="Shape 11"/>
          <p:cNvSpPr/>
          <p:nvPr/>
        </p:nvSpPr>
        <p:spPr>
          <a:xfrm>
            <a:off x="3831336" y="2788920"/>
            <a:ext cx="182880" cy="182880"/>
          </a:xfrm>
          <a:prstGeom prst="ellipse">
            <a:avLst/>
          </a:prstGeom>
          <a:solidFill>
            <a:srgbClr val="3FD0D4"/>
          </a:solidFill>
          <a:ln w="12700">
            <a:solidFill>
              <a:srgbClr val="0A1E24"/>
            </a:solidFill>
            <a:prstDash val="solid"/>
          </a:ln>
        </p:spPr>
      </p:sp>
      <p:sp>
        <p:nvSpPr>
          <p:cNvPr id="14" name="Text 12"/>
          <p:cNvSpPr/>
          <p:nvPr/>
        </p:nvSpPr>
        <p:spPr>
          <a:xfrm>
            <a:off x="3538728" y="2990088"/>
            <a:ext cx="777240" cy="228600"/>
          </a:xfrm>
          <a:prstGeom prst="rect">
            <a:avLst/>
          </a:prstGeom>
          <a:noFill/>
          <a:ln/>
        </p:spPr>
        <p:txBody>
          <a:bodyPr wrap="square" lIns="0" tIns="0" rIns="0" bIns="0" rtlCol="0" anchor="t"/>
          <a:lstStyle/>
          <a:p>
            <a:pPr algn="ctr" indent="0" marL="0">
              <a:buNone/>
            </a:pPr>
            <a:r>
              <a:rPr lang="en-US" sz="1000" dirty="0">
                <a:solidFill>
                  <a:srgbClr val="EAF3F4"/>
                </a:solidFill>
                <a:latin typeface="Segoe UI" pitchFamily="34" charset="0"/>
                <a:ea typeface="Segoe UI" pitchFamily="34" charset="-122"/>
                <a:cs typeface="Segoe UI" pitchFamily="34" charset="-120"/>
              </a:rPr>
              <a:t>pH</a:t>
            </a:r>
            <a:endParaRPr lang="en-US" sz="1000" dirty="0"/>
          </a:p>
        </p:txBody>
      </p:sp>
      <p:sp>
        <p:nvSpPr>
          <p:cNvPr id="15" name="Shape 13"/>
          <p:cNvSpPr/>
          <p:nvPr/>
        </p:nvSpPr>
        <p:spPr>
          <a:xfrm>
            <a:off x="4562856" y="2788920"/>
            <a:ext cx="182880" cy="182880"/>
          </a:xfrm>
          <a:prstGeom prst="ellipse">
            <a:avLst/>
          </a:prstGeom>
          <a:solidFill>
            <a:srgbClr val="3FD0D4"/>
          </a:solidFill>
          <a:ln w="12700">
            <a:solidFill>
              <a:srgbClr val="0A1E24"/>
            </a:solidFill>
            <a:prstDash val="solid"/>
          </a:ln>
        </p:spPr>
      </p:sp>
      <p:sp>
        <p:nvSpPr>
          <p:cNvPr id="16" name="Text 14"/>
          <p:cNvSpPr/>
          <p:nvPr/>
        </p:nvSpPr>
        <p:spPr>
          <a:xfrm>
            <a:off x="4270248" y="2990088"/>
            <a:ext cx="777240" cy="228600"/>
          </a:xfrm>
          <a:prstGeom prst="rect">
            <a:avLst/>
          </a:prstGeom>
          <a:noFill/>
          <a:ln/>
        </p:spPr>
        <p:txBody>
          <a:bodyPr wrap="square" lIns="0" tIns="0" rIns="0" bIns="0" rtlCol="0" anchor="t"/>
          <a:lstStyle/>
          <a:p>
            <a:pPr algn="ctr" indent="0" marL="0">
              <a:buNone/>
            </a:pPr>
            <a:r>
              <a:rPr lang="en-US" sz="1000" dirty="0">
                <a:solidFill>
                  <a:srgbClr val="EAF3F4"/>
                </a:solidFill>
                <a:latin typeface="Segoe UI" pitchFamily="34" charset="0"/>
                <a:ea typeface="Segoe UI" pitchFamily="34" charset="-122"/>
                <a:cs typeface="Segoe UI" pitchFamily="34" charset="-120"/>
              </a:rPr>
              <a:t>TAN</a:t>
            </a:r>
            <a:endParaRPr lang="en-US" sz="1000" dirty="0"/>
          </a:p>
        </p:txBody>
      </p:sp>
      <p:sp>
        <p:nvSpPr>
          <p:cNvPr id="17" name="Shape 15"/>
          <p:cNvSpPr/>
          <p:nvPr/>
        </p:nvSpPr>
        <p:spPr>
          <a:xfrm>
            <a:off x="2368296" y="3410712"/>
            <a:ext cx="182880" cy="182880"/>
          </a:xfrm>
          <a:prstGeom prst="ellipse">
            <a:avLst/>
          </a:prstGeom>
          <a:solidFill>
            <a:srgbClr val="3FD0D4"/>
          </a:solidFill>
          <a:ln w="12700">
            <a:solidFill>
              <a:srgbClr val="0A1E24"/>
            </a:solidFill>
            <a:prstDash val="solid"/>
          </a:ln>
        </p:spPr>
      </p:sp>
      <p:sp>
        <p:nvSpPr>
          <p:cNvPr id="18" name="Text 16"/>
          <p:cNvSpPr/>
          <p:nvPr/>
        </p:nvSpPr>
        <p:spPr>
          <a:xfrm>
            <a:off x="2075688" y="3611880"/>
            <a:ext cx="777240" cy="228600"/>
          </a:xfrm>
          <a:prstGeom prst="rect">
            <a:avLst/>
          </a:prstGeom>
          <a:noFill/>
          <a:ln/>
        </p:spPr>
        <p:txBody>
          <a:bodyPr wrap="square" lIns="0" tIns="0" rIns="0" bIns="0" rtlCol="0" anchor="t"/>
          <a:lstStyle/>
          <a:p>
            <a:pPr algn="ctr" indent="0" marL="0">
              <a:buNone/>
            </a:pPr>
            <a:r>
              <a:rPr lang="en-US" sz="1000" dirty="0">
                <a:solidFill>
                  <a:srgbClr val="EAF3F4"/>
                </a:solidFill>
                <a:latin typeface="Segoe UI" pitchFamily="34" charset="0"/>
                <a:ea typeface="Segoe UI" pitchFamily="34" charset="-122"/>
                <a:cs typeface="Segoe UI" pitchFamily="34" charset="-120"/>
              </a:rPr>
              <a:t>ORP</a:t>
            </a:r>
            <a:endParaRPr lang="en-US" sz="1000" dirty="0"/>
          </a:p>
        </p:txBody>
      </p:sp>
      <p:sp>
        <p:nvSpPr>
          <p:cNvPr id="19" name="Shape 17"/>
          <p:cNvSpPr/>
          <p:nvPr/>
        </p:nvSpPr>
        <p:spPr>
          <a:xfrm>
            <a:off x="3099816" y="3410712"/>
            <a:ext cx="182880" cy="182880"/>
          </a:xfrm>
          <a:prstGeom prst="ellipse">
            <a:avLst/>
          </a:prstGeom>
          <a:solidFill>
            <a:srgbClr val="3FD0D4"/>
          </a:solidFill>
          <a:ln w="12700">
            <a:solidFill>
              <a:srgbClr val="0A1E24"/>
            </a:solidFill>
            <a:prstDash val="solid"/>
          </a:ln>
        </p:spPr>
      </p:sp>
      <p:sp>
        <p:nvSpPr>
          <p:cNvPr id="20" name="Text 18"/>
          <p:cNvSpPr/>
          <p:nvPr/>
        </p:nvSpPr>
        <p:spPr>
          <a:xfrm>
            <a:off x="2807208" y="3611880"/>
            <a:ext cx="777240" cy="228600"/>
          </a:xfrm>
          <a:prstGeom prst="rect">
            <a:avLst/>
          </a:prstGeom>
          <a:noFill/>
          <a:ln/>
        </p:spPr>
        <p:txBody>
          <a:bodyPr wrap="square" lIns="0" tIns="0" rIns="0" bIns="0" rtlCol="0" anchor="t"/>
          <a:lstStyle/>
          <a:p>
            <a:pPr algn="ctr" indent="0" marL="0">
              <a:buNone/>
            </a:pPr>
            <a:r>
              <a:rPr lang="en-US" sz="1000" dirty="0">
                <a:solidFill>
                  <a:srgbClr val="EAF3F4"/>
                </a:solidFill>
                <a:latin typeface="Segoe UI" pitchFamily="34" charset="0"/>
                <a:ea typeface="Segoe UI" pitchFamily="34" charset="-122"/>
                <a:cs typeface="Segoe UI" pitchFamily="34" charset="-120"/>
              </a:rPr>
              <a:t>EC/Sal</a:t>
            </a:r>
            <a:endParaRPr lang="en-US" sz="1000" dirty="0"/>
          </a:p>
        </p:txBody>
      </p:sp>
      <p:sp>
        <p:nvSpPr>
          <p:cNvPr id="21" name="Shape 19"/>
          <p:cNvSpPr/>
          <p:nvPr/>
        </p:nvSpPr>
        <p:spPr>
          <a:xfrm>
            <a:off x="3831336" y="3410712"/>
            <a:ext cx="182880" cy="182880"/>
          </a:xfrm>
          <a:prstGeom prst="ellipse">
            <a:avLst/>
          </a:prstGeom>
          <a:solidFill>
            <a:srgbClr val="3FD0D4"/>
          </a:solidFill>
          <a:ln w="12700">
            <a:solidFill>
              <a:srgbClr val="0A1E24"/>
            </a:solidFill>
            <a:prstDash val="solid"/>
          </a:ln>
        </p:spPr>
      </p:sp>
      <p:sp>
        <p:nvSpPr>
          <p:cNvPr id="22" name="Text 20"/>
          <p:cNvSpPr/>
          <p:nvPr/>
        </p:nvSpPr>
        <p:spPr>
          <a:xfrm>
            <a:off x="3538728" y="3611880"/>
            <a:ext cx="777240" cy="228600"/>
          </a:xfrm>
          <a:prstGeom prst="rect">
            <a:avLst/>
          </a:prstGeom>
          <a:noFill/>
          <a:ln/>
        </p:spPr>
        <p:txBody>
          <a:bodyPr wrap="square" lIns="0" tIns="0" rIns="0" bIns="0" rtlCol="0" anchor="t"/>
          <a:lstStyle/>
          <a:p>
            <a:pPr algn="ctr" indent="0" marL="0">
              <a:buNone/>
            </a:pPr>
            <a:r>
              <a:rPr lang="en-US" sz="1000" dirty="0">
                <a:solidFill>
                  <a:srgbClr val="EAF3F4"/>
                </a:solidFill>
                <a:latin typeface="Segoe UI" pitchFamily="34" charset="0"/>
                <a:ea typeface="Segoe UI" pitchFamily="34" charset="-122"/>
                <a:cs typeface="Segoe UI" pitchFamily="34" charset="-120"/>
              </a:rPr>
              <a:t>Chl-a</a:t>
            </a:r>
            <a:endParaRPr lang="en-US" sz="1000" dirty="0"/>
          </a:p>
        </p:txBody>
      </p:sp>
      <p:sp>
        <p:nvSpPr>
          <p:cNvPr id="23" name="Shape 21"/>
          <p:cNvSpPr/>
          <p:nvPr/>
        </p:nvSpPr>
        <p:spPr>
          <a:xfrm>
            <a:off x="914400" y="1874520"/>
            <a:ext cx="457200" cy="457200"/>
          </a:xfrm>
          <a:prstGeom prst="ellipse">
            <a:avLst/>
          </a:prstGeom>
          <a:solidFill>
            <a:srgbClr val="1B4A54"/>
          </a:solidFill>
          <a:ln w="15240">
            <a:solidFill>
              <a:srgbClr val="A9B4BC"/>
            </a:solidFill>
            <a:prstDash val="solid"/>
          </a:ln>
        </p:spPr>
      </p:sp>
      <p:sp>
        <p:nvSpPr>
          <p:cNvPr id="24" name="Text 22"/>
          <p:cNvSpPr/>
          <p:nvPr/>
        </p:nvSpPr>
        <p:spPr>
          <a:xfrm>
            <a:off x="914400" y="1874520"/>
            <a:ext cx="457200" cy="457200"/>
          </a:xfrm>
          <a:prstGeom prst="rect">
            <a:avLst/>
          </a:prstGeom>
          <a:noFill/>
          <a:ln/>
        </p:spPr>
        <p:txBody>
          <a:bodyPr wrap="square" lIns="0" tIns="0" rIns="0" bIns="0" rtlCol="0" anchor="ctr"/>
          <a:lstStyle/>
          <a:p>
            <a:pPr algn="ctr" indent="0" marL="0">
              <a:buNone/>
            </a:pPr>
            <a:r>
              <a:rPr lang="en-US" sz="2400" dirty="0">
                <a:solidFill>
                  <a:srgbClr val="A9B4BC"/>
                </a:solidFill>
                <a:latin typeface="Segoe UI" pitchFamily="34" charset="0"/>
                <a:ea typeface="Segoe UI" pitchFamily="34" charset="-122"/>
                <a:cs typeface="Segoe UI" pitchFamily="34" charset="-120"/>
              </a:rPr>
              <a:t>✣</a:t>
            </a:r>
            <a:endParaRPr lang="en-US" sz="2400" dirty="0"/>
          </a:p>
        </p:txBody>
      </p:sp>
      <p:sp>
        <p:nvSpPr>
          <p:cNvPr id="25" name="Text 23"/>
          <p:cNvSpPr/>
          <p:nvPr/>
        </p:nvSpPr>
        <p:spPr>
          <a:xfrm>
            <a:off x="685800" y="2350008"/>
            <a:ext cx="914400" cy="228600"/>
          </a:xfrm>
          <a:prstGeom prst="rect">
            <a:avLst/>
          </a:prstGeom>
          <a:noFill/>
          <a:ln/>
        </p:spPr>
        <p:txBody>
          <a:bodyPr wrap="square" lIns="0" tIns="0" rIns="0" bIns="0" rtlCol="0" anchor="t"/>
          <a:lstStyle/>
          <a:p>
            <a:pPr algn="ctr" indent="0" marL="0">
              <a:buNone/>
            </a:pPr>
            <a:r>
              <a:rPr lang="en-US" sz="950" dirty="0">
                <a:solidFill>
                  <a:srgbClr val="86A0A6"/>
                </a:solidFill>
                <a:latin typeface="Segoe UI" pitchFamily="34" charset="0"/>
                <a:ea typeface="Segoe UI" pitchFamily="34" charset="-122"/>
                <a:cs typeface="Segoe UI" pitchFamily="34" charset="-120"/>
              </a:rPr>
              <a:t>Aerator 1</a:t>
            </a:r>
            <a:endParaRPr lang="en-US" sz="950" dirty="0"/>
          </a:p>
        </p:txBody>
      </p:sp>
      <p:sp>
        <p:nvSpPr>
          <p:cNvPr id="26" name="Shape 24"/>
          <p:cNvSpPr/>
          <p:nvPr/>
        </p:nvSpPr>
        <p:spPr>
          <a:xfrm>
            <a:off x="5074920" y="1828800"/>
            <a:ext cx="457200" cy="457200"/>
          </a:xfrm>
          <a:prstGeom prst="ellipse">
            <a:avLst/>
          </a:prstGeom>
          <a:solidFill>
            <a:srgbClr val="1B4A54"/>
          </a:solidFill>
          <a:ln w="15240">
            <a:solidFill>
              <a:srgbClr val="A9B4BC"/>
            </a:solidFill>
            <a:prstDash val="solid"/>
          </a:ln>
        </p:spPr>
      </p:sp>
      <p:sp>
        <p:nvSpPr>
          <p:cNvPr id="27" name="Text 25"/>
          <p:cNvSpPr/>
          <p:nvPr/>
        </p:nvSpPr>
        <p:spPr>
          <a:xfrm>
            <a:off x="5074920" y="1828800"/>
            <a:ext cx="457200" cy="457200"/>
          </a:xfrm>
          <a:prstGeom prst="rect">
            <a:avLst/>
          </a:prstGeom>
          <a:noFill/>
          <a:ln/>
        </p:spPr>
        <p:txBody>
          <a:bodyPr wrap="square" lIns="0" tIns="0" rIns="0" bIns="0" rtlCol="0" anchor="ctr"/>
          <a:lstStyle/>
          <a:p>
            <a:pPr algn="ctr" indent="0" marL="0">
              <a:buNone/>
            </a:pPr>
            <a:r>
              <a:rPr lang="en-US" sz="2400" dirty="0">
                <a:solidFill>
                  <a:srgbClr val="A9B4BC"/>
                </a:solidFill>
                <a:latin typeface="Segoe UI" pitchFamily="34" charset="0"/>
                <a:ea typeface="Segoe UI" pitchFamily="34" charset="-122"/>
                <a:cs typeface="Segoe UI" pitchFamily="34" charset="-120"/>
              </a:rPr>
              <a:t>✣</a:t>
            </a:r>
            <a:endParaRPr lang="en-US" sz="2400" dirty="0"/>
          </a:p>
        </p:txBody>
      </p:sp>
      <p:sp>
        <p:nvSpPr>
          <p:cNvPr id="28" name="Text 26"/>
          <p:cNvSpPr/>
          <p:nvPr/>
        </p:nvSpPr>
        <p:spPr>
          <a:xfrm>
            <a:off x="4846320" y="2304288"/>
            <a:ext cx="914400" cy="228600"/>
          </a:xfrm>
          <a:prstGeom prst="rect">
            <a:avLst/>
          </a:prstGeom>
          <a:noFill/>
          <a:ln/>
        </p:spPr>
        <p:txBody>
          <a:bodyPr wrap="square" lIns="0" tIns="0" rIns="0" bIns="0" rtlCol="0" anchor="t"/>
          <a:lstStyle/>
          <a:p>
            <a:pPr algn="ctr" indent="0" marL="0">
              <a:buNone/>
            </a:pPr>
            <a:r>
              <a:rPr lang="en-US" sz="950" dirty="0">
                <a:solidFill>
                  <a:srgbClr val="86A0A6"/>
                </a:solidFill>
                <a:latin typeface="Segoe UI" pitchFamily="34" charset="0"/>
                <a:ea typeface="Segoe UI" pitchFamily="34" charset="-122"/>
                <a:cs typeface="Segoe UI" pitchFamily="34" charset="-120"/>
              </a:rPr>
              <a:t>Aerator 2</a:t>
            </a:r>
            <a:endParaRPr lang="en-US" sz="950" dirty="0"/>
          </a:p>
        </p:txBody>
      </p:sp>
      <p:sp>
        <p:nvSpPr>
          <p:cNvPr id="29" name="Shape 27"/>
          <p:cNvSpPr/>
          <p:nvPr/>
        </p:nvSpPr>
        <p:spPr>
          <a:xfrm>
            <a:off x="1417320" y="1874520"/>
            <a:ext cx="201168" cy="201168"/>
          </a:xfrm>
          <a:prstGeom prst="ellipse">
            <a:avLst/>
          </a:prstGeom>
          <a:solidFill>
            <a:srgbClr val="FFB347"/>
          </a:solidFill>
          <a:ln w="12700">
            <a:solidFill>
              <a:srgbClr val="0A1E24"/>
            </a:solidFill>
            <a:prstDash val="solid"/>
          </a:ln>
        </p:spPr>
      </p:sp>
      <p:sp>
        <p:nvSpPr>
          <p:cNvPr id="30" name="Text 28"/>
          <p:cNvSpPr/>
          <p:nvPr/>
        </p:nvSpPr>
        <p:spPr>
          <a:xfrm>
            <a:off x="1664208" y="1856232"/>
            <a:ext cx="1463040" cy="228600"/>
          </a:xfrm>
          <a:prstGeom prst="rect">
            <a:avLst/>
          </a:prstGeom>
          <a:noFill/>
          <a:ln/>
        </p:spPr>
        <p:txBody>
          <a:bodyPr wrap="square" lIns="0" tIns="0" rIns="0" bIns="0" rtlCol="0" anchor="t"/>
          <a:lstStyle/>
          <a:p>
            <a:pPr algn="l" indent="0" marL="0">
              <a:buNone/>
            </a:pPr>
            <a:r>
              <a:rPr lang="en-US" sz="1050" dirty="0">
                <a:solidFill>
                  <a:srgbClr val="FFB347"/>
                </a:solidFill>
                <a:latin typeface="Segoe UI" pitchFamily="34" charset="0"/>
                <a:ea typeface="Segoe UI" pitchFamily="34" charset="-122"/>
                <a:cs typeface="Segoe UI" pitchFamily="34" charset="-120"/>
              </a:rPr>
              <a:t>Vibrasi</a:t>
            </a:r>
            <a:endParaRPr lang="en-US" sz="1050" dirty="0"/>
          </a:p>
        </p:txBody>
      </p:sp>
      <p:sp>
        <p:nvSpPr>
          <p:cNvPr id="31" name="Shape 29"/>
          <p:cNvSpPr/>
          <p:nvPr/>
        </p:nvSpPr>
        <p:spPr>
          <a:xfrm>
            <a:off x="960120" y="4160520"/>
            <a:ext cx="201168" cy="201168"/>
          </a:xfrm>
          <a:prstGeom prst="ellipse">
            <a:avLst/>
          </a:prstGeom>
          <a:solidFill>
            <a:srgbClr val="6FA8FF"/>
          </a:solidFill>
          <a:ln w="12700">
            <a:solidFill>
              <a:srgbClr val="0A1E24"/>
            </a:solidFill>
            <a:prstDash val="solid"/>
          </a:ln>
        </p:spPr>
      </p:sp>
      <p:sp>
        <p:nvSpPr>
          <p:cNvPr id="32" name="Text 30"/>
          <p:cNvSpPr/>
          <p:nvPr/>
        </p:nvSpPr>
        <p:spPr>
          <a:xfrm>
            <a:off x="1216152" y="4142232"/>
            <a:ext cx="1463040" cy="228600"/>
          </a:xfrm>
          <a:prstGeom prst="rect">
            <a:avLst/>
          </a:prstGeom>
          <a:noFill/>
          <a:ln/>
        </p:spPr>
        <p:txBody>
          <a:bodyPr wrap="square" lIns="0" tIns="0" rIns="0" bIns="0" rtlCol="0" anchor="t"/>
          <a:lstStyle/>
          <a:p>
            <a:pPr algn="l" indent="0" marL="0">
              <a:buNone/>
            </a:pPr>
            <a:r>
              <a:rPr lang="en-US" sz="1050" dirty="0">
                <a:solidFill>
                  <a:srgbClr val="6FA8FF"/>
                </a:solidFill>
                <a:latin typeface="Segoe UI" pitchFamily="34" charset="0"/>
                <a:ea typeface="Segoe UI" pitchFamily="34" charset="-122"/>
                <a:cs typeface="Segoe UI" pitchFamily="34" charset="-120"/>
              </a:rPr>
              <a:t>Kekeruhan · inlet</a:t>
            </a:r>
            <a:endParaRPr lang="en-US" sz="1050" dirty="0"/>
          </a:p>
        </p:txBody>
      </p:sp>
      <p:sp>
        <p:nvSpPr>
          <p:cNvPr id="33" name="Shape 31"/>
          <p:cNvSpPr/>
          <p:nvPr/>
        </p:nvSpPr>
        <p:spPr>
          <a:xfrm>
            <a:off x="960120" y="4617720"/>
            <a:ext cx="201168" cy="201168"/>
          </a:xfrm>
          <a:prstGeom prst="ellipse">
            <a:avLst/>
          </a:prstGeom>
          <a:solidFill>
            <a:srgbClr val="FFB347"/>
          </a:solidFill>
          <a:ln w="12700">
            <a:solidFill>
              <a:srgbClr val="0A1E24"/>
            </a:solidFill>
            <a:prstDash val="solid"/>
          </a:ln>
        </p:spPr>
      </p:sp>
      <p:sp>
        <p:nvSpPr>
          <p:cNvPr id="34" name="Text 32"/>
          <p:cNvSpPr/>
          <p:nvPr/>
        </p:nvSpPr>
        <p:spPr>
          <a:xfrm>
            <a:off x="1216152" y="4599432"/>
            <a:ext cx="1463040" cy="228600"/>
          </a:xfrm>
          <a:prstGeom prst="rect">
            <a:avLst/>
          </a:prstGeom>
          <a:noFill/>
          <a:ln/>
        </p:spPr>
        <p:txBody>
          <a:bodyPr wrap="square" lIns="0" tIns="0" rIns="0" bIns="0" rtlCol="0" anchor="t"/>
          <a:lstStyle/>
          <a:p>
            <a:pPr algn="l" indent="0" marL="0">
              <a:buNone/>
            </a:pPr>
            <a:r>
              <a:rPr lang="en-US" sz="1050" dirty="0">
                <a:solidFill>
                  <a:srgbClr val="FFB347"/>
                </a:solidFill>
                <a:latin typeface="Segoe UI" pitchFamily="34" charset="0"/>
                <a:ea typeface="Segoe UI" pitchFamily="34" charset="-122"/>
                <a:cs typeface="Segoe UI" pitchFamily="34" charset="-120"/>
              </a:rPr>
              <a:t>Tinggi air · tepi tanggul</a:t>
            </a:r>
            <a:endParaRPr lang="en-US" sz="1050" dirty="0"/>
          </a:p>
        </p:txBody>
      </p:sp>
      <p:sp>
        <p:nvSpPr>
          <p:cNvPr id="35" name="Shape 33"/>
          <p:cNvSpPr/>
          <p:nvPr/>
        </p:nvSpPr>
        <p:spPr>
          <a:xfrm>
            <a:off x="548640" y="3017520"/>
            <a:ext cx="201168" cy="685800"/>
          </a:xfrm>
          <a:prstGeom prst="rect">
            <a:avLst/>
          </a:prstGeom>
          <a:solidFill>
            <a:srgbClr val="3B78C9"/>
          </a:solidFill>
          <a:ln w="12700">
            <a:solidFill>
              <a:srgbClr val="3B78C9"/>
            </a:solidFill>
            <a:prstDash val="solid"/>
          </a:ln>
        </p:spPr>
      </p:sp>
      <p:sp>
        <p:nvSpPr>
          <p:cNvPr id="36" name="Shape 34"/>
          <p:cNvSpPr/>
          <p:nvPr/>
        </p:nvSpPr>
        <p:spPr>
          <a:xfrm>
            <a:off x="6291072" y="3017520"/>
            <a:ext cx="201168" cy="685800"/>
          </a:xfrm>
          <a:prstGeom prst="rect">
            <a:avLst/>
          </a:prstGeom>
          <a:solidFill>
            <a:srgbClr val="3B78C9"/>
          </a:solidFill>
          <a:ln w="12700">
            <a:solidFill>
              <a:srgbClr val="3B78C9"/>
            </a:solidFill>
            <a:prstDash val="solid"/>
          </a:ln>
        </p:spPr>
      </p:sp>
      <p:sp>
        <p:nvSpPr>
          <p:cNvPr id="37" name="Shape 35"/>
          <p:cNvSpPr/>
          <p:nvPr/>
        </p:nvSpPr>
        <p:spPr>
          <a:xfrm>
            <a:off x="2148840" y="5120640"/>
            <a:ext cx="1508760" cy="411480"/>
          </a:xfrm>
          <a:prstGeom prst="roundRect">
            <a:avLst>
              <a:gd name="adj" fmla="val 13333"/>
            </a:avLst>
          </a:prstGeom>
          <a:solidFill>
            <a:srgbClr val="F5D35C"/>
          </a:solidFill>
          <a:ln w="12700">
            <a:solidFill>
              <a:srgbClr val="F5D35C"/>
            </a:solidFill>
            <a:prstDash val="solid"/>
          </a:ln>
        </p:spPr>
      </p:sp>
      <p:sp>
        <p:nvSpPr>
          <p:cNvPr id="38" name="Text 36"/>
          <p:cNvSpPr/>
          <p:nvPr/>
        </p:nvSpPr>
        <p:spPr>
          <a:xfrm>
            <a:off x="2148840" y="5120640"/>
            <a:ext cx="1508760" cy="411480"/>
          </a:xfrm>
          <a:prstGeom prst="rect">
            <a:avLst/>
          </a:prstGeom>
          <a:noFill/>
          <a:ln/>
        </p:spPr>
        <p:txBody>
          <a:bodyPr wrap="square" lIns="0" tIns="0" rIns="0" bIns="0" rtlCol="0" anchor="ctr"/>
          <a:lstStyle/>
          <a:p>
            <a:pPr algn="ctr" indent="0" marL="0">
              <a:buNone/>
            </a:pPr>
            <a:r>
              <a:rPr lang="en-US" sz="1050" b="1" dirty="0">
                <a:solidFill>
                  <a:srgbClr val="0A1E24"/>
                </a:solidFill>
                <a:latin typeface="Segoe UI" pitchFamily="34" charset="0"/>
                <a:ea typeface="Segoe UI" pitchFamily="34" charset="-122"/>
                <a:cs typeface="Segoe UI" pitchFamily="34" charset="-120"/>
              </a:rPr>
              <a:t>Junction box sensor</a:t>
            </a:r>
            <a:endParaRPr lang="en-US" sz="1050" dirty="0"/>
          </a:p>
        </p:txBody>
      </p:sp>
      <p:sp>
        <p:nvSpPr>
          <p:cNvPr id="39" name="Shape 37"/>
          <p:cNvSpPr/>
          <p:nvPr/>
        </p:nvSpPr>
        <p:spPr>
          <a:xfrm>
            <a:off x="3886200" y="5120640"/>
            <a:ext cx="1691640" cy="411480"/>
          </a:xfrm>
          <a:prstGeom prst="roundRect">
            <a:avLst>
              <a:gd name="adj" fmla="val 13333"/>
            </a:avLst>
          </a:prstGeom>
          <a:solidFill>
            <a:srgbClr val="A9B4BC"/>
          </a:solidFill>
          <a:ln w="12700">
            <a:solidFill>
              <a:srgbClr val="A9B4BC"/>
            </a:solidFill>
            <a:prstDash val="solid"/>
          </a:ln>
        </p:spPr>
      </p:sp>
      <p:sp>
        <p:nvSpPr>
          <p:cNvPr id="40" name="Text 38"/>
          <p:cNvSpPr/>
          <p:nvPr/>
        </p:nvSpPr>
        <p:spPr>
          <a:xfrm>
            <a:off x="3886200" y="5120640"/>
            <a:ext cx="1691640" cy="411480"/>
          </a:xfrm>
          <a:prstGeom prst="rect">
            <a:avLst/>
          </a:prstGeom>
          <a:noFill/>
          <a:ln/>
        </p:spPr>
        <p:txBody>
          <a:bodyPr wrap="square" lIns="0" tIns="0" rIns="0" bIns="0" rtlCol="0" anchor="ctr"/>
          <a:lstStyle/>
          <a:p>
            <a:pPr algn="ctr" indent="0" marL="0">
              <a:buNone/>
            </a:pPr>
            <a:r>
              <a:rPr lang="en-US" sz="1050" b="1" dirty="0">
                <a:solidFill>
                  <a:srgbClr val="0A1E24"/>
                </a:solidFill>
                <a:latin typeface="Segoe UI" pitchFamily="34" charset="0"/>
                <a:ea typeface="Segoe UI" pitchFamily="34" charset="-122"/>
                <a:cs typeface="Segoe UI" pitchFamily="34" charset="-120"/>
              </a:rPr>
              <a:t>Panel kolam · modul I/O</a:t>
            </a:r>
            <a:endParaRPr lang="en-US" sz="1050" dirty="0"/>
          </a:p>
        </p:txBody>
      </p:sp>
      <p:sp>
        <p:nvSpPr>
          <p:cNvPr id="41" name="Shape 39"/>
          <p:cNvSpPr/>
          <p:nvPr/>
        </p:nvSpPr>
        <p:spPr>
          <a:xfrm>
            <a:off x="2898648" y="4114800"/>
            <a:ext cx="914" cy="1005840"/>
          </a:xfrm>
          <a:prstGeom prst="line">
            <a:avLst/>
          </a:prstGeom>
          <a:noFill/>
          <a:ln w="15240">
            <a:solidFill>
              <a:srgbClr val="F5D35C"/>
            </a:solidFill>
            <a:prstDash val="dash"/>
          </a:ln>
        </p:spPr>
      </p:sp>
      <p:sp>
        <p:nvSpPr>
          <p:cNvPr id="42" name="Shape 40"/>
          <p:cNvSpPr/>
          <p:nvPr/>
        </p:nvSpPr>
        <p:spPr>
          <a:xfrm>
            <a:off x="5550408" y="2057400"/>
            <a:ext cx="457200" cy="914"/>
          </a:xfrm>
          <a:prstGeom prst="line">
            <a:avLst/>
          </a:prstGeom>
          <a:noFill/>
          <a:ln w="15240">
            <a:solidFill>
              <a:srgbClr val="A9B4BC"/>
            </a:solidFill>
            <a:prstDash val="dash"/>
          </a:ln>
        </p:spPr>
      </p:sp>
      <p:sp>
        <p:nvSpPr>
          <p:cNvPr id="43" name="Shape 41"/>
          <p:cNvSpPr/>
          <p:nvPr/>
        </p:nvSpPr>
        <p:spPr>
          <a:xfrm>
            <a:off x="6007608" y="2057400"/>
            <a:ext cx="914" cy="3264408"/>
          </a:xfrm>
          <a:prstGeom prst="line">
            <a:avLst/>
          </a:prstGeom>
          <a:noFill/>
          <a:ln w="15240">
            <a:solidFill>
              <a:srgbClr val="A9B4BC"/>
            </a:solidFill>
            <a:prstDash val="dash"/>
          </a:ln>
        </p:spPr>
      </p:sp>
      <p:sp>
        <p:nvSpPr>
          <p:cNvPr id="44" name="Shape 42"/>
          <p:cNvSpPr/>
          <p:nvPr/>
        </p:nvSpPr>
        <p:spPr>
          <a:xfrm>
            <a:off x="5577840" y="5321808"/>
            <a:ext cx="429768" cy="914"/>
          </a:xfrm>
          <a:prstGeom prst="line">
            <a:avLst/>
          </a:prstGeom>
          <a:noFill/>
          <a:ln w="15240">
            <a:solidFill>
              <a:srgbClr val="A9B4BC"/>
            </a:solidFill>
            <a:prstDash val="dash"/>
          </a:ln>
        </p:spPr>
      </p:sp>
      <p:sp>
        <p:nvSpPr>
          <p:cNvPr id="45" name="Text 43"/>
          <p:cNvSpPr/>
          <p:nvPr/>
        </p:nvSpPr>
        <p:spPr>
          <a:xfrm>
            <a:off x="3886200" y="4773168"/>
            <a:ext cx="2057400" cy="329184"/>
          </a:xfrm>
          <a:prstGeom prst="rect">
            <a:avLst/>
          </a:prstGeom>
          <a:noFill/>
          <a:ln/>
        </p:spPr>
        <p:txBody>
          <a:bodyPr wrap="square" lIns="0" tIns="0" rIns="0" bIns="0" rtlCol="0" anchor="t"/>
          <a:lstStyle/>
          <a:p>
            <a:pPr algn="r" indent="0" marL="0">
              <a:buNone/>
            </a:pPr>
            <a:r>
              <a:rPr lang="en-US" sz="950" dirty="0">
                <a:solidFill>
                  <a:srgbClr val="A9B4BC"/>
                </a:solidFill>
                <a:latin typeface="Segoe UI" pitchFamily="34" charset="0"/>
                <a:ea typeface="Segoe UI" pitchFamily="34" charset="-122"/>
                <a:cs typeface="Segoe UI" pitchFamily="34" charset="-120"/>
              </a:rPr>
              <a:t>perintah + sinyal balik ke tiap aerator &amp; pompa</a:t>
            </a:r>
            <a:endParaRPr lang="en-US" sz="950" dirty="0"/>
          </a:p>
        </p:txBody>
      </p:sp>
      <p:sp>
        <p:nvSpPr>
          <p:cNvPr id="46" name="Shape 44"/>
          <p:cNvSpPr/>
          <p:nvPr/>
        </p:nvSpPr>
        <p:spPr>
          <a:xfrm>
            <a:off x="6720840" y="1463040"/>
            <a:ext cx="4919472" cy="786384"/>
          </a:xfrm>
          <a:prstGeom prst="roundRect">
            <a:avLst>
              <a:gd name="adj" fmla="val 10465"/>
            </a:avLst>
          </a:prstGeom>
          <a:solidFill>
            <a:srgbClr val="0F2C33"/>
          </a:solidFill>
          <a:ln w="12700">
            <a:solidFill>
              <a:srgbClr val="24505A"/>
            </a:solidFill>
            <a:prstDash val="solid"/>
          </a:ln>
        </p:spPr>
      </p:sp>
      <p:sp>
        <p:nvSpPr>
          <p:cNvPr id="47" name="Shape 45"/>
          <p:cNvSpPr/>
          <p:nvPr/>
        </p:nvSpPr>
        <p:spPr>
          <a:xfrm>
            <a:off x="6720840" y="1591056"/>
            <a:ext cx="54864" cy="530352"/>
          </a:xfrm>
          <a:prstGeom prst="rect">
            <a:avLst/>
          </a:prstGeom>
          <a:solidFill>
            <a:srgbClr val="5EE6B0"/>
          </a:solidFill>
          <a:ln w="12700">
            <a:solidFill>
              <a:srgbClr val="5EE6B0"/>
            </a:solidFill>
            <a:prstDash val="solid"/>
          </a:ln>
        </p:spPr>
      </p:sp>
      <p:sp>
        <p:nvSpPr>
          <p:cNvPr id="48" name="Text 46"/>
          <p:cNvSpPr/>
          <p:nvPr/>
        </p:nvSpPr>
        <p:spPr>
          <a:xfrm>
            <a:off x="6949440" y="1554480"/>
            <a:ext cx="4572000" cy="274320"/>
          </a:xfrm>
          <a:prstGeom prst="rect">
            <a:avLst/>
          </a:prstGeom>
          <a:noFill/>
          <a:ln/>
        </p:spPr>
        <p:txBody>
          <a:bodyPr wrap="square" lIns="0" tIns="0" rIns="0" bIns="0" rtlCol="0" anchor="t"/>
          <a:lstStyle/>
          <a:p>
            <a:pPr indent="0" marL="0">
              <a:buNone/>
            </a:pPr>
            <a:r>
              <a:rPr lang="en-US" sz="1300" dirty="0">
                <a:solidFill>
                  <a:srgbClr val="5EE6B0"/>
                </a:solidFill>
                <a:latin typeface="Segoe UI Semibold" pitchFamily="34" charset="0"/>
                <a:ea typeface="Segoe UI Semibold" pitchFamily="34" charset="-122"/>
                <a:cs typeface="Segoe UI Semibold" pitchFamily="34" charset="-120"/>
              </a:rPr>
              <a:t>Oksigen · 2 sensor DO + suhu</a:t>
            </a:r>
            <a:endParaRPr lang="en-US" sz="1300" dirty="0"/>
          </a:p>
        </p:txBody>
      </p:sp>
      <p:sp>
        <p:nvSpPr>
          <p:cNvPr id="49" name="Text 47"/>
          <p:cNvSpPr/>
          <p:nvPr/>
        </p:nvSpPr>
        <p:spPr>
          <a:xfrm>
            <a:off x="6949440" y="1847088"/>
            <a:ext cx="4572000" cy="384048"/>
          </a:xfrm>
          <a:prstGeom prst="rect">
            <a:avLst/>
          </a:prstGeom>
          <a:noFill/>
          <a:ln/>
        </p:spPr>
        <p:txBody>
          <a:bodyPr wrap="square" lIns="0" tIns="0" rIns="0" bIns="0" rtlCol="0" anchor="t"/>
          <a:lstStyle/>
          <a:p>
            <a:pPr indent="0" marL="0">
              <a:buNone/>
            </a:pPr>
            <a:r>
              <a:rPr lang="en-US" sz="1100" dirty="0">
                <a:solidFill>
                  <a:srgbClr val="B9CCD0"/>
                </a:solidFill>
                <a:latin typeface="Segoe UI" pitchFamily="34" charset="0"/>
                <a:ea typeface="Segoe UI" pitchFamily="34" charset="-122"/>
                <a:cs typeface="Segoe UI" pitchFamily="34" charset="-120"/>
              </a:rPr>
              <a:t>Dibandingkan terus; bacaan terendah yang dipakai — satu probe kotor tidak menipu sistem.</a:t>
            </a:r>
            <a:endParaRPr lang="en-US" sz="1100" dirty="0"/>
          </a:p>
        </p:txBody>
      </p:sp>
      <p:sp>
        <p:nvSpPr>
          <p:cNvPr id="50" name="Shape 48"/>
          <p:cNvSpPr/>
          <p:nvPr/>
        </p:nvSpPr>
        <p:spPr>
          <a:xfrm>
            <a:off x="6720840" y="2359152"/>
            <a:ext cx="4919472" cy="786384"/>
          </a:xfrm>
          <a:prstGeom prst="roundRect">
            <a:avLst>
              <a:gd name="adj" fmla="val 10465"/>
            </a:avLst>
          </a:prstGeom>
          <a:solidFill>
            <a:srgbClr val="0F2C33"/>
          </a:solidFill>
          <a:ln w="12700">
            <a:solidFill>
              <a:srgbClr val="24505A"/>
            </a:solidFill>
            <a:prstDash val="solid"/>
          </a:ln>
        </p:spPr>
      </p:sp>
      <p:sp>
        <p:nvSpPr>
          <p:cNvPr id="51" name="Shape 49"/>
          <p:cNvSpPr/>
          <p:nvPr/>
        </p:nvSpPr>
        <p:spPr>
          <a:xfrm>
            <a:off x="6720840" y="2487168"/>
            <a:ext cx="54864" cy="530352"/>
          </a:xfrm>
          <a:prstGeom prst="rect">
            <a:avLst/>
          </a:prstGeom>
          <a:solidFill>
            <a:srgbClr val="3FD0D4"/>
          </a:solidFill>
          <a:ln w="12700">
            <a:solidFill>
              <a:srgbClr val="3FD0D4"/>
            </a:solidFill>
            <a:prstDash val="solid"/>
          </a:ln>
        </p:spPr>
      </p:sp>
      <p:sp>
        <p:nvSpPr>
          <p:cNvPr id="52" name="Text 50"/>
          <p:cNvSpPr/>
          <p:nvPr/>
        </p:nvSpPr>
        <p:spPr>
          <a:xfrm>
            <a:off x="6949440" y="2450592"/>
            <a:ext cx="4572000" cy="274320"/>
          </a:xfrm>
          <a:prstGeom prst="rect">
            <a:avLst/>
          </a:prstGeom>
          <a:noFill/>
          <a:ln/>
        </p:spPr>
        <p:txBody>
          <a:bodyPr wrap="square" lIns="0" tIns="0" rIns="0" bIns="0" rtlCol="0" anchor="t"/>
          <a:lstStyle/>
          <a:p>
            <a:pPr indent="0" marL="0">
              <a:buNone/>
            </a:pPr>
            <a:r>
              <a:rPr lang="en-US" sz="1300" dirty="0">
                <a:solidFill>
                  <a:srgbClr val="3FD0D4"/>
                </a:solidFill>
                <a:latin typeface="Segoe UI Semibold" pitchFamily="34" charset="0"/>
                <a:ea typeface="Segoe UI Semibold" pitchFamily="34" charset="-122"/>
                <a:cs typeface="Segoe UI Semibold" pitchFamily="34" charset="-120"/>
              </a:rPr>
              <a:t>Kimia air · pH, TAN, ORP, EC/salinitas</a:t>
            </a:r>
            <a:endParaRPr lang="en-US" sz="1300" dirty="0"/>
          </a:p>
        </p:txBody>
      </p:sp>
      <p:sp>
        <p:nvSpPr>
          <p:cNvPr id="53" name="Text 51"/>
          <p:cNvSpPr/>
          <p:nvPr/>
        </p:nvSpPr>
        <p:spPr>
          <a:xfrm>
            <a:off x="6949440" y="2743200"/>
            <a:ext cx="4572000" cy="384048"/>
          </a:xfrm>
          <a:prstGeom prst="rect">
            <a:avLst/>
          </a:prstGeom>
          <a:noFill/>
          <a:ln/>
        </p:spPr>
        <p:txBody>
          <a:bodyPr wrap="square" lIns="0" tIns="0" rIns="0" bIns="0" rtlCol="0" anchor="t"/>
          <a:lstStyle/>
          <a:p>
            <a:pPr indent="0" marL="0">
              <a:buNone/>
            </a:pPr>
            <a:r>
              <a:rPr lang="en-US" sz="1100" dirty="0">
                <a:solidFill>
                  <a:srgbClr val="B9CCD0"/>
                </a:solidFill>
                <a:latin typeface="Segoe UI" pitchFamily="34" charset="0"/>
                <a:ea typeface="Segoe UI" pitchFamily="34" charset="-122"/>
                <a:cs typeface="Segoe UI" pitchFamily="34" charset="-120"/>
              </a:rPr>
              <a:t>Amonia beracun (NH₃) dihitung dari TAN + pH + suhu + salinitas di titik yang sama.</a:t>
            </a:r>
            <a:endParaRPr lang="en-US" sz="1100" dirty="0"/>
          </a:p>
        </p:txBody>
      </p:sp>
      <p:sp>
        <p:nvSpPr>
          <p:cNvPr id="54" name="Shape 52"/>
          <p:cNvSpPr/>
          <p:nvPr/>
        </p:nvSpPr>
        <p:spPr>
          <a:xfrm>
            <a:off x="6720840" y="3255264"/>
            <a:ext cx="4919472" cy="786384"/>
          </a:xfrm>
          <a:prstGeom prst="roundRect">
            <a:avLst>
              <a:gd name="adj" fmla="val 10465"/>
            </a:avLst>
          </a:prstGeom>
          <a:solidFill>
            <a:srgbClr val="0F2C33"/>
          </a:solidFill>
          <a:ln w="12700">
            <a:solidFill>
              <a:srgbClr val="24505A"/>
            </a:solidFill>
            <a:prstDash val="solid"/>
          </a:ln>
        </p:spPr>
      </p:sp>
      <p:sp>
        <p:nvSpPr>
          <p:cNvPr id="55" name="Shape 53"/>
          <p:cNvSpPr/>
          <p:nvPr/>
        </p:nvSpPr>
        <p:spPr>
          <a:xfrm>
            <a:off x="6720840" y="3383280"/>
            <a:ext cx="54864" cy="530352"/>
          </a:xfrm>
          <a:prstGeom prst="rect">
            <a:avLst/>
          </a:prstGeom>
          <a:solidFill>
            <a:srgbClr val="6FA8FF"/>
          </a:solidFill>
          <a:ln w="12700">
            <a:solidFill>
              <a:srgbClr val="6FA8FF"/>
            </a:solidFill>
            <a:prstDash val="solid"/>
          </a:ln>
        </p:spPr>
      </p:sp>
      <p:sp>
        <p:nvSpPr>
          <p:cNvPr id="56" name="Text 54"/>
          <p:cNvSpPr/>
          <p:nvPr/>
        </p:nvSpPr>
        <p:spPr>
          <a:xfrm>
            <a:off x="6949440" y="3346704"/>
            <a:ext cx="4572000" cy="274320"/>
          </a:xfrm>
          <a:prstGeom prst="rect">
            <a:avLst/>
          </a:prstGeom>
          <a:noFill/>
          <a:ln/>
        </p:spPr>
        <p:txBody>
          <a:bodyPr wrap="square" lIns="0" tIns="0" rIns="0" bIns="0" rtlCol="0" anchor="t"/>
          <a:lstStyle/>
          <a:p>
            <a:pPr indent="0" marL="0">
              <a:buNone/>
            </a:pPr>
            <a:r>
              <a:rPr lang="en-US" sz="1300" dirty="0">
                <a:solidFill>
                  <a:srgbClr val="6FA8FF"/>
                </a:solidFill>
                <a:latin typeface="Segoe UI Semibold" pitchFamily="34" charset="0"/>
                <a:ea typeface="Segoe UI Semibold" pitchFamily="34" charset="-122"/>
                <a:cs typeface="Segoe UI Semibold" pitchFamily="34" charset="-120"/>
              </a:rPr>
              <a:t>Biologi &amp; fisik · Chl-a, kekeruhan, tinggi air, vibrasi</a:t>
            </a:r>
            <a:endParaRPr lang="en-US" sz="1300" dirty="0"/>
          </a:p>
        </p:txBody>
      </p:sp>
      <p:sp>
        <p:nvSpPr>
          <p:cNvPr id="57" name="Text 55"/>
          <p:cNvSpPr/>
          <p:nvPr/>
        </p:nvSpPr>
        <p:spPr>
          <a:xfrm>
            <a:off x="6949440" y="3639312"/>
            <a:ext cx="4572000" cy="384048"/>
          </a:xfrm>
          <a:prstGeom prst="rect">
            <a:avLst/>
          </a:prstGeom>
          <a:noFill/>
          <a:ln/>
        </p:spPr>
        <p:txBody>
          <a:bodyPr wrap="square" lIns="0" tIns="0" rIns="0" bIns="0" rtlCol="0" anchor="t"/>
          <a:lstStyle/>
          <a:p>
            <a:pPr indent="0" marL="0">
              <a:buNone/>
            </a:pPr>
            <a:r>
              <a:rPr lang="en-US" sz="1100" dirty="0">
                <a:solidFill>
                  <a:srgbClr val="B9CCD0"/>
                </a:solidFill>
                <a:latin typeface="Segoe UI" pitchFamily="34" charset="0"/>
                <a:ea typeface="Segoe UI" pitchFamily="34" charset="-122"/>
                <a:cs typeface="Segoe UI" pitchFamily="34" charset="-120"/>
              </a:rPr>
              <a:t>Plankton, kekeruhan, kebocoran/luapan, dan kondisi motor aerator.</a:t>
            </a:r>
            <a:endParaRPr lang="en-US" sz="1100" dirty="0"/>
          </a:p>
        </p:txBody>
      </p:sp>
      <p:sp>
        <p:nvSpPr>
          <p:cNvPr id="58" name="Shape 56"/>
          <p:cNvSpPr/>
          <p:nvPr/>
        </p:nvSpPr>
        <p:spPr>
          <a:xfrm>
            <a:off x="6720840" y="4151376"/>
            <a:ext cx="4919472" cy="786384"/>
          </a:xfrm>
          <a:prstGeom prst="roundRect">
            <a:avLst>
              <a:gd name="adj" fmla="val 10465"/>
            </a:avLst>
          </a:prstGeom>
          <a:solidFill>
            <a:srgbClr val="0F2C33"/>
          </a:solidFill>
          <a:ln w="12700">
            <a:solidFill>
              <a:srgbClr val="24505A"/>
            </a:solidFill>
            <a:prstDash val="solid"/>
          </a:ln>
        </p:spPr>
      </p:sp>
      <p:sp>
        <p:nvSpPr>
          <p:cNvPr id="59" name="Shape 57"/>
          <p:cNvSpPr/>
          <p:nvPr/>
        </p:nvSpPr>
        <p:spPr>
          <a:xfrm>
            <a:off x="6720840" y="4279392"/>
            <a:ext cx="54864" cy="530352"/>
          </a:xfrm>
          <a:prstGeom prst="rect">
            <a:avLst/>
          </a:prstGeom>
          <a:solidFill>
            <a:srgbClr val="A9B4BC"/>
          </a:solidFill>
          <a:ln w="12700">
            <a:solidFill>
              <a:srgbClr val="A9B4BC"/>
            </a:solidFill>
            <a:prstDash val="solid"/>
          </a:ln>
        </p:spPr>
      </p:sp>
      <p:sp>
        <p:nvSpPr>
          <p:cNvPr id="60" name="Text 58"/>
          <p:cNvSpPr/>
          <p:nvPr/>
        </p:nvSpPr>
        <p:spPr>
          <a:xfrm>
            <a:off x="6949440" y="4242816"/>
            <a:ext cx="4572000" cy="274320"/>
          </a:xfrm>
          <a:prstGeom prst="rect">
            <a:avLst/>
          </a:prstGeom>
          <a:noFill/>
          <a:ln/>
        </p:spPr>
        <p:txBody>
          <a:bodyPr wrap="square" lIns="0" tIns="0" rIns="0" bIns="0" rtlCol="0" anchor="t"/>
          <a:lstStyle/>
          <a:p>
            <a:pPr indent="0" marL="0">
              <a:buNone/>
            </a:pPr>
            <a:r>
              <a:rPr lang="en-US" sz="1300" dirty="0">
                <a:solidFill>
                  <a:srgbClr val="A9B4BC"/>
                </a:solidFill>
                <a:latin typeface="Segoe UI Semibold" pitchFamily="34" charset="0"/>
                <a:ea typeface="Segoe UI Semibold" pitchFamily="34" charset="-122"/>
                <a:cs typeface="Segoe UI Semibold" pitchFamily="34" charset="-120"/>
              </a:rPr>
              <a:t>Kendali · modul I/O di panel kolam</a:t>
            </a:r>
            <a:endParaRPr lang="en-US" sz="1300" dirty="0"/>
          </a:p>
        </p:txBody>
      </p:sp>
      <p:sp>
        <p:nvSpPr>
          <p:cNvPr id="61" name="Text 59"/>
          <p:cNvSpPr/>
          <p:nvPr/>
        </p:nvSpPr>
        <p:spPr>
          <a:xfrm>
            <a:off x="6949440" y="4535424"/>
            <a:ext cx="4572000" cy="384048"/>
          </a:xfrm>
          <a:prstGeom prst="rect">
            <a:avLst/>
          </a:prstGeom>
          <a:noFill/>
          <a:ln/>
        </p:spPr>
        <p:txBody>
          <a:bodyPr wrap="square" lIns="0" tIns="0" rIns="0" bIns="0" rtlCol="0" anchor="t"/>
          <a:lstStyle/>
          <a:p>
            <a:pPr indent="0" marL="0">
              <a:buNone/>
            </a:pPr>
            <a:r>
              <a:rPr lang="en-US" sz="1100" dirty="0">
                <a:solidFill>
                  <a:srgbClr val="B9CCD0"/>
                </a:solidFill>
                <a:latin typeface="Segoe UI" pitchFamily="34" charset="0"/>
                <a:ea typeface="Segoe UI" pitchFamily="34" charset="-122"/>
                <a:cs typeface="Segoe UI" pitchFamily="34" charset="-120"/>
              </a:rPr>
              <a:t>Perintah aerator &amp; pompa + sinyal balik tiap alat. Tanpa perintah → aerator tetap ON.</a:t>
            </a:r>
            <a:endParaRPr lang="en-US" sz="1100" dirty="0"/>
          </a:p>
        </p:txBody>
      </p:sp>
      <p:sp>
        <p:nvSpPr>
          <p:cNvPr id="62" name="Shape 60"/>
          <p:cNvSpPr/>
          <p:nvPr/>
        </p:nvSpPr>
        <p:spPr>
          <a:xfrm>
            <a:off x="6720840" y="5047488"/>
            <a:ext cx="4919472" cy="786384"/>
          </a:xfrm>
          <a:prstGeom prst="roundRect">
            <a:avLst>
              <a:gd name="adj" fmla="val 10465"/>
            </a:avLst>
          </a:prstGeom>
          <a:solidFill>
            <a:srgbClr val="0F2C33"/>
          </a:solidFill>
          <a:ln w="12700">
            <a:solidFill>
              <a:srgbClr val="24505A"/>
            </a:solidFill>
            <a:prstDash val="solid"/>
          </a:ln>
        </p:spPr>
      </p:sp>
      <p:sp>
        <p:nvSpPr>
          <p:cNvPr id="63" name="Shape 61"/>
          <p:cNvSpPr/>
          <p:nvPr/>
        </p:nvSpPr>
        <p:spPr>
          <a:xfrm>
            <a:off x="6720840" y="5175504"/>
            <a:ext cx="54864" cy="530352"/>
          </a:xfrm>
          <a:prstGeom prst="rect">
            <a:avLst/>
          </a:prstGeom>
          <a:solidFill>
            <a:srgbClr val="FFB347"/>
          </a:solidFill>
          <a:ln w="12700">
            <a:solidFill>
              <a:srgbClr val="FFB347"/>
            </a:solidFill>
            <a:prstDash val="solid"/>
          </a:ln>
        </p:spPr>
      </p:sp>
      <p:sp>
        <p:nvSpPr>
          <p:cNvPr id="64" name="Text 62"/>
          <p:cNvSpPr/>
          <p:nvPr/>
        </p:nvSpPr>
        <p:spPr>
          <a:xfrm>
            <a:off x="6949440" y="5138928"/>
            <a:ext cx="4572000" cy="274320"/>
          </a:xfrm>
          <a:prstGeom prst="rect">
            <a:avLst/>
          </a:prstGeom>
          <a:noFill/>
          <a:ln/>
        </p:spPr>
        <p:txBody>
          <a:bodyPr wrap="square" lIns="0" tIns="0" rIns="0" bIns="0" rtlCol="0" anchor="t"/>
          <a:lstStyle/>
          <a:p>
            <a:pPr indent="0" marL="0">
              <a:buNone/>
            </a:pPr>
            <a:r>
              <a:rPr lang="en-US" sz="1300" dirty="0">
                <a:solidFill>
                  <a:srgbClr val="FFB347"/>
                </a:solidFill>
                <a:latin typeface="Segoe UI Semibold" pitchFamily="34" charset="0"/>
                <a:ea typeface="Segoe UI Semibold" pitchFamily="34" charset="-122"/>
                <a:cs typeface="Segoe UI Semibold" pitchFamily="34" charset="-120"/>
              </a:rPr>
              <a:t>Site · barometer + pyranometer + BMKG</a:t>
            </a:r>
            <a:endParaRPr lang="en-US" sz="1300" dirty="0"/>
          </a:p>
        </p:txBody>
      </p:sp>
      <p:sp>
        <p:nvSpPr>
          <p:cNvPr id="65" name="Text 63"/>
          <p:cNvSpPr/>
          <p:nvPr/>
        </p:nvSpPr>
        <p:spPr>
          <a:xfrm>
            <a:off x="6949440" y="5431536"/>
            <a:ext cx="4572000" cy="384048"/>
          </a:xfrm>
          <a:prstGeom prst="rect">
            <a:avLst/>
          </a:prstGeom>
          <a:noFill/>
          <a:ln/>
        </p:spPr>
        <p:txBody>
          <a:bodyPr wrap="square" lIns="0" tIns="0" rIns="0" bIns="0" rtlCol="0" anchor="t"/>
          <a:lstStyle/>
          <a:p>
            <a:pPr indent="0" marL="0">
              <a:buNone/>
            </a:pPr>
            <a:r>
              <a:rPr lang="en-US" sz="1100" dirty="0">
                <a:solidFill>
                  <a:srgbClr val="B9CCD0"/>
                </a:solidFill>
                <a:latin typeface="Segoe UI" pitchFamily="34" charset="0"/>
                <a:ea typeface="Segoe UI" pitchFamily="34" charset="-122"/>
                <a:cs typeface="Segoe UI" pitchFamily="34" charset="-120"/>
              </a:rPr>
              <a:t>Cuaca lokal dan prakiraan untuk memperkirakan oksigen subuh.</a:t>
            </a:r>
            <a:endParaRPr lang="en-US" sz="1100" dirty="0"/>
          </a:p>
        </p:txBody>
      </p:sp>
      <p:sp>
        <p:nvSpPr>
          <p:cNvPr id="66" name="Text 64"/>
          <p:cNvSpPr/>
          <p:nvPr/>
        </p:nvSpPr>
        <p:spPr>
          <a:xfrm>
            <a:off x="548640" y="6053328"/>
            <a:ext cx="10972800" cy="274320"/>
          </a:xfrm>
          <a:prstGeom prst="rect">
            <a:avLst/>
          </a:prstGeom>
          <a:noFill/>
          <a:ln/>
        </p:spPr>
        <p:txBody>
          <a:bodyPr wrap="square" lIns="0" tIns="0" rIns="0" bIns="0" rtlCol="0" anchor="t"/>
          <a:lstStyle/>
          <a:p>
            <a:pPr indent="0" marL="0">
              <a:buNone/>
            </a:pPr>
            <a:r>
              <a:rPr lang="en-US" sz="1250" b="1" dirty="0">
                <a:solidFill>
                  <a:srgbClr val="5EE6B0"/>
                </a:solidFill>
                <a:latin typeface="Segoe UI" pitchFamily="34" charset="0"/>
                <a:ea typeface="Segoe UI" pitchFamily="34" charset="-122"/>
                <a:cs typeface="Segoe UI" pitchFamily="34" charset="-120"/>
              </a:rPr>
              <a:t>10 kolam × (10 sensor + 1 modul) + 2 sensor cuaca = 112 perangkat Modbus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6</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F5D35C"/>
                </a:solidFill>
                <a:latin typeface="Segoe UI" pitchFamily="34" charset="0"/>
                <a:ea typeface="Segoe UI" pitchFamily="34" charset="-122"/>
                <a:cs typeface="Segoe UI" pitchFamily="34" charset="-120"/>
              </a:rPr>
              <a:t>LAPIS 2 · KONEKTIVITAS</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Lima segmen RS485, semuanya di bawah batas 32 perangkat</a:t>
            </a:r>
            <a:endParaRPr lang="en-US" sz="2700" dirty="0"/>
          </a:p>
        </p:txBody>
      </p:sp>
      <p:sp>
        <p:nvSpPr>
          <p:cNvPr id="5" name="Shape 3"/>
          <p:cNvSpPr/>
          <p:nvPr/>
        </p:nvSpPr>
        <p:spPr>
          <a:xfrm>
            <a:off x="548640" y="1463040"/>
            <a:ext cx="2057400" cy="1691640"/>
          </a:xfrm>
          <a:prstGeom prst="roundRect">
            <a:avLst>
              <a:gd name="adj" fmla="val 4865"/>
            </a:avLst>
          </a:prstGeom>
          <a:solidFill>
            <a:srgbClr val="0F2C33"/>
          </a:solidFill>
          <a:ln w="12700">
            <a:solidFill>
              <a:srgbClr val="24505A"/>
            </a:solidFill>
            <a:prstDash val="solid"/>
          </a:ln>
        </p:spPr>
      </p:sp>
      <p:sp>
        <p:nvSpPr>
          <p:cNvPr id="6" name="Text 4"/>
          <p:cNvSpPr/>
          <p:nvPr/>
        </p:nvSpPr>
        <p:spPr>
          <a:xfrm>
            <a:off x="731520" y="1600200"/>
            <a:ext cx="1691640" cy="274320"/>
          </a:xfrm>
          <a:prstGeom prst="rect">
            <a:avLst/>
          </a:prstGeom>
          <a:noFill/>
          <a:ln/>
        </p:spPr>
        <p:txBody>
          <a:bodyPr wrap="square" lIns="0" tIns="0" rIns="0" bIns="0" rtlCol="0" anchor="t"/>
          <a:lstStyle/>
          <a:p>
            <a:pPr indent="0" marL="0">
              <a:buNone/>
            </a:pPr>
            <a:r>
              <a:rPr lang="en-US" sz="1300" dirty="0">
                <a:solidFill>
                  <a:srgbClr val="F5D35C"/>
                </a:solidFill>
                <a:latin typeface="Segoe UI Semibold" pitchFamily="34" charset="0"/>
                <a:ea typeface="Segoe UI Semibold" pitchFamily="34" charset="-122"/>
                <a:cs typeface="Segoe UI Semibold" pitchFamily="34" charset="-120"/>
              </a:rPr>
              <a:t>Segmen A</a:t>
            </a:r>
            <a:endParaRPr lang="en-US" sz="1300" dirty="0"/>
          </a:p>
        </p:txBody>
      </p:sp>
      <p:sp>
        <p:nvSpPr>
          <p:cNvPr id="7" name="Text 5"/>
          <p:cNvSpPr/>
          <p:nvPr/>
        </p:nvSpPr>
        <p:spPr>
          <a:xfrm>
            <a:off x="731520" y="1920240"/>
            <a:ext cx="1691640" cy="548640"/>
          </a:xfrm>
          <a:prstGeom prst="rect">
            <a:avLst/>
          </a:prstGeom>
          <a:noFill/>
          <a:ln/>
        </p:spPr>
        <p:txBody>
          <a:bodyPr wrap="square" lIns="0" tIns="0" rIns="0" bIns="0" rtlCol="0" anchor="t"/>
          <a:lstStyle/>
          <a:p>
            <a:pPr indent="0" marL="0">
              <a:buNone/>
            </a:pPr>
            <a:r>
              <a:rPr lang="en-US" sz="3000" dirty="0">
                <a:solidFill>
                  <a:srgbClr val="EAF3F4"/>
                </a:solidFill>
                <a:latin typeface="Segoe UI Semibold" pitchFamily="34" charset="0"/>
                <a:ea typeface="Segoe UI Semibold" pitchFamily="34" charset="-122"/>
                <a:cs typeface="Segoe UI Semibold" pitchFamily="34" charset="-120"/>
              </a:rPr>
              <a:t>30</a:t>
            </a:r>
            <a:pPr indent="0" marL="0">
              <a:buNone/>
            </a:pPr>
            <a:r>
              <a:rPr lang="en-US" sz="1600" dirty="0">
                <a:solidFill>
                  <a:srgbClr val="86A0A6"/>
                </a:solidFill>
                <a:latin typeface="Segoe UI" pitchFamily="34" charset="0"/>
                <a:ea typeface="Segoe UI" pitchFamily="34" charset="-122"/>
                <a:cs typeface="Segoe UI" pitchFamily="34" charset="-120"/>
              </a:rPr>
              <a:t> / 32</a:t>
            </a:r>
            <a:endParaRPr lang="en-US" sz="3000" dirty="0"/>
          </a:p>
        </p:txBody>
      </p:sp>
      <p:sp>
        <p:nvSpPr>
          <p:cNvPr id="8" name="Shape 6"/>
          <p:cNvSpPr/>
          <p:nvPr/>
        </p:nvSpPr>
        <p:spPr>
          <a:xfrm>
            <a:off x="731520" y="2514600"/>
            <a:ext cx="1691640" cy="109728"/>
          </a:xfrm>
          <a:prstGeom prst="roundRect">
            <a:avLst>
              <a:gd name="adj" fmla="val 50000"/>
            </a:avLst>
          </a:prstGeom>
          <a:solidFill>
            <a:srgbClr val="1D3D45"/>
          </a:solidFill>
          <a:ln w="12700">
            <a:solidFill>
              <a:srgbClr val="1D3D45"/>
            </a:solidFill>
            <a:prstDash val="solid"/>
          </a:ln>
        </p:spPr>
      </p:sp>
      <p:sp>
        <p:nvSpPr>
          <p:cNvPr id="9" name="Shape 7"/>
          <p:cNvSpPr/>
          <p:nvPr/>
        </p:nvSpPr>
        <p:spPr>
          <a:xfrm>
            <a:off x="731520" y="2514600"/>
            <a:ext cx="1585913" cy="109728"/>
          </a:xfrm>
          <a:prstGeom prst="roundRect">
            <a:avLst>
              <a:gd name="adj" fmla="val 50000"/>
            </a:avLst>
          </a:prstGeom>
          <a:solidFill>
            <a:srgbClr val="3FD0D4"/>
          </a:solidFill>
          <a:ln w="12700">
            <a:solidFill>
              <a:srgbClr val="3FD0D4"/>
            </a:solidFill>
            <a:prstDash val="solid"/>
          </a:ln>
        </p:spPr>
      </p:sp>
      <p:sp>
        <p:nvSpPr>
          <p:cNvPr id="10" name="Text 8"/>
          <p:cNvSpPr/>
          <p:nvPr/>
        </p:nvSpPr>
        <p:spPr>
          <a:xfrm>
            <a:off x="731520" y="2724912"/>
            <a:ext cx="1691640" cy="2743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K1 · K2 · K3</a:t>
            </a:r>
            <a:endParaRPr lang="en-US" sz="1150" dirty="0"/>
          </a:p>
        </p:txBody>
      </p:sp>
      <p:sp>
        <p:nvSpPr>
          <p:cNvPr id="11" name="Shape 9"/>
          <p:cNvSpPr/>
          <p:nvPr/>
        </p:nvSpPr>
        <p:spPr>
          <a:xfrm>
            <a:off x="2807208" y="1463040"/>
            <a:ext cx="2057400" cy="1691640"/>
          </a:xfrm>
          <a:prstGeom prst="roundRect">
            <a:avLst>
              <a:gd name="adj" fmla="val 4865"/>
            </a:avLst>
          </a:prstGeom>
          <a:solidFill>
            <a:srgbClr val="0F2C33"/>
          </a:solidFill>
          <a:ln w="12700">
            <a:solidFill>
              <a:srgbClr val="24505A"/>
            </a:solidFill>
            <a:prstDash val="solid"/>
          </a:ln>
        </p:spPr>
      </p:sp>
      <p:sp>
        <p:nvSpPr>
          <p:cNvPr id="12" name="Text 10"/>
          <p:cNvSpPr/>
          <p:nvPr/>
        </p:nvSpPr>
        <p:spPr>
          <a:xfrm>
            <a:off x="2990088" y="1600200"/>
            <a:ext cx="1691640" cy="274320"/>
          </a:xfrm>
          <a:prstGeom prst="rect">
            <a:avLst/>
          </a:prstGeom>
          <a:noFill/>
          <a:ln/>
        </p:spPr>
        <p:txBody>
          <a:bodyPr wrap="square" lIns="0" tIns="0" rIns="0" bIns="0" rtlCol="0" anchor="t"/>
          <a:lstStyle/>
          <a:p>
            <a:pPr indent="0" marL="0">
              <a:buNone/>
            </a:pPr>
            <a:r>
              <a:rPr lang="en-US" sz="1300" dirty="0">
                <a:solidFill>
                  <a:srgbClr val="F5D35C"/>
                </a:solidFill>
                <a:latin typeface="Segoe UI Semibold" pitchFamily="34" charset="0"/>
                <a:ea typeface="Segoe UI Semibold" pitchFamily="34" charset="-122"/>
                <a:cs typeface="Segoe UI Semibold" pitchFamily="34" charset="-120"/>
              </a:rPr>
              <a:t>Segmen B</a:t>
            </a:r>
            <a:endParaRPr lang="en-US" sz="1300" dirty="0"/>
          </a:p>
        </p:txBody>
      </p:sp>
      <p:sp>
        <p:nvSpPr>
          <p:cNvPr id="13" name="Text 11"/>
          <p:cNvSpPr/>
          <p:nvPr/>
        </p:nvSpPr>
        <p:spPr>
          <a:xfrm>
            <a:off x="2990088" y="1920240"/>
            <a:ext cx="1691640" cy="548640"/>
          </a:xfrm>
          <a:prstGeom prst="rect">
            <a:avLst/>
          </a:prstGeom>
          <a:noFill/>
          <a:ln/>
        </p:spPr>
        <p:txBody>
          <a:bodyPr wrap="square" lIns="0" tIns="0" rIns="0" bIns="0" rtlCol="0" anchor="t"/>
          <a:lstStyle/>
          <a:p>
            <a:pPr indent="0" marL="0">
              <a:buNone/>
            </a:pPr>
            <a:r>
              <a:rPr lang="en-US" sz="3000" dirty="0">
                <a:solidFill>
                  <a:srgbClr val="EAF3F4"/>
                </a:solidFill>
                <a:latin typeface="Segoe UI Semibold" pitchFamily="34" charset="0"/>
                <a:ea typeface="Segoe UI Semibold" pitchFamily="34" charset="-122"/>
                <a:cs typeface="Segoe UI Semibold" pitchFamily="34" charset="-120"/>
              </a:rPr>
              <a:t>30</a:t>
            </a:r>
            <a:pPr indent="0" marL="0">
              <a:buNone/>
            </a:pPr>
            <a:r>
              <a:rPr lang="en-US" sz="1600" dirty="0">
                <a:solidFill>
                  <a:srgbClr val="86A0A6"/>
                </a:solidFill>
                <a:latin typeface="Segoe UI" pitchFamily="34" charset="0"/>
                <a:ea typeface="Segoe UI" pitchFamily="34" charset="-122"/>
                <a:cs typeface="Segoe UI" pitchFamily="34" charset="-120"/>
              </a:rPr>
              <a:t> / 32</a:t>
            </a:r>
            <a:endParaRPr lang="en-US" sz="3000" dirty="0"/>
          </a:p>
        </p:txBody>
      </p:sp>
      <p:sp>
        <p:nvSpPr>
          <p:cNvPr id="14" name="Shape 12"/>
          <p:cNvSpPr/>
          <p:nvPr/>
        </p:nvSpPr>
        <p:spPr>
          <a:xfrm>
            <a:off x="2990088" y="2514600"/>
            <a:ext cx="1691640" cy="109728"/>
          </a:xfrm>
          <a:prstGeom prst="roundRect">
            <a:avLst>
              <a:gd name="adj" fmla="val 50000"/>
            </a:avLst>
          </a:prstGeom>
          <a:solidFill>
            <a:srgbClr val="1D3D45"/>
          </a:solidFill>
          <a:ln w="12700">
            <a:solidFill>
              <a:srgbClr val="1D3D45"/>
            </a:solidFill>
            <a:prstDash val="solid"/>
          </a:ln>
        </p:spPr>
      </p:sp>
      <p:sp>
        <p:nvSpPr>
          <p:cNvPr id="15" name="Shape 13"/>
          <p:cNvSpPr/>
          <p:nvPr/>
        </p:nvSpPr>
        <p:spPr>
          <a:xfrm>
            <a:off x="2990088" y="2514600"/>
            <a:ext cx="1585913" cy="109728"/>
          </a:xfrm>
          <a:prstGeom prst="roundRect">
            <a:avLst>
              <a:gd name="adj" fmla="val 50000"/>
            </a:avLst>
          </a:prstGeom>
          <a:solidFill>
            <a:srgbClr val="3FD0D4"/>
          </a:solidFill>
          <a:ln w="12700">
            <a:solidFill>
              <a:srgbClr val="3FD0D4"/>
            </a:solidFill>
            <a:prstDash val="solid"/>
          </a:ln>
        </p:spPr>
      </p:sp>
      <p:sp>
        <p:nvSpPr>
          <p:cNvPr id="16" name="Text 14"/>
          <p:cNvSpPr/>
          <p:nvPr/>
        </p:nvSpPr>
        <p:spPr>
          <a:xfrm>
            <a:off x="2990088" y="2724912"/>
            <a:ext cx="1691640" cy="2743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K4 · K5 · K6</a:t>
            </a:r>
            <a:endParaRPr lang="en-US" sz="1150" dirty="0"/>
          </a:p>
        </p:txBody>
      </p:sp>
      <p:sp>
        <p:nvSpPr>
          <p:cNvPr id="17" name="Shape 15"/>
          <p:cNvSpPr/>
          <p:nvPr/>
        </p:nvSpPr>
        <p:spPr>
          <a:xfrm>
            <a:off x="5065776" y="1463040"/>
            <a:ext cx="2057400" cy="1691640"/>
          </a:xfrm>
          <a:prstGeom prst="roundRect">
            <a:avLst>
              <a:gd name="adj" fmla="val 4865"/>
            </a:avLst>
          </a:prstGeom>
          <a:solidFill>
            <a:srgbClr val="0F2C33"/>
          </a:solidFill>
          <a:ln w="12700">
            <a:solidFill>
              <a:srgbClr val="24505A"/>
            </a:solidFill>
            <a:prstDash val="solid"/>
          </a:ln>
        </p:spPr>
      </p:sp>
      <p:sp>
        <p:nvSpPr>
          <p:cNvPr id="18" name="Text 16"/>
          <p:cNvSpPr/>
          <p:nvPr/>
        </p:nvSpPr>
        <p:spPr>
          <a:xfrm>
            <a:off x="5248656" y="1600200"/>
            <a:ext cx="1691640" cy="274320"/>
          </a:xfrm>
          <a:prstGeom prst="rect">
            <a:avLst/>
          </a:prstGeom>
          <a:noFill/>
          <a:ln/>
        </p:spPr>
        <p:txBody>
          <a:bodyPr wrap="square" lIns="0" tIns="0" rIns="0" bIns="0" rtlCol="0" anchor="t"/>
          <a:lstStyle/>
          <a:p>
            <a:pPr indent="0" marL="0">
              <a:buNone/>
            </a:pPr>
            <a:r>
              <a:rPr lang="en-US" sz="1300" dirty="0">
                <a:solidFill>
                  <a:srgbClr val="F5D35C"/>
                </a:solidFill>
                <a:latin typeface="Segoe UI Semibold" pitchFamily="34" charset="0"/>
                <a:ea typeface="Segoe UI Semibold" pitchFamily="34" charset="-122"/>
                <a:cs typeface="Segoe UI Semibold" pitchFamily="34" charset="-120"/>
              </a:rPr>
              <a:t>Segmen C</a:t>
            </a:r>
            <a:endParaRPr lang="en-US" sz="1300" dirty="0"/>
          </a:p>
        </p:txBody>
      </p:sp>
      <p:sp>
        <p:nvSpPr>
          <p:cNvPr id="19" name="Text 17"/>
          <p:cNvSpPr/>
          <p:nvPr/>
        </p:nvSpPr>
        <p:spPr>
          <a:xfrm>
            <a:off x="5248656" y="1920240"/>
            <a:ext cx="1691640" cy="548640"/>
          </a:xfrm>
          <a:prstGeom prst="rect">
            <a:avLst/>
          </a:prstGeom>
          <a:noFill/>
          <a:ln/>
        </p:spPr>
        <p:txBody>
          <a:bodyPr wrap="square" lIns="0" tIns="0" rIns="0" bIns="0" rtlCol="0" anchor="t"/>
          <a:lstStyle/>
          <a:p>
            <a:pPr indent="0" marL="0">
              <a:buNone/>
            </a:pPr>
            <a:r>
              <a:rPr lang="en-US" sz="3000" dirty="0">
                <a:solidFill>
                  <a:srgbClr val="EAF3F4"/>
                </a:solidFill>
                <a:latin typeface="Segoe UI Semibold" pitchFamily="34" charset="0"/>
                <a:ea typeface="Segoe UI Semibold" pitchFamily="34" charset="-122"/>
                <a:cs typeface="Segoe UI Semibold" pitchFamily="34" charset="-120"/>
              </a:rPr>
              <a:t>30</a:t>
            </a:r>
            <a:pPr indent="0" marL="0">
              <a:buNone/>
            </a:pPr>
            <a:r>
              <a:rPr lang="en-US" sz="1600" dirty="0">
                <a:solidFill>
                  <a:srgbClr val="86A0A6"/>
                </a:solidFill>
                <a:latin typeface="Segoe UI" pitchFamily="34" charset="0"/>
                <a:ea typeface="Segoe UI" pitchFamily="34" charset="-122"/>
                <a:cs typeface="Segoe UI" pitchFamily="34" charset="-120"/>
              </a:rPr>
              <a:t> / 32</a:t>
            </a:r>
            <a:endParaRPr lang="en-US" sz="3000" dirty="0"/>
          </a:p>
        </p:txBody>
      </p:sp>
      <p:sp>
        <p:nvSpPr>
          <p:cNvPr id="20" name="Shape 18"/>
          <p:cNvSpPr/>
          <p:nvPr/>
        </p:nvSpPr>
        <p:spPr>
          <a:xfrm>
            <a:off x="5248656" y="2514600"/>
            <a:ext cx="1691640" cy="109728"/>
          </a:xfrm>
          <a:prstGeom prst="roundRect">
            <a:avLst>
              <a:gd name="adj" fmla="val 50000"/>
            </a:avLst>
          </a:prstGeom>
          <a:solidFill>
            <a:srgbClr val="1D3D45"/>
          </a:solidFill>
          <a:ln w="12700">
            <a:solidFill>
              <a:srgbClr val="1D3D45"/>
            </a:solidFill>
            <a:prstDash val="solid"/>
          </a:ln>
        </p:spPr>
      </p:sp>
      <p:sp>
        <p:nvSpPr>
          <p:cNvPr id="21" name="Shape 19"/>
          <p:cNvSpPr/>
          <p:nvPr/>
        </p:nvSpPr>
        <p:spPr>
          <a:xfrm>
            <a:off x="5248656" y="2514600"/>
            <a:ext cx="1585913" cy="109728"/>
          </a:xfrm>
          <a:prstGeom prst="roundRect">
            <a:avLst>
              <a:gd name="adj" fmla="val 50000"/>
            </a:avLst>
          </a:prstGeom>
          <a:solidFill>
            <a:srgbClr val="3FD0D4"/>
          </a:solidFill>
          <a:ln w="12700">
            <a:solidFill>
              <a:srgbClr val="3FD0D4"/>
            </a:solidFill>
            <a:prstDash val="solid"/>
          </a:ln>
        </p:spPr>
      </p:sp>
      <p:sp>
        <p:nvSpPr>
          <p:cNvPr id="22" name="Text 20"/>
          <p:cNvSpPr/>
          <p:nvPr/>
        </p:nvSpPr>
        <p:spPr>
          <a:xfrm>
            <a:off x="5248656" y="2724912"/>
            <a:ext cx="1691640" cy="2743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K7 · K8 · K9</a:t>
            </a:r>
            <a:endParaRPr lang="en-US" sz="1150" dirty="0"/>
          </a:p>
        </p:txBody>
      </p:sp>
      <p:sp>
        <p:nvSpPr>
          <p:cNvPr id="23" name="Shape 21"/>
          <p:cNvSpPr/>
          <p:nvPr/>
        </p:nvSpPr>
        <p:spPr>
          <a:xfrm>
            <a:off x="7324344" y="1463040"/>
            <a:ext cx="2057400" cy="1691640"/>
          </a:xfrm>
          <a:prstGeom prst="roundRect">
            <a:avLst>
              <a:gd name="adj" fmla="val 4865"/>
            </a:avLst>
          </a:prstGeom>
          <a:solidFill>
            <a:srgbClr val="0F2C33"/>
          </a:solidFill>
          <a:ln w="12700">
            <a:solidFill>
              <a:srgbClr val="24505A"/>
            </a:solidFill>
            <a:prstDash val="solid"/>
          </a:ln>
        </p:spPr>
      </p:sp>
      <p:sp>
        <p:nvSpPr>
          <p:cNvPr id="24" name="Text 22"/>
          <p:cNvSpPr/>
          <p:nvPr/>
        </p:nvSpPr>
        <p:spPr>
          <a:xfrm>
            <a:off x="7507224" y="1600200"/>
            <a:ext cx="1691640" cy="274320"/>
          </a:xfrm>
          <a:prstGeom prst="rect">
            <a:avLst/>
          </a:prstGeom>
          <a:noFill/>
          <a:ln/>
        </p:spPr>
        <p:txBody>
          <a:bodyPr wrap="square" lIns="0" tIns="0" rIns="0" bIns="0" rtlCol="0" anchor="t"/>
          <a:lstStyle/>
          <a:p>
            <a:pPr indent="0" marL="0">
              <a:buNone/>
            </a:pPr>
            <a:r>
              <a:rPr lang="en-US" sz="1300" dirty="0">
                <a:solidFill>
                  <a:srgbClr val="F5D35C"/>
                </a:solidFill>
                <a:latin typeface="Segoe UI Semibold" pitchFamily="34" charset="0"/>
                <a:ea typeface="Segoe UI Semibold" pitchFamily="34" charset="-122"/>
                <a:cs typeface="Segoe UI Semibold" pitchFamily="34" charset="-120"/>
              </a:rPr>
              <a:t>Segmen D</a:t>
            </a:r>
            <a:endParaRPr lang="en-US" sz="1300" dirty="0"/>
          </a:p>
        </p:txBody>
      </p:sp>
      <p:sp>
        <p:nvSpPr>
          <p:cNvPr id="25" name="Text 23"/>
          <p:cNvSpPr/>
          <p:nvPr/>
        </p:nvSpPr>
        <p:spPr>
          <a:xfrm>
            <a:off x="7507224" y="1920240"/>
            <a:ext cx="1691640" cy="548640"/>
          </a:xfrm>
          <a:prstGeom prst="rect">
            <a:avLst/>
          </a:prstGeom>
          <a:noFill/>
          <a:ln/>
        </p:spPr>
        <p:txBody>
          <a:bodyPr wrap="square" lIns="0" tIns="0" rIns="0" bIns="0" rtlCol="0" anchor="t"/>
          <a:lstStyle/>
          <a:p>
            <a:pPr indent="0" marL="0">
              <a:buNone/>
            </a:pPr>
            <a:r>
              <a:rPr lang="en-US" sz="3000" dirty="0">
                <a:solidFill>
                  <a:srgbClr val="EAF3F4"/>
                </a:solidFill>
                <a:latin typeface="Segoe UI Semibold" pitchFamily="34" charset="0"/>
                <a:ea typeface="Segoe UI Semibold" pitchFamily="34" charset="-122"/>
                <a:cs typeface="Segoe UI Semibold" pitchFamily="34" charset="-120"/>
              </a:rPr>
              <a:t>12</a:t>
            </a:r>
            <a:pPr indent="0" marL="0">
              <a:buNone/>
            </a:pPr>
            <a:r>
              <a:rPr lang="en-US" sz="1600" dirty="0">
                <a:solidFill>
                  <a:srgbClr val="86A0A6"/>
                </a:solidFill>
                <a:latin typeface="Segoe UI" pitchFamily="34" charset="0"/>
                <a:ea typeface="Segoe UI" pitchFamily="34" charset="-122"/>
                <a:cs typeface="Segoe UI" pitchFamily="34" charset="-120"/>
              </a:rPr>
              <a:t> / 32</a:t>
            </a:r>
            <a:endParaRPr lang="en-US" sz="3000" dirty="0"/>
          </a:p>
        </p:txBody>
      </p:sp>
      <p:sp>
        <p:nvSpPr>
          <p:cNvPr id="26" name="Shape 24"/>
          <p:cNvSpPr/>
          <p:nvPr/>
        </p:nvSpPr>
        <p:spPr>
          <a:xfrm>
            <a:off x="7507224" y="2514600"/>
            <a:ext cx="1691640" cy="109728"/>
          </a:xfrm>
          <a:prstGeom prst="roundRect">
            <a:avLst>
              <a:gd name="adj" fmla="val 50000"/>
            </a:avLst>
          </a:prstGeom>
          <a:solidFill>
            <a:srgbClr val="1D3D45"/>
          </a:solidFill>
          <a:ln w="12700">
            <a:solidFill>
              <a:srgbClr val="1D3D45"/>
            </a:solidFill>
            <a:prstDash val="solid"/>
          </a:ln>
        </p:spPr>
      </p:sp>
      <p:sp>
        <p:nvSpPr>
          <p:cNvPr id="27" name="Shape 25"/>
          <p:cNvSpPr/>
          <p:nvPr/>
        </p:nvSpPr>
        <p:spPr>
          <a:xfrm>
            <a:off x="7507224" y="2514600"/>
            <a:ext cx="634365" cy="109728"/>
          </a:xfrm>
          <a:prstGeom prst="roundRect">
            <a:avLst>
              <a:gd name="adj" fmla="val 50000"/>
            </a:avLst>
          </a:prstGeom>
          <a:solidFill>
            <a:srgbClr val="5EE6B0"/>
          </a:solidFill>
          <a:ln w="12700">
            <a:solidFill>
              <a:srgbClr val="5EE6B0"/>
            </a:solidFill>
            <a:prstDash val="solid"/>
          </a:ln>
        </p:spPr>
      </p:sp>
      <p:sp>
        <p:nvSpPr>
          <p:cNvPr id="28" name="Text 26"/>
          <p:cNvSpPr/>
          <p:nvPr/>
        </p:nvSpPr>
        <p:spPr>
          <a:xfrm>
            <a:off x="7507224" y="2724912"/>
            <a:ext cx="1691640" cy="2743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K10 · cuaca</a:t>
            </a:r>
            <a:endParaRPr lang="en-US" sz="1150" dirty="0"/>
          </a:p>
        </p:txBody>
      </p:sp>
      <p:sp>
        <p:nvSpPr>
          <p:cNvPr id="29" name="Shape 27"/>
          <p:cNvSpPr/>
          <p:nvPr/>
        </p:nvSpPr>
        <p:spPr>
          <a:xfrm>
            <a:off x="9582912" y="1463040"/>
            <a:ext cx="2057400" cy="1691640"/>
          </a:xfrm>
          <a:prstGeom prst="roundRect">
            <a:avLst>
              <a:gd name="adj" fmla="val 4865"/>
            </a:avLst>
          </a:prstGeom>
          <a:solidFill>
            <a:srgbClr val="0F2C33"/>
          </a:solidFill>
          <a:ln w="12700">
            <a:solidFill>
              <a:srgbClr val="A9B4BC"/>
            </a:solidFill>
            <a:prstDash val="solid"/>
          </a:ln>
        </p:spPr>
      </p:sp>
      <p:sp>
        <p:nvSpPr>
          <p:cNvPr id="30" name="Text 28"/>
          <p:cNvSpPr/>
          <p:nvPr/>
        </p:nvSpPr>
        <p:spPr>
          <a:xfrm>
            <a:off x="9765792" y="1600200"/>
            <a:ext cx="1691640" cy="274320"/>
          </a:xfrm>
          <a:prstGeom prst="rect">
            <a:avLst/>
          </a:prstGeom>
          <a:noFill/>
          <a:ln/>
        </p:spPr>
        <p:txBody>
          <a:bodyPr wrap="square" lIns="0" tIns="0" rIns="0" bIns="0" rtlCol="0" anchor="t"/>
          <a:lstStyle/>
          <a:p>
            <a:pPr indent="0" marL="0">
              <a:buNone/>
            </a:pPr>
            <a:r>
              <a:rPr lang="en-US" sz="1300" dirty="0">
                <a:solidFill>
                  <a:srgbClr val="A9B4BC"/>
                </a:solidFill>
                <a:latin typeface="Segoe UI Semibold" pitchFamily="34" charset="0"/>
                <a:ea typeface="Segoe UI Semibold" pitchFamily="34" charset="-122"/>
                <a:cs typeface="Segoe UI Semibold" pitchFamily="34" charset="-120"/>
              </a:rPr>
              <a:t>Segmen E · kendali</a:t>
            </a:r>
            <a:endParaRPr lang="en-US" sz="1300" dirty="0"/>
          </a:p>
        </p:txBody>
      </p:sp>
      <p:sp>
        <p:nvSpPr>
          <p:cNvPr id="31" name="Text 29"/>
          <p:cNvSpPr/>
          <p:nvPr/>
        </p:nvSpPr>
        <p:spPr>
          <a:xfrm>
            <a:off x="9765792" y="1920240"/>
            <a:ext cx="1691640" cy="548640"/>
          </a:xfrm>
          <a:prstGeom prst="rect">
            <a:avLst/>
          </a:prstGeom>
          <a:noFill/>
          <a:ln/>
        </p:spPr>
        <p:txBody>
          <a:bodyPr wrap="square" lIns="0" tIns="0" rIns="0" bIns="0" rtlCol="0" anchor="t"/>
          <a:lstStyle/>
          <a:p>
            <a:pPr indent="0" marL="0">
              <a:buNone/>
            </a:pPr>
            <a:r>
              <a:rPr lang="en-US" sz="3000" dirty="0">
                <a:solidFill>
                  <a:srgbClr val="EAF3F4"/>
                </a:solidFill>
                <a:latin typeface="Segoe UI Semibold" pitchFamily="34" charset="0"/>
                <a:ea typeface="Segoe UI Semibold" pitchFamily="34" charset="-122"/>
                <a:cs typeface="Segoe UI Semibold" pitchFamily="34" charset="-120"/>
              </a:rPr>
              <a:t>10</a:t>
            </a:r>
            <a:pPr indent="0" marL="0">
              <a:buNone/>
            </a:pPr>
            <a:r>
              <a:rPr lang="en-US" sz="1600" dirty="0">
                <a:solidFill>
                  <a:srgbClr val="86A0A6"/>
                </a:solidFill>
                <a:latin typeface="Segoe UI" pitchFamily="34" charset="0"/>
                <a:ea typeface="Segoe UI" pitchFamily="34" charset="-122"/>
                <a:cs typeface="Segoe UI" pitchFamily="34" charset="-120"/>
              </a:rPr>
              <a:t> / 32</a:t>
            </a:r>
            <a:endParaRPr lang="en-US" sz="3000" dirty="0"/>
          </a:p>
        </p:txBody>
      </p:sp>
      <p:sp>
        <p:nvSpPr>
          <p:cNvPr id="32" name="Shape 30"/>
          <p:cNvSpPr/>
          <p:nvPr/>
        </p:nvSpPr>
        <p:spPr>
          <a:xfrm>
            <a:off x="9765792" y="2514600"/>
            <a:ext cx="1691640" cy="109728"/>
          </a:xfrm>
          <a:prstGeom prst="roundRect">
            <a:avLst>
              <a:gd name="adj" fmla="val 50000"/>
            </a:avLst>
          </a:prstGeom>
          <a:solidFill>
            <a:srgbClr val="1D3D45"/>
          </a:solidFill>
          <a:ln w="12700">
            <a:solidFill>
              <a:srgbClr val="1D3D45"/>
            </a:solidFill>
            <a:prstDash val="solid"/>
          </a:ln>
        </p:spPr>
      </p:sp>
      <p:sp>
        <p:nvSpPr>
          <p:cNvPr id="33" name="Shape 31"/>
          <p:cNvSpPr/>
          <p:nvPr/>
        </p:nvSpPr>
        <p:spPr>
          <a:xfrm>
            <a:off x="9765792" y="2514600"/>
            <a:ext cx="528638" cy="109728"/>
          </a:xfrm>
          <a:prstGeom prst="roundRect">
            <a:avLst>
              <a:gd name="adj" fmla="val 50000"/>
            </a:avLst>
          </a:prstGeom>
          <a:solidFill>
            <a:srgbClr val="A9B4BC"/>
          </a:solidFill>
          <a:ln w="12700">
            <a:solidFill>
              <a:srgbClr val="A9B4BC"/>
            </a:solidFill>
            <a:prstDash val="solid"/>
          </a:ln>
        </p:spPr>
      </p:sp>
      <p:sp>
        <p:nvSpPr>
          <p:cNvPr id="34" name="Text 32"/>
          <p:cNvSpPr/>
          <p:nvPr/>
        </p:nvSpPr>
        <p:spPr>
          <a:xfrm>
            <a:off x="9765792" y="2724912"/>
            <a:ext cx="1691640" cy="2743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modul I/O K1–K10</a:t>
            </a:r>
            <a:endParaRPr lang="en-US" sz="1150" dirty="0"/>
          </a:p>
        </p:txBody>
      </p:sp>
      <p:sp>
        <p:nvSpPr>
          <p:cNvPr id="35" name="Shape 33"/>
          <p:cNvSpPr/>
          <p:nvPr/>
        </p:nvSpPr>
        <p:spPr>
          <a:xfrm>
            <a:off x="548640" y="3383280"/>
            <a:ext cx="7223760" cy="2606040"/>
          </a:xfrm>
          <a:prstGeom prst="roundRect">
            <a:avLst>
              <a:gd name="adj" fmla="val 3158"/>
            </a:avLst>
          </a:prstGeom>
          <a:solidFill>
            <a:srgbClr val="0F2C33"/>
          </a:solidFill>
          <a:ln w="12700">
            <a:solidFill>
              <a:srgbClr val="24505A"/>
            </a:solidFill>
            <a:prstDash val="solid"/>
          </a:ln>
        </p:spPr>
      </p:sp>
      <p:sp>
        <p:nvSpPr>
          <p:cNvPr id="36" name="Text 34"/>
          <p:cNvSpPr/>
          <p:nvPr/>
        </p:nvSpPr>
        <p:spPr>
          <a:xfrm>
            <a:off x="777240" y="3520440"/>
            <a:ext cx="6766560" cy="274320"/>
          </a:xfrm>
          <a:prstGeom prst="rect">
            <a:avLst/>
          </a:prstGeom>
          <a:noFill/>
          <a:ln/>
        </p:spPr>
        <p:txBody>
          <a:bodyPr wrap="square" lIns="0" tIns="0" rIns="0" bIns="0" rtlCol="0" anchor="t"/>
          <a:lstStyle/>
          <a:p>
            <a:pPr indent="0" marL="0">
              <a:buNone/>
            </a:pPr>
            <a:r>
              <a:rPr lang="en-US" sz="1300" dirty="0">
                <a:solidFill>
                  <a:srgbClr val="EAF3F4"/>
                </a:solidFill>
                <a:latin typeface="Segoe UI Semibold" pitchFamily="34" charset="0"/>
                <a:ea typeface="Segoe UI Semibold" pitchFamily="34" charset="-122"/>
                <a:cs typeface="Segoe UI Semibold" pitchFamily="34" charset="-120"/>
              </a:rPr>
              <a:t>Satu segmen = satu rantai (daisy-chain), bukan cabang</a:t>
            </a:r>
            <a:endParaRPr lang="en-US" sz="1300" dirty="0"/>
          </a:p>
        </p:txBody>
      </p:sp>
      <p:sp>
        <p:nvSpPr>
          <p:cNvPr id="37" name="Shape 35"/>
          <p:cNvSpPr/>
          <p:nvPr/>
        </p:nvSpPr>
        <p:spPr>
          <a:xfrm>
            <a:off x="777240" y="4160520"/>
            <a:ext cx="1024128" cy="502920"/>
          </a:xfrm>
          <a:prstGeom prst="roundRect">
            <a:avLst>
              <a:gd name="adj" fmla="val 10909"/>
            </a:avLst>
          </a:prstGeom>
          <a:solidFill>
            <a:srgbClr val="FFB347"/>
          </a:solidFill>
          <a:ln w="12700">
            <a:solidFill>
              <a:srgbClr val="FFB347"/>
            </a:solidFill>
            <a:prstDash val="solid"/>
          </a:ln>
        </p:spPr>
      </p:sp>
      <p:sp>
        <p:nvSpPr>
          <p:cNvPr id="38" name="Text 36"/>
          <p:cNvSpPr/>
          <p:nvPr/>
        </p:nvSpPr>
        <p:spPr>
          <a:xfrm>
            <a:off x="777240" y="4160520"/>
            <a:ext cx="1024128" cy="502920"/>
          </a:xfrm>
          <a:prstGeom prst="rect">
            <a:avLst/>
          </a:prstGeom>
          <a:noFill/>
          <a:ln/>
        </p:spPr>
        <p:txBody>
          <a:bodyPr wrap="square" lIns="0" tIns="0" rIns="0" bIns="0" rtlCol="0" anchor="ctr"/>
          <a:lstStyle/>
          <a:p>
            <a:pPr algn="ctr" indent="0" marL="0">
              <a:buNone/>
            </a:pPr>
            <a:r>
              <a:rPr lang="en-US" sz="1100" b="1" dirty="0">
                <a:solidFill>
                  <a:srgbClr val="0A1E24"/>
                </a:solidFill>
                <a:latin typeface="Segoe UI" pitchFamily="34" charset="0"/>
                <a:ea typeface="Segoe UI" pitchFamily="34" charset="-122"/>
                <a:cs typeface="Segoe UI" pitchFamily="34" charset="-120"/>
              </a:rPr>
              <a:t>Cabinet</a:t>
            </a:r>
            <a:endParaRPr lang="en-US" sz="1100" dirty="0"/>
          </a:p>
        </p:txBody>
      </p:sp>
      <p:sp>
        <p:nvSpPr>
          <p:cNvPr id="39" name="Shape 37"/>
          <p:cNvSpPr/>
          <p:nvPr/>
        </p:nvSpPr>
        <p:spPr>
          <a:xfrm>
            <a:off x="1819656" y="4411980"/>
            <a:ext cx="237744" cy="914"/>
          </a:xfrm>
          <a:prstGeom prst="line">
            <a:avLst/>
          </a:prstGeom>
          <a:noFill/>
          <a:ln w="19050">
            <a:solidFill>
              <a:srgbClr val="B9CCD0"/>
            </a:solidFill>
            <a:prstDash val="solid"/>
            <a:tailEnd type="triangle"/>
          </a:ln>
        </p:spPr>
      </p:sp>
      <p:sp>
        <p:nvSpPr>
          <p:cNvPr id="40" name="Shape 38"/>
          <p:cNvSpPr/>
          <p:nvPr/>
        </p:nvSpPr>
        <p:spPr>
          <a:xfrm>
            <a:off x="2075688" y="4160520"/>
            <a:ext cx="1024128" cy="502920"/>
          </a:xfrm>
          <a:prstGeom prst="roundRect">
            <a:avLst>
              <a:gd name="adj" fmla="val 10909"/>
            </a:avLst>
          </a:prstGeom>
          <a:solidFill>
            <a:srgbClr val="F5D35C"/>
          </a:solidFill>
          <a:ln w="12700">
            <a:solidFill>
              <a:srgbClr val="F5D35C"/>
            </a:solidFill>
            <a:prstDash val="solid"/>
          </a:ln>
        </p:spPr>
      </p:sp>
      <p:sp>
        <p:nvSpPr>
          <p:cNvPr id="41" name="Text 39"/>
          <p:cNvSpPr/>
          <p:nvPr/>
        </p:nvSpPr>
        <p:spPr>
          <a:xfrm>
            <a:off x="2075688" y="4160520"/>
            <a:ext cx="1024128" cy="502920"/>
          </a:xfrm>
          <a:prstGeom prst="rect">
            <a:avLst/>
          </a:prstGeom>
          <a:noFill/>
          <a:ln/>
        </p:spPr>
        <p:txBody>
          <a:bodyPr wrap="square" lIns="0" tIns="0" rIns="0" bIns="0" rtlCol="0" anchor="ctr"/>
          <a:lstStyle/>
          <a:p>
            <a:pPr algn="ctr" indent="0" marL="0">
              <a:buNone/>
            </a:pPr>
            <a:r>
              <a:rPr lang="en-US" sz="1100" b="1" dirty="0">
                <a:solidFill>
                  <a:srgbClr val="0A1E24"/>
                </a:solidFill>
                <a:latin typeface="Segoe UI" pitchFamily="34" charset="0"/>
                <a:ea typeface="Segoe UI" pitchFamily="34" charset="-122"/>
                <a:cs typeface="Segoe UI" pitchFamily="34" charset="-120"/>
              </a:rPr>
              <a:t>Repeater A</a:t>
            </a:r>
            <a:endParaRPr lang="en-US" sz="1100" dirty="0"/>
          </a:p>
        </p:txBody>
      </p:sp>
      <p:sp>
        <p:nvSpPr>
          <p:cNvPr id="42" name="Shape 40"/>
          <p:cNvSpPr/>
          <p:nvPr/>
        </p:nvSpPr>
        <p:spPr>
          <a:xfrm>
            <a:off x="3118104" y="4411980"/>
            <a:ext cx="237744" cy="914"/>
          </a:xfrm>
          <a:prstGeom prst="line">
            <a:avLst/>
          </a:prstGeom>
          <a:noFill/>
          <a:ln w="19050">
            <a:solidFill>
              <a:srgbClr val="B9CCD0"/>
            </a:solidFill>
            <a:prstDash val="solid"/>
            <a:tailEnd type="triangle"/>
          </a:ln>
        </p:spPr>
      </p:sp>
      <p:sp>
        <p:nvSpPr>
          <p:cNvPr id="43" name="Shape 41"/>
          <p:cNvSpPr/>
          <p:nvPr/>
        </p:nvSpPr>
        <p:spPr>
          <a:xfrm>
            <a:off x="3374136" y="4160520"/>
            <a:ext cx="1024128" cy="502920"/>
          </a:xfrm>
          <a:prstGeom prst="roundRect">
            <a:avLst>
              <a:gd name="adj" fmla="val 10909"/>
            </a:avLst>
          </a:prstGeom>
          <a:solidFill>
            <a:srgbClr val="3FD0D4"/>
          </a:solidFill>
          <a:ln w="12700">
            <a:solidFill>
              <a:srgbClr val="3FD0D4"/>
            </a:solidFill>
            <a:prstDash val="solid"/>
          </a:ln>
        </p:spPr>
      </p:sp>
      <p:sp>
        <p:nvSpPr>
          <p:cNvPr id="44" name="Text 42"/>
          <p:cNvSpPr/>
          <p:nvPr/>
        </p:nvSpPr>
        <p:spPr>
          <a:xfrm>
            <a:off x="3374136" y="4160520"/>
            <a:ext cx="1024128" cy="502920"/>
          </a:xfrm>
          <a:prstGeom prst="rect">
            <a:avLst/>
          </a:prstGeom>
          <a:noFill/>
          <a:ln/>
        </p:spPr>
        <p:txBody>
          <a:bodyPr wrap="square" lIns="0" tIns="0" rIns="0" bIns="0" rtlCol="0" anchor="ctr"/>
          <a:lstStyle/>
          <a:p>
            <a:pPr algn="ctr" indent="0" marL="0">
              <a:buNone/>
            </a:pPr>
            <a:r>
              <a:rPr lang="en-US" sz="1100" b="1" dirty="0">
                <a:solidFill>
                  <a:srgbClr val="0A1E24"/>
                </a:solidFill>
                <a:latin typeface="Segoe UI" pitchFamily="34" charset="0"/>
                <a:ea typeface="Segoe UI" pitchFamily="34" charset="-122"/>
                <a:cs typeface="Segoe UI" pitchFamily="34" charset="-120"/>
              </a:rPr>
              <a:t>JB K1</a:t>
            </a:r>
            <a:endParaRPr lang="en-US" sz="1100" dirty="0"/>
          </a:p>
        </p:txBody>
      </p:sp>
      <p:sp>
        <p:nvSpPr>
          <p:cNvPr id="45" name="Shape 43"/>
          <p:cNvSpPr/>
          <p:nvPr/>
        </p:nvSpPr>
        <p:spPr>
          <a:xfrm>
            <a:off x="4416552" y="4411980"/>
            <a:ext cx="237744" cy="914"/>
          </a:xfrm>
          <a:prstGeom prst="line">
            <a:avLst/>
          </a:prstGeom>
          <a:noFill/>
          <a:ln w="19050">
            <a:solidFill>
              <a:srgbClr val="B9CCD0"/>
            </a:solidFill>
            <a:prstDash val="solid"/>
            <a:tailEnd type="triangle"/>
          </a:ln>
        </p:spPr>
      </p:sp>
      <p:sp>
        <p:nvSpPr>
          <p:cNvPr id="46" name="Shape 44"/>
          <p:cNvSpPr/>
          <p:nvPr/>
        </p:nvSpPr>
        <p:spPr>
          <a:xfrm>
            <a:off x="4672584" y="4160520"/>
            <a:ext cx="1024128" cy="502920"/>
          </a:xfrm>
          <a:prstGeom prst="roundRect">
            <a:avLst>
              <a:gd name="adj" fmla="val 10909"/>
            </a:avLst>
          </a:prstGeom>
          <a:solidFill>
            <a:srgbClr val="3FD0D4"/>
          </a:solidFill>
          <a:ln w="12700">
            <a:solidFill>
              <a:srgbClr val="3FD0D4"/>
            </a:solidFill>
            <a:prstDash val="solid"/>
          </a:ln>
        </p:spPr>
      </p:sp>
      <p:sp>
        <p:nvSpPr>
          <p:cNvPr id="47" name="Text 45"/>
          <p:cNvSpPr/>
          <p:nvPr/>
        </p:nvSpPr>
        <p:spPr>
          <a:xfrm>
            <a:off x="4672584" y="4160520"/>
            <a:ext cx="1024128" cy="502920"/>
          </a:xfrm>
          <a:prstGeom prst="rect">
            <a:avLst/>
          </a:prstGeom>
          <a:noFill/>
          <a:ln/>
        </p:spPr>
        <p:txBody>
          <a:bodyPr wrap="square" lIns="0" tIns="0" rIns="0" bIns="0" rtlCol="0" anchor="ctr"/>
          <a:lstStyle/>
          <a:p>
            <a:pPr algn="ctr" indent="0" marL="0">
              <a:buNone/>
            </a:pPr>
            <a:r>
              <a:rPr lang="en-US" sz="1100" b="1" dirty="0">
                <a:solidFill>
                  <a:srgbClr val="0A1E24"/>
                </a:solidFill>
                <a:latin typeface="Segoe UI" pitchFamily="34" charset="0"/>
                <a:ea typeface="Segoe UI" pitchFamily="34" charset="-122"/>
                <a:cs typeface="Segoe UI" pitchFamily="34" charset="-120"/>
              </a:rPr>
              <a:t>JB K2</a:t>
            </a:r>
            <a:endParaRPr lang="en-US" sz="1100" dirty="0"/>
          </a:p>
        </p:txBody>
      </p:sp>
      <p:sp>
        <p:nvSpPr>
          <p:cNvPr id="48" name="Shape 46"/>
          <p:cNvSpPr/>
          <p:nvPr/>
        </p:nvSpPr>
        <p:spPr>
          <a:xfrm>
            <a:off x="5715000" y="4411980"/>
            <a:ext cx="237744" cy="914"/>
          </a:xfrm>
          <a:prstGeom prst="line">
            <a:avLst/>
          </a:prstGeom>
          <a:noFill/>
          <a:ln w="19050">
            <a:solidFill>
              <a:srgbClr val="B9CCD0"/>
            </a:solidFill>
            <a:prstDash val="solid"/>
            <a:tailEnd type="triangle"/>
          </a:ln>
        </p:spPr>
      </p:sp>
      <p:sp>
        <p:nvSpPr>
          <p:cNvPr id="49" name="Shape 47"/>
          <p:cNvSpPr/>
          <p:nvPr/>
        </p:nvSpPr>
        <p:spPr>
          <a:xfrm>
            <a:off x="5971032" y="4160520"/>
            <a:ext cx="1024128" cy="502920"/>
          </a:xfrm>
          <a:prstGeom prst="roundRect">
            <a:avLst>
              <a:gd name="adj" fmla="val 10909"/>
            </a:avLst>
          </a:prstGeom>
          <a:solidFill>
            <a:srgbClr val="3FD0D4"/>
          </a:solidFill>
          <a:ln w="12700">
            <a:solidFill>
              <a:srgbClr val="3FD0D4"/>
            </a:solidFill>
            <a:prstDash val="solid"/>
          </a:ln>
        </p:spPr>
      </p:sp>
      <p:sp>
        <p:nvSpPr>
          <p:cNvPr id="50" name="Text 48"/>
          <p:cNvSpPr/>
          <p:nvPr/>
        </p:nvSpPr>
        <p:spPr>
          <a:xfrm>
            <a:off x="5971032" y="4160520"/>
            <a:ext cx="1024128" cy="502920"/>
          </a:xfrm>
          <a:prstGeom prst="rect">
            <a:avLst/>
          </a:prstGeom>
          <a:noFill/>
          <a:ln/>
        </p:spPr>
        <p:txBody>
          <a:bodyPr wrap="square" lIns="0" tIns="0" rIns="0" bIns="0" rtlCol="0" anchor="ctr"/>
          <a:lstStyle/>
          <a:p>
            <a:pPr algn="ctr" indent="0" marL="0">
              <a:buNone/>
            </a:pPr>
            <a:r>
              <a:rPr lang="en-US" sz="1100" b="1" dirty="0">
                <a:solidFill>
                  <a:srgbClr val="0A1E24"/>
                </a:solidFill>
                <a:latin typeface="Segoe UI" pitchFamily="34" charset="0"/>
                <a:ea typeface="Segoe UI" pitchFamily="34" charset="-122"/>
                <a:cs typeface="Segoe UI" pitchFamily="34" charset="-120"/>
              </a:rPr>
              <a:t>JB K3</a:t>
            </a:r>
            <a:endParaRPr lang="en-US" sz="1100" dirty="0"/>
          </a:p>
        </p:txBody>
      </p:sp>
      <p:sp>
        <p:nvSpPr>
          <p:cNvPr id="51" name="Text 49"/>
          <p:cNvSpPr/>
          <p:nvPr/>
        </p:nvSpPr>
        <p:spPr>
          <a:xfrm>
            <a:off x="7269480" y="4160520"/>
            <a:ext cx="365760" cy="502920"/>
          </a:xfrm>
          <a:prstGeom prst="rect">
            <a:avLst/>
          </a:prstGeom>
          <a:noFill/>
          <a:ln/>
        </p:spPr>
        <p:txBody>
          <a:bodyPr wrap="square" lIns="0" tIns="0" rIns="0" bIns="0" rtlCol="0" anchor="ctr"/>
          <a:lstStyle/>
          <a:p>
            <a:pPr indent="0" marL="0">
              <a:buNone/>
            </a:pPr>
            <a:r>
              <a:rPr lang="en-US" sz="1400" b="1" dirty="0">
                <a:solidFill>
                  <a:srgbClr val="F5D35C"/>
                </a:solidFill>
                <a:latin typeface="Segoe UI" pitchFamily="34" charset="0"/>
                <a:ea typeface="Segoe UI" pitchFamily="34" charset="-122"/>
                <a:cs typeface="Segoe UI" pitchFamily="34" charset="-120"/>
              </a:rPr>
              <a:t>T</a:t>
            </a:r>
            <a:endParaRPr lang="en-US" sz="1400" dirty="0"/>
          </a:p>
        </p:txBody>
      </p:sp>
      <p:sp>
        <p:nvSpPr>
          <p:cNvPr id="52" name="Text 50"/>
          <p:cNvSpPr/>
          <p:nvPr/>
        </p:nvSpPr>
        <p:spPr>
          <a:xfrm>
            <a:off x="777240" y="4892040"/>
            <a:ext cx="6766560" cy="822960"/>
          </a:xfrm>
          <a:prstGeom prst="rect">
            <a:avLst/>
          </a:prstGeom>
          <a:noFill/>
          <a:ln/>
        </p:spPr>
        <p:txBody>
          <a:bodyPr wrap="square" lIns="0" tIns="0" rIns="0" bIns="0" rtlCol="0" anchor="t"/>
          <a:lstStyle/>
          <a:p>
            <a:pPr indent="0" marL="0">
              <a:buNone/>
            </a:pPr>
            <a:r>
              <a:rPr lang="en-US" sz="1200" b="1" dirty="0">
                <a:solidFill>
                  <a:srgbClr val="EAF3F4"/>
                </a:solidFill>
                <a:latin typeface="Segoe UI" pitchFamily="34" charset="0"/>
                <a:ea typeface="Segoe UI" pitchFamily="34" charset="-122"/>
                <a:cs typeface="Segoe UI" pitchFamily="34" charset="-120"/>
              </a:rPr>
              <a:t>Kabel STP 2 pasang di jalur yang sama: </a:t>
            </a:r>
            <a:pPr indent="0" marL="0">
              <a:buNone/>
            </a:pPr>
            <a:r>
              <a:rPr lang="en-US" sz="1200" dirty="0">
                <a:solidFill>
                  <a:srgbClr val="B9CCD0"/>
                </a:solidFill>
                <a:latin typeface="Segoe UI" pitchFamily="34" charset="0"/>
                <a:ea typeface="Segoe UI" pitchFamily="34" charset="-122"/>
                <a:cs typeface="Segoe UI" pitchFamily="34" charset="-120"/>
              </a:rPr>
              <a:t>pasangan 1 untuk sensor, pasangan 2 untuk kendali (segmen E) — kendali tidak ikut macet saat bus sensor bermasalah, tanpa galian tambahan.</a:t>
            </a:r>
            <a:endParaRPr lang="en-US" sz="1200" dirty="0"/>
          </a:p>
        </p:txBody>
      </p:sp>
      <p:sp>
        <p:nvSpPr>
          <p:cNvPr id="53" name="Text 51"/>
          <p:cNvSpPr/>
          <p:nvPr/>
        </p:nvSpPr>
        <p:spPr>
          <a:xfrm>
            <a:off x="777240" y="5669280"/>
            <a:ext cx="6766560" cy="228600"/>
          </a:xfrm>
          <a:prstGeom prst="rect">
            <a:avLst/>
          </a:prstGeom>
          <a:noFill/>
          <a:ln/>
        </p:spPr>
        <p:txBody>
          <a:bodyPr wrap="square" lIns="0" tIns="0" rIns="0" bIns="0" rtlCol="0" anchor="t"/>
          <a:lstStyle/>
          <a:p>
            <a:pPr indent="0" marL="0">
              <a:buNone/>
            </a:pPr>
            <a:r>
              <a:rPr lang="en-US" sz="1000" dirty="0">
                <a:solidFill>
                  <a:srgbClr val="86A0A6"/>
                </a:solidFill>
                <a:latin typeface="Segoe UI" pitchFamily="34" charset="0"/>
                <a:ea typeface="Segoe UI" pitchFamily="34" charset="-122"/>
                <a:cs typeface="Segoe UI" pitchFamily="34" charset="-120"/>
              </a:rPr>
              <a:t>T = terminator di ujung rantai · repeater berisolasi galvanik</a:t>
            </a:r>
            <a:endParaRPr lang="en-US" sz="1000" dirty="0"/>
          </a:p>
        </p:txBody>
      </p:sp>
      <p:sp>
        <p:nvSpPr>
          <p:cNvPr id="54" name="Shape 52"/>
          <p:cNvSpPr/>
          <p:nvPr/>
        </p:nvSpPr>
        <p:spPr>
          <a:xfrm>
            <a:off x="7955280" y="3383280"/>
            <a:ext cx="3685032" cy="2606040"/>
          </a:xfrm>
          <a:prstGeom prst="roundRect">
            <a:avLst>
              <a:gd name="adj" fmla="val 3158"/>
            </a:avLst>
          </a:prstGeom>
          <a:solidFill>
            <a:srgbClr val="0F2C33"/>
          </a:solidFill>
          <a:ln w="12700">
            <a:solidFill>
              <a:srgbClr val="24505A"/>
            </a:solidFill>
            <a:prstDash val="solid"/>
          </a:ln>
        </p:spPr>
      </p:sp>
      <p:sp>
        <p:nvSpPr>
          <p:cNvPr id="55" name="Shape 53"/>
          <p:cNvSpPr/>
          <p:nvPr/>
        </p:nvSpPr>
        <p:spPr>
          <a:xfrm>
            <a:off x="7955280" y="3511296"/>
            <a:ext cx="54864" cy="2350008"/>
          </a:xfrm>
          <a:prstGeom prst="rect">
            <a:avLst/>
          </a:prstGeom>
          <a:solidFill>
            <a:srgbClr val="FFB347"/>
          </a:solidFill>
          <a:ln w="12700">
            <a:solidFill>
              <a:srgbClr val="FFB347"/>
            </a:solidFill>
            <a:prstDash val="solid"/>
          </a:ln>
        </p:spPr>
      </p:sp>
      <p:sp>
        <p:nvSpPr>
          <p:cNvPr id="56" name="Text 54"/>
          <p:cNvSpPr/>
          <p:nvPr/>
        </p:nvSpPr>
        <p:spPr>
          <a:xfrm>
            <a:off x="8183880" y="3520440"/>
            <a:ext cx="3291840" cy="274320"/>
          </a:xfrm>
          <a:prstGeom prst="rect">
            <a:avLst/>
          </a:prstGeom>
          <a:noFill/>
          <a:ln/>
        </p:spPr>
        <p:txBody>
          <a:bodyPr wrap="square" lIns="0" tIns="0" rIns="0" bIns="0" rtlCol="0" anchor="t"/>
          <a:lstStyle/>
          <a:p>
            <a:pPr indent="0" marL="0">
              <a:buNone/>
            </a:pPr>
            <a:r>
              <a:rPr lang="en-US" sz="1300" dirty="0">
                <a:solidFill>
                  <a:srgbClr val="FFB347"/>
                </a:solidFill>
                <a:latin typeface="Segoe UI Semibold" pitchFamily="34" charset="0"/>
                <a:ea typeface="Segoe UI Semibold" pitchFamily="34" charset="-122"/>
                <a:cs typeface="Segoe UI Semibold" pitchFamily="34" charset="-120"/>
              </a:rPr>
              <a:t>Cabinet di pusat area kolam</a:t>
            </a:r>
            <a:endParaRPr lang="en-US" sz="1300" dirty="0"/>
          </a:p>
        </p:txBody>
      </p:sp>
      <p:sp>
        <p:nvSpPr>
          <p:cNvPr id="57" name="Text 55"/>
          <p:cNvSpPr/>
          <p:nvPr/>
        </p:nvSpPr>
        <p:spPr>
          <a:xfrm>
            <a:off x="8183880" y="3931920"/>
            <a:ext cx="329184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Dekat jalur listrik utama</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Tidak tergenang saat kolam meluap</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Grounding rod + arrester di cabinet dan tiang cuaca</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Trunk cabinet → repeater, rantai repeater → kolam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7</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FFB347"/>
                </a:solidFill>
                <a:latin typeface="Segoe UI" pitchFamily="34" charset="0"/>
                <a:ea typeface="Segoe UI" pitchFamily="34" charset="-122"/>
                <a:cs typeface="Segoe UI" pitchFamily="34" charset="-120"/>
              </a:rPr>
              <a:t>LAPIS 3–4 · EDGE &amp; UPLINK</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Di lokasi, kolam tetap terlindungi walau internet putus</a:t>
            </a:r>
            <a:endParaRPr lang="en-US" sz="2700" dirty="0"/>
          </a:p>
        </p:txBody>
      </p:sp>
      <p:sp>
        <p:nvSpPr>
          <p:cNvPr id="5" name="Shape 3"/>
          <p:cNvSpPr/>
          <p:nvPr/>
        </p:nvSpPr>
        <p:spPr>
          <a:xfrm>
            <a:off x="548640" y="1508760"/>
            <a:ext cx="2377440" cy="1234440"/>
          </a:xfrm>
          <a:prstGeom prst="roundRect">
            <a:avLst>
              <a:gd name="adj" fmla="val 6667"/>
            </a:avLst>
          </a:prstGeom>
          <a:solidFill>
            <a:srgbClr val="FFB347"/>
          </a:solidFill>
          <a:ln w="12700">
            <a:solidFill>
              <a:srgbClr val="FFB347"/>
            </a:solidFill>
            <a:prstDash val="solid"/>
          </a:ln>
        </p:spPr>
      </p:sp>
      <p:sp>
        <p:nvSpPr>
          <p:cNvPr id="6" name="Text 4"/>
          <p:cNvSpPr/>
          <p:nvPr/>
        </p:nvSpPr>
        <p:spPr>
          <a:xfrm>
            <a:off x="777240" y="1645920"/>
            <a:ext cx="2057400" cy="1005840"/>
          </a:xfrm>
          <a:prstGeom prst="rect">
            <a:avLst/>
          </a:prstGeom>
          <a:noFill/>
          <a:ln/>
        </p:spPr>
        <p:txBody>
          <a:bodyPr wrap="square" lIns="0" tIns="0" rIns="0" bIns="0" rtlCol="0" anchor="t"/>
          <a:lstStyle/>
          <a:p>
            <a:pPr indent="0" marL="0">
              <a:buNone/>
            </a:pPr>
            <a:r>
              <a:rPr lang="en-US" sz="1100" b="1" dirty="0">
                <a:solidFill>
                  <a:srgbClr val="0A1E24"/>
                </a:solidFill>
                <a:latin typeface="Segoe UI" pitchFamily="34" charset="0"/>
                <a:ea typeface="Segoe UI" pitchFamily="34" charset="-122"/>
                <a:cs typeface="Segoe UI" pitchFamily="34" charset="-120"/>
              </a:rPr>
              <a:t>AKTIF</a:t>
            </a:r>
            <a:endParaRPr lang="en-US" sz="1100" dirty="0"/>
          </a:p>
          <a:p>
            <a:pPr indent="0" marL="0">
              <a:buNone/>
            </a:pPr>
            <a:r>
              <a:rPr lang="en-US" sz="1700" dirty="0">
                <a:solidFill>
                  <a:srgbClr val="0A1E24"/>
                </a:solidFill>
                <a:latin typeface="Segoe UI Semibold" pitchFamily="34" charset="0"/>
                <a:ea typeface="Segoe UI Semibold" pitchFamily="34" charset="-122"/>
                <a:cs typeface="Segoe UI Semibold" pitchFamily="34" charset="-120"/>
              </a:rPr>
              <a:t>Gateway industri</a:t>
            </a:r>
            <a:endParaRPr lang="en-US" sz="1100" dirty="0"/>
          </a:p>
          <a:p>
            <a:pPr indent="0" marL="0">
              <a:buNone/>
            </a:pPr>
            <a:r>
              <a:rPr lang="en-US" sz="1100" dirty="0">
                <a:solidFill>
                  <a:srgbClr val="0A1E24"/>
                </a:solidFill>
                <a:latin typeface="Segoe UI" pitchFamily="34" charset="0"/>
                <a:ea typeface="Segoe UI" pitchFamily="34" charset="-122"/>
                <a:cs typeface="Segoe UI" pitchFamily="34" charset="-120"/>
              </a:rPr>
              <a:t>IP65 · master Modbus · kendali lokal</a:t>
            </a:r>
            <a:endParaRPr lang="en-US" sz="1100" dirty="0"/>
          </a:p>
        </p:txBody>
      </p:sp>
      <p:sp>
        <p:nvSpPr>
          <p:cNvPr id="7" name="Shape 5"/>
          <p:cNvSpPr/>
          <p:nvPr/>
        </p:nvSpPr>
        <p:spPr>
          <a:xfrm>
            <a:off x="548640" y="3886200"/>
            <a:ext cx="2377440" cy="1234440"/>
          </a:xfrm>
          <a:prstGeom prst="roundRect">
            <a:avLst>
              <a:gd name="adj" fmla="val 6667"/>
            </a:avLst>
          </a:prstGeom>
          <a:solidFill>
            <a:srgbClr val="0F2C33"/>
          </a:solidFill>
          <a:ln w="12700">
            <a:solidFill>
              <a:srgbClr val="FFB347"/>
            </a:solidFill>
            <a:prstDash val="dash"/>
          </a:ln>
        </p:spPr>
      </p:sp>
      <p:sp>
        <p:nvSpPr>
          <p:cNvPr id="8" name="Text 6"/>
          <p:cNvSpPr/>
          <p:nvPr/>
        </p:nvSpPr>
        <p:spPr>
          <a:xfrm>
            <a:off x="777240" y="4023360"/>
            <a:ext cx="2057400" cy="1005840"/>
          </a:xfrm>
          <a:prstGeom prst="rect">
            <a:avLst/>
          </a:prstGeom>
          <a:noFill/>
          <a:ln/>
        </p:spPr>
        <p:txBody>
          <a:bodyPr wrap="square" lIns="0" tIns="0" rIns="0" bIns="0" rtlCol="0" anchor="t"/>
          <a:lstStyle/>
          <a:p>
            <a:pPr indent="0" marL="0">
              <a:buNone/>
            </a:pPr>
            <a:r>
              <a:rPr lang="en-US" sz="1100" b="1" dirty="0">
                <a:solidFill>
                  <a:srgbClr val="FFB347"/>
                </a:solidFill>
                <a:latin typeface="Segoe UI" pitchFamily="34" charset="0"/>
                <a:ea typeface="Segoe UI" pitchFamily="34" charset="-122"/>
                <a:cs typeface="Segoe UI" pitchFamily="34" charset="-120"/>
              </a:rPr>
              <a:t>CADANGAN</a:t>
            </a:r>
            <a:endParaRPr lang="en-US" sz="1100" dirty="0"/>
          </a:p>
          <a:p>
            <a:pPr indent="0" marL="0">
              <a:buNone/>
            </a:pPr>
            <a:r>
              <a:rPr lang="en-US" sz="1700" dirty="0">
                <a:solidFill>
                  <a:srgbClr val="EAF3F4"/>
                </a:solidFill>
                <a:latin typeface="Segoe UI Semibold" pitchFamily="34" charset="0"/>
                <a:ea typeface="Segoe UI Semibold" pitchFamily="34" charset="-122"/>
                <a:cs typeface="Segoe UI Semibold" pitchFamily="34" charset="-120"/>
              </a:rPr>
              <a:t>Gateway industri</a:t>
            </a:r>
            <a:endParaRPr lang="en-US" sz="1100" dirty="0"/>
          </a:p>
          <a:p>
            <a:pPr indent="0" marL="0">
              <a:buNone/>
            </a:pPr>
            <a:r>
              <a:rPr lang="en-US" sz="1100" dirty="0">
                <a:solidFill>
                  <a:srgbClr val="B9CCD0"/>
                </a:solidFill>
                <a:latin typeface="Segoe UI" pitchFamily="34" charset="0"/>
                <a:ea typeface="Segoe UI" pitchFamily="34" charset="-122"/>
                <a:cs typeface="Segoe UI" pitchFamily="34" charset="-120"/>
              </a:rPr>
              <a:t>memantau heartbeat · siap ambil alih</a:t>
            </a:r>
            <a:endParaRPr lang="en-US" sz="1100" dirty="0"/>
          </a:p>
        </p:txBody>
      </p:sp>
      <p:sp>
        <p:nvSpPr>
          <p:cNvPr id="9" name="Text 7"/>
          <p:cNvSpPr/>
          <p:nvPr/>
        </p:nvSpPr>
        <p:spPr>
          <a:xfrm>
            <a:off x="548640" y="5257800"/>
            <a:ext cx="2926080" cy="457200"/>
          </a:xfrm>
          <a:prstGeom prst="rect">
            <a:avLst/>
          </a:prstGeom>
          <a:noFill/>
          <a:ln/>
        </p:spPr>
        <p:txBody>
          <a:bodyPr wrap="square" lIns="0" tIns="0" rIns="0" bIns="0" rtlCol="0" anchor="t"/>
          <a:lstStyle/>
          <a:p>
            <a:pPr indent="0" marL="0">
              <a:buNone/>
            </a:pPr>
            <a:r>
              <a:rPr lang="en-US" sz="1000" dirty="0">
                <a:solidFill>
                  <a:srgbClr val="86A0A6"/>
                </a:solidFill>
                <a:latin typeface="Segoe UI" pitchFamily="34" charset="0"/>
                <a:ea typeface="Segoe UI" pitchFamily="34" charset="-122"/>
                <a:cs typeface="Segoe UI" pitchFamily="34" charset="-120"/>
              </a:rPr>
              <a:t>Raspberry Pi hanya untuk PoC internal, bukan untuk pilot (master plan).</a:t>
            </a:r>
            <a:endParaRPr lang="en-US" sz="1000" dirty="0"/>
          </a:p>
        </p:txBody>
      </p:sp>
      <p:sp>
        <p:nvSpPr>
          <p:cNvPr id="10" name="Shape 8"/>
          <p:cNvSpPr/>
          <p:nvPr/>
        </p:nvSpPr>
        <p:spPr>
          <a:xfrm>
            <a:off x="868680" y="3017520"/>
            <a:ext cx="1737360" cy="594360"/>
          </a:xfrm>
          <a:prstGeom prst="roundRect">
            <a:avLst>
              <a:gd name="adj" fmla="val 12308"/>
            </a:avLst>
          </a:prstGeom>
          <a:solidFill>
            <a:srgbClr val="133A43"/>
          </a:solidFill>
          <a:ln w="15240">
            <a:solidFill>
              <a:srgbClr val="5EE6B0"/>
            </a:solidFill>
            <a:prstDash val="solid"/>
          </a:ln>
        </p:spPr>
      </p:sp>
      <p:sp>
        <p:nvSpPr>
          <p:cNvPr id="11" name="Text 9"/>
          <p:cNvSpPr/>
          <p:nvPr/>
        </p:nvSpPr>
        <p:spPr>
          <a:xfrm>
            <a:off x="868680" y="3017520"/>
            <a:ext cx="1737360" cy="594360"/>
          </a:xfrm>
          <a:prstGeom prst="rect">
            <a:avLst/>
          </a:prstGeom>
          <a:noFill/>
          <a:ln/>
        </p:spPr>
        <p:txBody>
          <a:bodyPr wrap="square" lIns="0" tIns="0" rIns="0" bIns="0" rtlCol="0" anchor="ctr"/>
          <a:lstStyle/>
          <a:p>
            <a:pPr algn="ctr" indent="0" marL="0">
              <a:buNone/>
            </a:pPr>
            <a:r>
              <a:rPr lang="en-US" sz="1050" b="1" dirty="0">
                <a:solidFill>
                  <a:srgbClr val="5EE6B0"/>
                </a:solidFill>
                <a:latin typeface="Segoe UI" pitchFamily="34" charset="0"/>
                <a:ea typeface="Segoe UI" pitchFamily="34" charset="-122"/>
                <a:cs typeface="Segoe UI" pitchFamily="34" charset="-120"/>
              </a:rPr>
              <a:t>Relay watchdog</a:t>
            </a:r>
            <a:endParaRPr lang="en-US" sz="1050" dirty="0"/>
          </a:p>
          <a:p>
            <a:pPr algn="ctr" indent="0" marL="0">
              <a:buNone/>
            </a:pPr>
            <a:r>
              <a:rPr lang="en-US" sz="1050" b="1" dirty="0">
                <a:solidFill>
                  <a:srgbClr val="5EE6B0"/>
                </a:solidFill>
                <a:latin typeface="Segoe UI" pitchFamily="34" charset="0"/>
                <a:ea typeface="Segoe UI" pitchFamily="34" charset="-122"/>
                <a:cs typeface="Segoe UI" pitchFamily="34" charset="-120"/>
              </a:rPr>
              <a:t>memindahkan bus</a:t>
            </a:r>
            <a:endParaRPr lang="en-US" sz="1050" dirty="0"/>
          </a:p>
        </p:txBody>
      </p:sp>
      <p:sp>
        <p:nvSpPr>
          <p:cNvPr id="12" name="Shape 10"/>
          <p:cNvSpPr/>
          <p:nvPr/>
        </p:nvSpPr>
        <p:spPr>
          <a:xfrm>
            <a:off x="1737360" y="2761488"/>
            <a:ext cx="914" cy="237744"/>
          </a:xfrm>
          <a:prstGeom prst="line">
            <a:avLst/>
          </a:prstGeom>
          <a:noFill/>
          <a:ln w="19050">
            <a:solidFill>
              <a:srgbClr val="5EE6B0"/>
            </a:solidFill>
            <a:prstDash val="solid"/>
            <a:tailEnd type="triangle"/>
          </a:ln>
        </p:spPr>
      </p:sp>
      <p:sp>
        <p:nvSpPr>
          <p:cNvPr id="13" name="Shape 11"/>
          <p:cNvSpPr/>
          <p:nvPr/>
        </p:nvSpPr>
        <p:spPr>
          <a:xfrm>
            <a:off x="1737360" y="3630168"/>
            <a:ext cx="914" cy="237744"/>
          </a:xfrm>
          <a:prstGeom prst="line">
            <a:avLst/>
          </a:prstGeom>
          <a:noFill/>
          <a:ln w="19050">
            <a:solidFill>
              <a:srgbClr val="5EE6B0"/>
            </a:solidFill>
            <a:prstDash val="solid"/>
            <a:tailEnd type="triangle"/>
          </a:ln>
        </p:spPr>
      </p:sp>
      <p:sp>
        <p:nvSpPr>
          <p:cNvPr id="14" name="Shape 12"/>
          <p:cNvSpPr/>
          <p:nvPr/>
        </p:nvSpPr>
        <p:spPr>
          <a:xfrm>
            <a:off x="2971800" y="3310128"/>
            <a:ext cx="457200" cy="914"/>
          </a:xfrm>
          <a:prstGeom prst="line">
            <a:avLst/>
          </a:prstGeom>
          <a:noFill/>
          <a:ln w="19050">
            <a:solidFill>
              <a:srgbClr val="86A0A6"/>
            </a:solidFill>
            <a:prstDash val="solid"/>
            <a:tailEnd type="triangle"/>
          </a:ln>
        </p:spPr>
      </p:sp>
      <p:sp>
        <p:nvSpPr>
          <p:cNvPr id="15" name="Text 13"/>
          <p:cNvSpPr/>
          <p:nvPr/>
        </p:nvSpPr>
        <p:spPr>
          <a:xfrm>
            <a:off x="2926080" y="3383280"/>
            <a:ext cx="731520" cy="365760"/>
          </a:xfrm>
          <a:prstGeom prst="rect">
            <a:avLst/>
          </a:prstGeom>
          <a:noFill/>
          <a:ln/>
        </p:spPr>
        <p:txBody>
          <a:bodyPr wrap="square" lIns="0" tIns="0" rIns="0" bIns="0" rtlCol="0" anchor="t"/>
          <a:lstStyle/>
          <a:p>
            <a:pPr algn="ctr" indent="0" marL="0">
              <a:buNone/>
            </a:pPr>
            <a:r>
              <a:rPr lang="en-US" sz="900" dirty="0">
                <a:solidFill>
                  <a:srgbClr val="86A0A6"/>
                </a:solidFill>
                <a:latin typeface="Segoe UI" pitchFamily="34" charset="0"/>
                <a:ea typeface="Segoe UI" pitchFamily="34" charset="-122"/>
                <a:cs typeface="Segoe UI" pitchFamily="34" charset="-120"/>
              </a:rPr>
              <a:t>ke 5 segmen</a:t>
            </a:r>
            <a:endParaRPr lang="en-US" sz="900" dirty="0"/>
          </a:p>
        </p:txBody>
      </p:sp>
      <p:sp>
        <p:nvSpPr>
          <p:cNvPr id="16" name="Shape 14"/>
          <p:cNvSpPr/>
          <p:nvPr/>
        </p:nvSpPr>
        <p:spPr>
          <a:xfrm>
            <a:off x="3794760" y="1508760"/>
            <a:ext cx="7845552" cy="786384"/>
          </a:xfrm>
          <a:prstGeom prst="roundRect">
            <a:avLst>
              <a:gd name="adj" fmla="val 10465"/>
            </a:avLst>
          </a:prstGeom>
          <a:solidFill>
            <a:srgbClr val="0F2C33"/>
          </a:solidFill>
          <a:ln w="12700">
            <a:solidFill>
              <a:srgbClr val="24505A"/>
            </a:solidFill>
            <a:prstDash val="solid"/>
          </a:ln>
        </p:spPr>
      </p:sp>
      <p:sp>
        <p:nvSpPr>
          <p:cNvPr id="17" name="Shape 15"/>
          <p:cNvSpPr/>
          <p:nvPr/>
        </p:nvSpPr>
        <p:spPr>
          <a:xfrm>
            <a:off x="3794760" y="1636776"/>
            <a:ext cx="54864" cy="530352"/>
          </a:xfrm>
          <a:prstGeom prst="rect">
            <a:avLst/>
          </a:prstGeom>
          <a:solidFill>
            <a:srgbClr val="FFB347"/>
          </a:solidFill>
          <a:ln w="12700">
            <a:solidFill>
              <a:srgbClr val="FFB347"/>
            </a:solidFill>
            <a:prstDash val="solid"/>
          </a:ln>
        </p:spPr>
      </p:sp>
      <p:sp>
        <p:nvSpPr>
          <p:cNvPr id="18" name="Text 16"/>
          <p:cNvSpPr/>
          <p:nvPr/>
        </p:nvSpPr>
        <p:spPr>
          <a:xfrm>
            <a:off x="4041648" y="1618488"/>
            <a:ext cx="2377440" cy="566928"/>
          </a:xfrm>
          <a:prstGeom prst="rect">
            <a:avLst/>
          </a:prstGeom>
          <a:noFill/>
          <a:ln/>
        </p:spPr>
        <p:txBody>
          <a:bodyPr wrap="square" lIns="0" tIns="0" rIns="0" bIns="0" rtlCol="0" anchor="ctr"/>
          <a:lstStyle/>
          <a:p>
            <a:pPr indent="0" marL="0">
              <a:buNone/>
            </a:pPr>
            <a:r>
              <a:rPr lang="en-US" sz="1400" dirty="0">
                <a:solidFill>
                  <a:srgbClr val="FFB347"/>
                </a:solidFill>
                <a:latin typeface="Segoe UI Semibold" pitchFamily="34" charset="0"/>
                <a:ea typeface="Segoe UI Semibold" pitchFamily="34" charset="-122"/>
                <a:cs typeface="Segoe UI Semibold" pitchFamily="34" charset="-120"/>
              </a:rPr>
              <a:t>Kendali pengaman lokal</a:t>
            </a:r>
            <a:endParaRPr lang="en-US" sz="1400" dirty="0"/>
          </a:p>
        </p:txBody>
      </p:sp>
      <p:sp>
        <p:nvSpPr>
          <p:cNvPr id="19" name="Text 17"/>
          <p:cNvSpPr/>
          <p:nvPr/>
        </p:nvSpPr>
        <p:spPr>
          <a:xfrm>
            <a:off x="6446520" y="1618488"/>
            <a:ext cx="5029200" cy="566928"/>
          </a:xfrm>
          <a:prstGeom prst="rect">
            <a:avLst/>
          </a:prstGeom>
          <a:noFill/>
          <a:ln/>
        </p:spPr>
        <p:txBody>
          <a:bodyPr wrap="square" lIns="0" tIns="0" rIns="0" bIns="0" rtlCol="0" anchor="ctr"/>
          <a:lstStyle/>
          <a:p>
            <a:pPr indent="0" marL="0">
              <a:buNone/>
            </a:pPr>
            <a:r>
              <a:rPr lang="en-US" sz="1200" dirty="0">
                <a:solidFill>
                  <a:srgbClr val="B9CCD0"/>
                </a:solidFill>
                <a:latin typeface="Segoe UI" pitchFamily="34" charset="0"/>
                <a:ea typeface="Segoe UI" pitchFamily="34" charset="-122"/>
                <a:cs typeface="Segoe UI" pitchFamily="34" charset="-120"/>
              </a:rPr>
              <a:t>DO di bawah batas → aerator ON. Air terlalu tinggi → pompa terkunci. Tidak menunggu cloud.</a:t>
            </a:r>
            <a:endParaRPr lang="en-US" sz="1200" dirty="0"/>
          </a:p>
        </p:txBody>
      </p:sp>
      <p:sp>
        <p:nvSpPr>
          <p:cNvPr id="20" name="Shape 18"/>
          <p:cNvSpPr/>
          <p:nvPr/>
        </p:nvSpPr>
        <p:spPr>
          <a:xfrm>
            <a:off x="3794760" y="2404872"/>
            <a:ext cx="7845552" cy="786384"/>
          </a:xfrm>
          <a:prstGeom prst="roundRect">
            <a:avLst>
              <a:gd name="adj" fmla="val 10465"/>
            </a:avLst>
          </a:prstGeom>
          <a:solidFill>
            <a:srgbClr val="0F2C33"/>
          </a:solidFill>
          <a:ln w="12700">
            <a:solidFill>
              <a:srgbClr val="24505A"/>
            </a:solidFill>
            <a:prstDash val="solid"/>
          </a:ln>
        </p:spPr>
      </p:sp>
      <p:sp>
        <p:nvSpPr>
          <p:cNvPr id="21" name="Shape 19"/>
          <p:cNvSpPr/>
          <p:nvPr/>
        </p:nvSpPr>
        <p:spPr>
          <a:xfrm>
            <a:off x="3794760" y="2532888"/>
            <a:ext cx="54864" cy="530352"/>
          </a:xfrm>
          <a:prstGeom prst="rect">
            <a:avLst/>
          </a:prstGeom>
          <a:solidFill>
            <a:srgbClr val="FF7D6B"/>
          </a:solidFill>
          <a:ln w="12700">
            <a:solidFill>
              <a:srgbClr val="FF7D6B"/>
            </a:solidFill>
            <a:prstDash val="solid"/>
          </a:ln>
        </p:spPr>
      </p:sp>
      <p:sp>
        <p:nvSpPr>
          <p:cNvPr id="22" name="Text 20"/>
          <p:cNvSpPr/>
          <p:nvPr/>
        </p:nvSpPr>
        <p:spPr>
          <a:xfrm>
            <a:off x="4041648" y="2514600"/>
            <a:ext cx="2377440" cy="566928"/>
          </a:xfrm>
          <a:prstGeom prst="rect">
            <a:avLst/>
          </a:prstGeom>
          <a:noFill/>
          <a:ln/>
        </p:spPr>
        <p:txBody>
          <a:bodyPr wrap="square" lIns="0" tIns="0" rIns="0" bIns="0" rtlCol="0" anchor="ctr"/>
          <a:lstStyle/>
          <a:p>
            <a:pPr indent="0" marL="0">
              <a:buNone/>
            </a:pPr>
            <a:r>
              <a:rPr lang="en-US" sz="1400" dirty="0">
                <a:solidFill>
                  <a:srgbClr val="FF7D6B"/>
                </a:solidFill>
                <a:latin typeface="Segoe UI Semibold" pitchFamily="34" charset="0"/>
                <a:ea typeface="Segoe UI Semibold" pitchFamily="34" charset="-122"/>
                <a:cs typeface="Segoe UI Semibold" pitchFamily="34" charset="-120"/>
              </a:rPr>
              <a:t>Posisi aman</a:t>
            </a:r>
            <a:endParaRPr lang="en-US" sz="1400" dirty="0"/>
          </a:p>
        </p:txBody>
      </p:sp>
      <p:sp>
        <p:nvSpPr>
          <p:cNvPr id="23" name="Text 21"/>
          <p:cNvSpPr/>
          <p:nvPr/>
        </p:nvSpPr>
        <p:spPr>
          <a:xfrm>
            <a:off x="6446520" y="2514600"/>
            <a:ext cx="5029200" cy="566928"/>
          </a:xfrm>
          <a:prstGeom prst="rect">
            <a:avLst/>
          </a:prstGeom>
          <a:noFill/>
          <a:ln/>
        </p:spPr>
        <p:txBody>
          <a:bodyPr wrap="square" lIns="0" tIns="0" rIns="0" bIns="0" rtlCol="0" anchor="ctr"/>
          <a:lstStyle/>
          <a:p>
            <a:pPr indent="0" marL="0">
              <a:buNone/>
            </a:pPr>
            <a:r>
              <a:rPr lang="en-US" sz="1200" dirty="0">
                <a:solidFill>
                  <a:srgbClr val="B9CCD0"/>
                </a:solidFill>
                <a:latin typeface="Segoe UI" pitchFamily="34" charset="0"/>
                <a:ea typeface="Segoe UI" pitchFamily="34" charset="-122"/>
                <a:cs typeface="Segoe UI" pitchFamily="34" charset="-120"/>
              </a:rPr>
              <a:t>Bila kedua edge diam, modul I/O kembali ke posisi aman: aerator ON, pompa OFF.</a:t>
            </a:r>
            <a:endParaRPr lang="en-US" sz="1200" dirty="0"/>
          </a:p>
        </p:txBody>
      </p:sp>
      <p:sp>
        <p:nvSpPr>
          <p:cNvPr id="24" name="Shape 22"/>
          <p:cNvSpPr/>
          <p:nvPr/>
        </p:nvSpPr>
        <p:spPr>
          <a:xfrm>
            <a:off x="3794760" y="3300984"/>
            <a:ext cx="7845552" cy="786384"/>
          </a:xfrm>
          <a:prstGeom prst="roundRect">
            <a:avLst>
              <a:gd name="adj" fmla="val 10465"/>
            </a:avLst>
          </a:prstGeom>
          <a:solidFill>
            <a:srgbClr val="0F2C33"/>
          </a:solidFill>
          <a:ln w="12700">
            <a:solidFill>
              <a:srgbClr val="24505A"/>
            </a:solidFill>
            <a:prstDash val="solid"/>
          </a:ln>
        </p:spPr>
      </p:sp>
      <p:sp>
        <p:nvSpPr>
          <p:cNvPr id="25" name="Shape 23"/>
          <p:cNvSpPr/>
          <p:nvPr/>
        </p:nvSpPr>
        <p:spPr>
          <a:xfrm>
            <a:off x="3794760" y="3429000"/>
            <a:ext cx="54864" cy="530352"/>
          </a:xfrm>
          <a:prstGeom prst="rect">
            <a:avLst/>
          </a:prstGeom>
          <a:solidFill>
            <a:srgbClr val="5EE6B0"/>
          </a:solidFill>
          <a:ln w="12700">
            <a:solidFill>
              <a:srgbClr val="5EE6B0"/>
            </a:solidFill>
            <a:prstDash val="solid"/>
          </a:ln>
        </p:spPr>
      </p:sp>
      <p:sp>
        <p:nvSpPr>
          <p:cNvPr id="26" name="Text 24"/>
          <p:cNvSpPr/>
          <p:nvPr/>
        </p:nvSpPr>
        <p:spPr>
          <a:xfrm>
            <a:off x="4041648" y="3410712"/>
            <a:ext cx="2377440" cy="566928"/>
          </a:xfrm>
          <a:prstGeom prst="rect">
            <a:avLst/>
          </a:prstGeom>
          <a:noFill/>
          <a:ln/>
        </p:spPr>
        <p:txBody>
          <a:bodyPr wrap="square" lIns="0" tIns="0" rIns="0" bIns="0" rtlCol="0" anchor="ctr"/>
          <a:lstStyle/>
          <a:p>
            <a:pPr indent="0" marL="0">
              <a:buNone/>
            </a:pPr>
            <a:r>
              <a:rPr lang="en-US" sz="1400" dirty="0">
                <a:solidFill>
                  <a:srgbClr val="5EE6B0"/>
                </a:solidFill>
                <a:latin typeface="Segoe UI Semibold" pitchFamily="34" charset="0"/>
                <a:ea typeface="Segoe UI Semibold" pitchFamily="34" charset="-122"/>
                <a:cs typeface="Segoe UI Semibold" pitchFamily="34" charset="-120"/>
              </a:rPr>
              <a:t>Satu master, pasti</a:t>
            </a:r>
            <a:endParaRPr lang="en-US" sz="1400" dirty="0"/>
          </a:p>
        </p:txBody>
      </p:sp>
      <p:sp>
        <p:nvSpPr>
          <p:cNvPr id="27" name="Text 25"/>
          <p:cNvSpPr/>
          <p:nvPr/>
        </p:nvSpPr>
        <p:spPr>
          <a:xfrm>
            <a:off x="6446520" y="3410712"/>
            <a:ext cx="5029200" cy="566928"/>
          </a:xfrm>
          <a:prstGeom prst="rect">
            <a:avLst/>
          </a:prstGeom>
          <a:noFill/>
          <a:ln/>
        </p:spPr>
        <p:txBody>
          <a:bodyPr wrap="square" lIns="0" tIns="0" rIns="0" bIns="0" rtlCol="0" anchor="ctr"/>
          <a:lstStyle/>
          <a:p>
            <a:pPr indent="0" marL="0">
              <a:buNone/>
            </a:pPr>
            <a:r>
              <a:rPr lang="en-US" sz="1200" dirty="0">
                <a:solidFill>
                  <a:srgbClr val="B9CCD0"/>
                </a:solidFill>
                <a:latin typeface="Segoe UI" pitchFamily="34" charset="0"/>
                <a:ea typeface="Segoe UI" pitchFamily="34" charset="-122"/>
                <a:cs typeface="Segoe UI" pitchFamily="34" charset="-120"/>
              </a:rPr>
              <a:t>Cadangan mengambil alih lewat relay watchdog — dua master tidak pernah aktif bersamaan.</a:t>
            </a:r>
            <a:endParaRPr lang="en-US" sz="1200" dirty="0"/>
          </a:p>
        </p:txBody>
      </p:sp>
      <p:sp>
        <p:nvSpPr>
          <p:cNvPr id="28" name="Shape 26"/>
          <p:cNvSpPr/>
          <p:nvPr/>
        </p:nvSpPr>
        <p:spPr>
          <a:xfrm>
            <a:off x="3794760" y="4197096"/>
            <a:ext cx="7845552" cy="786384"/>
          </a:xfrm>
          <a:prstGeom prst="roundRect">
            <a:avLst>
              <a:gd name="adj" fmla="val 10465"/>
            </a:avLst>
          </a:prstGeom>
          <a:solidFill>
            <a:srgbClr val="0F2C33"/>
          </a:solidFill>
          <a:ln w="12700">
            <a:solidFill>
              <a:srgbClr val="24505A"/>
            </a:solidFill>
            <a:prstDash val="solid"/>
          </a:ln>
        </p:spPr>
      </p:sp>
      <p:sp>
        <p:nvSpPr>
          <p:cNvPr id="29" name="Shape 27"/>
          <p:cNvSpPr/>
          <p:nvPr/>
        </p:nvSpPr>
        <p:spPr>
          <a:xfrm>
            <a:off x="3794760" y="4325112"/>
            <a:ext cx="54864" cy="530352"/>
          </a:xfrm>
          <a:prstGeom prst="rect">
            <a:avLst/>
          </a:prstGeom>
          <a:solidFill>
            <a:srgbClr val="5AA9FF"/>
          </a:solidFill>
          <a:ln w="12700">
            <a:solidFill>
              <a:srgbClr val="5AA9FF"/>
            </a:solidFill>
            <a:prstDash val="solid"/>
          </a:ln>
        </p:spPr>
      </p:sp>
      <p:sp>
        <p:nvSpPr>
          <p:cNvPr id="30" name="Text 28"/>
          <p:cNvSpPr/>
          <p:nvPr/>
        </p:nvSpPr>
        <p:spPr>
          <a:xfrm>
            <a:off x="4041648" y="4306824"/>
            <a:ext cx="2377440" cy="566928"/>
          </a:xfrm>
          <a:prstGeom prst="rect">
            <a:avLst/>
          </a:prstGeom>
          <a:noFill/>
          <a:ln/>
        </p:spPr>
        <p:txBody>
          <a:bodyPr wrap="square" lIns="0" tIns="0" rIns="0" bIns="0" rtlCol="0" anchor="ctr"/>
          <a:lstStyle/>
          <a:p>
            <a:pPr indent="0" marL="0">
              <a:buNone/>
            </a:pPr>
            <a:r>
              <a:rPr lang="en-US" sz="1400" dirty="0">
                <a:solidFill>
                  <a:srgbClr val="5AA9FF"/>
                </a:solidFill>
                <a:latin typeface="Segoe UI Semibold" pitchFamily="34" charset="0"/>
                <a:ea typeface="Segoe UI Semibold" pitchFamily="34" charset="-122"/>
                <a:cs typeface="Segoe UI Semibold" pitchFamily="34" charset="-120"/>
              </a:rPr>
              <a:t>Simpan &amp; kirim ulang</a:t>
            </a:r>
            <a:endParaRPr lang="en-US" sz="1400" dirty="0"/>
          </a:p>
        </p:txBody>
      </p:sp>
      <p:sp>
        <p:nvSpPr>
          <p:cNvPr id="31" name="Text 29"/>
          <p:cNvSpPr/>
          <p:nvPr/>
        </p:nvSpPr>
        <p:spPr>
          <a:xfrm>
            <a:off x="6446520" y="4306824"/>
            <a:ext cx="5029200" cy="566928"/>
          </a:xfrm>
          <a:prstGeom prst="rect">
            <a:avLst/>
          </a:prstGeom>
          <a:noFill/>
          <a:ln/>
        </p:spPr>
        <p:txBody>
          <a:bodyPr wrap="square" lIns="0" tIns="0" rIns="0" bIns="0" rtlCol="0" anchor="ctr"/>
          <a:lstStyle/>
          <a:p>
            <a:pPr indent="0" marL="0">
              <a:buNone/>
            </a:pPr>
            <a:r>
              <a:rPr lang="en-US" sz="1200" dirty="0">
                <a:solidFill>
                  <a:srgbClr val="B9CCD0"/>
                </a:solidFill>
                <a:latin typeface="Segoe UI" pitchFamily="34" charset="0"/>
                <a:ea typeface="Segoe UI" pitchFamily="34" charset="-122"/>
                <a:cs typeface="Segoe UI" pitchFamily="34" charset="-120"/>
              </a:rPr>
              <a:t>Data ditahan di penyimpanan lokal saat internet putus, dikirim ulang saat pulih.</a:t>
            </a:r>
            <a:endParaRPr lang="en-US" sz="1200" dirty="0"/>
          </a:p>
        </p:txBody>
      </p:sp>
      <p:sp>
        <p:nvSpPr>
          <p:cNvPr id="32" name="Shape 30"/>
          <p:cNvSpPr/>
          <p:nvPr/>
        </p:nvSpPr>
        <p:spPr>
          <a:xfrm>
            <a:off x="3794760" y="5093208"/>
            <a:ext cx="7845552" cy="786384"/>
          </a:xfrm>
          <a:prstGeom prst="roundRect">
            <a:avLst>
              <a:gd name="adj" fmla="val 10465"/>
            </a:avLst>
          </a:prstGeom>
          <a:solidFill>
            <a:srgbClr val="0F2C33"/>
          </a:solidFill>
          <a:ln w="12700">
            <a:solidFill>
              <a:srgbClr val="24505A"/>
            </a:solidFill>
            <a:prstDash val="solid"/>
          </a:ln>
        </p:spPr>
      </p:sp>
      <p:sp>
        <p:nvSpPr>
          <p:cNvPr id="33" name="Shape 31"/>
          <p:cNvSpPr/>
          <p:nvPr/>
        </p:nvSpPr>
        <p:spPr>
          <a:xfrm>
            <a:off x="3794760" y="5221224"/>
            <a:ext cx="54864" cy="530352"/>
          </a:xfrm>
          <a:prstGeom prst="rect">
            <a:avLst/>
          </a:prstGeom>
          <a:solidFill>
            <a:srgbClr val="B39DFF"/>
          </a:solidFill>
          <a:ln w="12700">
            <a:solidFill>
              <a:srgbClr val="B39DFF"/>
            </a:solidFill>
            <a:prstDash val="solid"/>
          </a:ln>
        </p:spPr>
      </p:sp>
      <p:sp>
        <p:nvSpPr>
          <p:cNvPr id="34" name="Text 32"/>
          <p:cNvSpPr/>
          <p:nvPr/>
        </p:nvSpPr>
        <p:spPr>
          <a:xfrm>
            <a:off x="4041648" y="5202936"/>
            <a:ext cx="2377440" cy="566928"/>
          </a:xfrm>
          <a:prstGeom prst="rect">
            <a:avLst/>
          </a:prstGeom>
          <a:noFill/>
          <a:ln/>
        </p:spPr>
        <p:txBody>
          <a:bodyPr wrap="square" lIns="0" tIns="0" rIns="0" bIns="0" rtlCol="0" anchor="ctr"/>
          <a:lstStyle/>
          <a:p>
            <a:pPr indent="0" marL="0">
              <a:buNone/>
            </a:pPr>
            <a:r>
              <a:rPr lang="en-US" sz="1400" dirty="0">
                <a:solidFill>
                  <a:srgbClr val="B39DFF"/>
                </a:solidFill>
                <a:latin typeface="Segoe UI Semibold" pitchFamily="34" charset="0"/>
                <a:ea typeface="Segoe UI Semibold" pitchFamily="34" charset="-122"/>
                <a:cs typeface="Segoe UI Semibold" pitchFamily="34" charset="-120"/>
              </a:rPr>
              <a:t>Daya, cuaca &amp; uplink</a:t>
            </a:r>
            <a:endParaRPr lang="en-US" sz="1400" dirty="0"/>
          </a:p>
        </p:txBody>
      </p:sp>
      <p:sp>
        <p:nvSpPr>
          <p:cNvPr id="35" name="Text 33"/>
          <p:cNvSpPr/>
          <p:nvPr/>
        </p:nvSpPr>
        <p:spPr>
          <a:xfrm>
            <a:off x="6446520" y="5202936"/>
            <a:ext cx="5029200" cy="566928"/>
          </a:xfrm>
          <a:prstGeom prst="rect">
            <a:avLst/>
          </a:prstGeom>
          <a:noFill/>
          <a:ln/>
        </p:spPr>
        <p:txBody>
          <a:bodyPr wrap="square" lIns="0" tIns="0" rIns="0" bIns="0" rtlCol="0" anchor="ctr"/>
          <a:lstStyle/>
          <a:p>
            <a:pPr indent="0" marL="0">
              <a:buNone/>
            </a:pPr>
            <a:r>
              <a:rPr lang="en-US" sz="1200" dirty="0">
                <a:solidFill>
                  <a:srgbClr val="B9CCD0"/>
                </a:solidFill>
                <a:latin typeface="Segoe UI" pitchFamily="34" charset="0"/>
                <a:ea typeface="Segoe UI" pitchFamily="34" charset="-122"/>
                <a:cs typeface="Segoe UI" pitchFamily="34" charset="-120"/>
              </a:rPr>
              <a:t>Cabinet IP66, UPS DC, grounding, arrester. Router 4G dual SIM + cadangan, lewat VPN.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8</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5AA9FF"/>
                </a:solidFill>
                <a:latin typeface="Segoe UI" pitchFamily="34" charset="0"/>
                <a:ea typeface="Segoe UI" pitchFamily="34" charset="-122"/>
                <a:cs typeface="Segoe UI" pitchFamily="34" charset="-120"/>
              </a:rPr>
              <a:t>LAPIS 5 · BACKEND</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Di cloud, data diperiksa dulu sebelum dipercaya</a:t>
            </a:r>
            <a:endParaRPr lang="en-US" sz="2700" dirty="0"/>
          </a:p>
        </p:txBody>
      </p:sp>
      <p:sp>
        <p:nvSpPr>
          <p:cNvPr id="5" name="Shape 3"/>
          <p:cNvSpPr/>
          <p:nvPr/>
        </p:nvSpPr>
        <p:spPr>
          <a:xfrm>
            <a:off x="548640" y="1691640"/>
            <a:ext cx="2057400" cy="1737360"/>
          </a:xfrm>
          <a:prstGeom prst="roundRect">
            <a:avLst>
              <a:gd name="adj" fmla="val 4737"/>
            </a:avLst>
          </a:prstGeom>
          <a:solidFill>
            <a:srgbClr val="0F2C33"/>
          </a:solidFill>
          <a:ln w="12700">
            <a:solidFill>
              <a:srgbClr val="FFB347"/>
            </a:solidFill>
            <a:prstDash val="solid"/>
          </a:ln>
        </p:spPr>
      </p:sp>
      <p:sp>
        <p:nvSpPr>
          <p:cNvPr id="6" name="Text 4"/>
          <p:cNvSpPr/>
          <p:nvPr/>
        </p:nvSpPr>
        <p:spPr>
          <a:xfrm>
            <a:off x="713232" y="1856232"/>
            <a:ext cx="1728216" cy="502920"/>
          </a:xfrm>
          <a:prstGeom prst="rect">
            <a:avLst/>
          </a:prstGeom>
          <a:noFill/>
          <a:ln/>
        </p:spPr>
        <p:txBody>
          <a:bodyPr wrap="square" lIns="0" tIns="0" rIns="0" bIns="0" rtlCol="0" anchor="t"/>
          <a:lstStyle/>
          <a:p>
            <a:pPr indent="0" marL="0">
              <a:buNone/>
            </a:pPr>
            <a:r>
              <a:rPr lang="en-US" sz="1450" dirty="0">
                <a:solidFill>
                  <a:srgbClr val="FFB347"/>
                </a:solidFill>
                <a:latin typeface="Segoe UI Semibold" pitchFamily="34" charset="0"/>
                <a:ea typeface="Segoe UI Semibold" pitchFamily="34" charset="-122"/>
                <a:cs typeface="Segoe UI Semibold" pitchFamily="34" charset="-120"/>
              </a:rPr>
              <a:t>Edge</a:t>
            </a:r>
            <a:endParaRPr lang="en-US" sz="1450" dirty="0"/>
          </a:p>
        </p:txBody>
      </p:sp>
      <p:sp>
        <p:nvSpPr>
          <p:cNvPr id="7" name="Text 5"/>
          <p:cNvSpPr/>
          <p:nvPr/>
        </p:nvSpPr>
        <p:spPr>
          <a:xfrm>
            <a:off x="713232" y="2404872"/>
            <a:ext cx="1728216" cy="9601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MQTT ber-TLS</a:t>
            </a:r>
            <a:endParaRPr lang="en-US" sz="1150" dirty="0"/>
          </a:p>
        </p:txBody>
      </p:sp>
      <p:sp>
        <p:nvSpPr>
          <p:cNvPr id="8" name="Shape 6"/>
          <p:cNvSpPr/>
          <p:nvPr/>
        </p:nvSpPr>
        <p:spPr>
          <a:xfrm>
            <a:off x="2624328" y="2560320"/>
            <a:ext cx="164592" cy="914"/>
          </a:xfrm>
          <a:prstGeom prst="line">
            <a:avLst/>
          </a:prstGeom>
          <a:noFill/>
          <a:ln w="19050">
            <a:solidFill>
              <a:srgbClr val="86A0A6"/>
            </a:solidFill>
            <a:prstDash val="solid"/>
            <a:tailEnd type="triangle"/>
          </a:ln>
        </p:spPr>
      </p:sp>
      <p:sp>
        <p:nvSpPr>
          <p:cNvPr id="9" name="Shape 7"/>
          <p:cNvSpPr/>
          <p:nvPr/>
        </p:nvSpPr>
        <p:spPr>
          <a:xfrm>
            <a:off x="2807208" y="1691640"/>
            <a:ext cx="2057400" cy="1737360"/>
          </a:xfrm>
          <a:prstGeom prst="roundRect">
            <a:avLst>
              <a:gd name="adj" fmla="val 4737"/>
            </a:avLst>
          </a:prstGeom>
          <a:solidFill>
            <a:srgbClr val="0F2C33"/>
          </a:solidFill>
          <a:ln w="12700">
            <a:solidFill>
              <a:srgbClr val="F5D35C"/>
            </a:solidFill>
            <a:prstDash val="dash"/>
          </a:ln>
        </p:spPr>
      </p:sp>
      <p:sp>
        <p:nvSpPr>
          <p:cNvPr id="10" name="Text 8"/>
          <p:cNvSpPr/>
          <p:nvPr/>
        </p:nvSpPr>
        <p:spPr>
          <a:xfrm>
            <a:off x="2971800" y="1856232"/>
            <a:ext cx="1728216" cy="502920"/>
          </a:xfrm>
          <a:prstGeom prst="rect">
            <a:avLst/>
          </a:prstGeom>
          <a:noFill/>
          <a:ln/>
        </p:spPr>
        <p:txBody>
          <a:bodyPr wrap="square" lIns="0" tIns="0" rIns="0" bIns="0" rtlCol="0" anchor="t"/>
          <a:lstStyle/>
          <a:p>
            <a:pPr indent="0" marL="0">
              <a:buNone/>
            </a:pPr>
            <a:r>
              <a:rPr lang="en-US" sz="1450" dirty="0">
                <a:solidFill>
                  <a:srgbClr val="F5D35C"/>
                </a:solidFill>
                <a:latin typeface="Segoe UI Semibold" pitchFamily="34" charset="0"/>
                <a:ea typeface="Segoe UI Semibold" pitchFamily="34" charset="-122"/>
                <a:cs typeface="Segoe UI Semibold" pitchFamily="34" charset="-120"/>
              </a:rPr>
              <a:t>Gerbang mutu data</a:t>
            </a:r>
            <a:endParaRPr lang="en-US" sz="1450" dirty="0"/>
          </a:p>
        </p:txBody>
      </p:sp>
      <p:sp>
        <p:nvSpPr>
          <p:cNvPr id="11" name="Text 9"/>
          <p:cNvSpPr/>
          <p:nvPr/>
        </p:nvSpPr>
        <p:spPr>
          <a:xfrm>
            <a:off x="2971800" y="2404872"/>
            <a:ext cx="1728216" cy="9601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data macet, lonjakan, sensor tidak sepakat, jatuh tempo kalibrasi</a:t>
            </a:r>
            <a:endParaRPr lang="en-US" sz="1150" dirty="0"/>
          </a:p>
        </p:txBody>
      </p:sp>
      <p:sp>
        <p:nvSpPr>
          <p:cNvPr id="12" name="Shape 10"/>
          <p:cNvSpPr/>
          <p:nvPr/>
        </p:nvSpPr>
        <p:spPr>
          <a:xfrm>
            <a:off x="4882896" y="2560320"/>
            <a:ext cx="164592" cy="914"/>
          </a:xfrm>
          <a:prstGeom prst="line">
            <a:avLst/>
          </a:prstGeom>
          <a:noFill/>
          <a:ln w="19050">
            <a:solidFill>
              <a:srgbClr val="86A0A6"/>
            </a:solidFill>
            <a:prstDash val="solid"/>
            <a:tailEnd type="triangle"/>
          </a:ln>
        </p:spPr>
      </p:sp>
      <p:sp>
        <p:nvSpPr>
          <p:cNvPr id="13" name="Shape 11"/>
          <p:cNvSpPr/>
          <p:nvPr/>
        </p:nvSpPr>
        <p:spPr>
          <a:xfrm>
            <a:off x="5065776" y="1691640"/>
            <a:ext cx="2057400" cy="1737360"/>
          </a:xfrm>
          <a:prstGeom prst="roundRect">
            <a:avLst>
              <a:gd name="adj" fmla="val 4737"/>
            </a:avLst>
          </a:prstGeom>
          <a:solidFill>
            <a:srgbClr val="0F2C33"/>
          </a:solidFill>
          <a:ln w="12700">
            <a:solidFill>
              <a:srgbClr val="5AA9FF"/>
            </a:solidFill>
            <a:prstDash val="dash"/>
          </a:ln>
        </p:spPr>
      </p:sp>
      <p:sp>
        <p:nvSpPr>
          <p:cNvPr id="14" name="Text 12"/>
          <p:cNvSpPr/>
          <p:nvPr/>
        </p:nvSpPr>
        <p:spPr>
          <a:xfrm>
            <a:off x="5230368" y="1856232"/>
            <a:ext cx="1728216" cy="502920"/>
          </a:xfrm>
          <a:prstGeom prst="rect">
            <a:avLst/>
          </a:prstGeom>
          <a:noFill/>
          <a:ln/>
        </p:spPr>
        <p:txBody>
          <a:bodyPr wrap="square" lIns="0" tIns="0" rIns="0" bIns="0" rtlCol="0" anchor="t"/>
          <a:lstStyle/>
          <a:p>
            <a:pPr indent="0" marL="0">
              <a:buNone/>
            </a:pPr>
            <a:r>
              <a:rPr lang="en-US" sz="1450" dirty="0">
                <a:solidFill>
                  <a:srgbClr val="5AA9FF"/>
                </a:solidFill>
                <a:latin typeface="Segoe UI Semibold" pitchFamily="34" charset="0"/>
                <a:ea typeface="Segoe UI Semibold" pitchFamily="34" charset="-122"/>
                <a:cs typeface="Segoe UI Semibold" pitchFamily="34" charset="-120"/>
              </a:rPr>
              <a:t>Mesin aturan</a:t>
            </a:r>
            <a:endParaRPr lang="en-US" sz="1450" dirty="0"/>
          </a:p>
        </p:txBody>
      </p:sp>
      <p:sp>
        <p:nvSpPr>
          <p:cNvPr id="15" name="Text 13"/>
          <p:cNvSpPr/>
          <p:nvPr/>
        </p:nvSpPr>
        <p:spPr>
          <a:xfrm>
            <a:off x="5230368" y="2404872"/>
            <a:ext cx="1728216" cy="9601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batas per komoditas · konfirmasi 3 bacaan · prakiraan subuh</a:t>
            </a:r>
            <a:endParaRPr lang="en-US" sz="1150" dirty="0"/>
          </a:p>
        </p:txBody>
      </p:sp>
      <p:sp>
        <p:nvSpPr>
          <p:cNvPr id="16" name="Shape 14"/>
          <p:cNvSpPr/>
          <p:nvPr/>
        </p:nvSpPr>
        <p:spPr>
          <a:xfrm>
            <a:off x="7141464" y="2560320"/>
            <a:ext cx="164592" cy="914"/>
          </a:xfrm>
          <a:prstGeom prst="line">
            <a:avLst/>
          </a:prstGeom>
          <a:noFill/>
          <a:ln w="19050">
            <a:solidFill>
              <a:srgbClr val="86A0A6"/>
            </a:solidFill>
            <a:prstDash val="solid"/>
            <a:tailEnd type="triangle"/>
          </a:ln>
        </p:spPr>
      </p:sp>
      <p:sp>
        <p:nvSpPr>
          <p:cNvPr id="17" name="Shape 15"/>
          <p:cNvSpPr/>
          <p:nvPr/>
        </p:nvSpPr>
        <p:spPr>
          <a:xfrm>
            <a:off x="7324344" y="1691640"/>
            <a:ext cx="2057400" cy="1737360"/>
          </a:xfrm>
          <a:prstGeom prst="roundRect">
            <a:avLst>
              <a:gd name="adj" fmla="val 4737"/>
            </a:avLst>
          </a:prstGeom>
          <a:solidFill>
            <a:srgbClr val="0F2C33"/>
          </a:solidFill>
          <a:ln w="12700">
            <a:solidFill>
              <a:srgbClr val="B39DFF"/>
            </a:solidFill>
            <a:prstDash val="dash"/>
          </a:ln>
        </p:spPr>
      </p:sp>
      <p:sp>
        <p:nvSpPr>
          <p:cNvPr id="18" name="Text 16"/>
          <p:cNvSpPr/>
          <p:nvPr/>
        </p:nvSpPr>
        <p:spPr>
          <a:xfrm>
            <a:off x="7488936" y="1856232"/>
            <a:ext cx="1728216" cy="502920"/>
          </a:xfrm>
          <a:prstGeom prst="rect">
            <a:avLst/>
          </a:prstGeom>
          <a:noFill/>
          <a:ln/>
        </p:spPr>
        <p:txBody>
          <a:bodyPr wrap="square" lIns="0" tIns="0" rIns="0" bIns="0" rtlCol="0" anchor="t"/>
          <a:lstStyle/>
          <a:p>
            <a:pPr indent="0" marL="0">
              <a:buNone/>
            </a:pPr>
            <a:r>
              <a:rPr lang="en-US" sz="1450" dirty="0">
                <a:solidFill>
                  <a:srgbClr val="B39DFF"/>
                </a:solidFill>
                <a:latin typeface="Segoe UI Semibold" pitchFamily="34" charset="0"/>
                <a:ea typeface="Segoe UI Semibold" pitchFamily="34" charset="-122"/>
                <a:cs typeface="Segoe UI Semibold" pitchFamily="34" charset="-120"/>
              </a:rPr>
              <a:t>Basis data</a:t>
            </a:r>
            <a:endParaRPr lang="en-US" sz="1450" dirty="0"/>
          </a:p>
        </p:txBody>
      </p:sp>
      <p:sp>
        <p:nvSpPr>
          <p:cNvPr id="19" name="Text 17"/>
          <p:cNvSpPr/>
          <p:nvPr/>
        </p:nvSpPr>
        <p:spPr>
          <a:xfrm>
            <a:off x="7488936" y="2404872"/>
            <a:ext cx="1728216" cy="9601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open-source · deret waktu sensor + siklus, keuangan, jejak audit</a:t>
            </a:r>
            <a:endParaRPr lang="en-US" sz="1150" dirty="0"/>
          </a:p>
        </p:txBody>
      </p:sp>
      <p:sp>
        <p:nvSpPr>
          <p:cNvPr id="20" name="Shape 18"/>
          <p:cNvSpPr/>
          <p:nvPr/>
        </p:nvSpPr>
        <p:spPr>
          <a:xfrm>
            <a:off x="9400032" y="2560320"/>
            <a:ext cx="164592" cy="914"/>
          </a:xfrm>
          <a:prstGeom prst="line">
            <a:avLst/>
          </a:prstGeom>
          <a:noFill/>
          <a:ln w="19050">
            <a:solidFill>
              <a:srgbClr val="86A0A6"/>
            </a:solidFill>
            <a:prstDash val="solid"/>
            <a:tailEnd type="triangle"/>
          </a:ln>
        </p:spPr>
      </p:sp>
      <p:sp>
        <p:nvSpPr>
          <p:cNvPr id="21" name="Shape 19"/>
          <p:cNvSpPr/>
          <p:nvPr/>
        </p:nvSpPr>
        <p:spPr>
          <a:xfrm>
            <a:off x="9582912" y="1691640"/>
            <a:ext cx="2057400" cy="1737360"/>
          </a:xfrm>
          <a:prstGeom prst="roundRect">
            <a:avLst>
              <a:gd name="adj" fmla="val 4737"/>
            </a:avLst>
          </a:prstGeom>
          <a:solidFill>
            <a:srgbClr val="0F2C33"/>
          </a:solidFill>
          <a:ln w="12700">
            <a:solidFill>
              <a:srgbClr val="FF8A7A"/>
            </a:solidFill>
            <a:prstDash val="solid"/>
          </a:ln>
        </p:spPr>
      </p:sp>
      <p:sp>
        <p:nvSpPr>
          <p:cNvPr id="22" name="Text 20"/>
          <p:cNvSpPr/>
          <p:nvPr/>
        </p:nvSpPr>
        <p:spPr>
          <a:xfrm>
            <a:off x="9747504" y="1856232"/>
            <a:ext cx="1728216" cy="502920"/>
          </a:xfrm>
          <a:prstGeom prst="rect">
            <a:avLst/>
          </a:prstGeom>
          <a:noFill/>
          <a:ln/>
        </p:spPr>
        <p:txBody>
          <a:bodyPr wrap="square" lIns="0" tIns="0" rIns="0" bIns="0" rtlCol="0" anchor="t"/>
          <a:lstStyle/>
          <a:p>
            <a:pPr indent="0" marL="0">
              <a:buNone/>
            </a:pPr>
            <a:r>
              <a:rPr lang="en-US" sz="1450" dirty="0">
                <a:solidFill>
                  <a:srgbClr val="FF8A7A"/>
                </a:solidFill>
                <a:latin typeface="Segoe UI Semibold" pitchFamily="34" charset="0"/>
                <a:ea typeface="Segoe UI Semibold" pitchFamily="34" charset="-122"/>
                <a:cs typeface="Segoe UI Semibold" pitchFamily="34" charset="-120"/>
              </a:rPr>
              <a:t>Aplikasi &amp; notifikasi</a:t>
            </a:r>
            <a:endParaRPr lang="en-US" sz="1450" dirty="0"/>
          </a:p>
        </p:txBody>
      </p:sp>
      <p:sp>
        <p:nvSpPr>
          <p:cNvPr id="23" name="Text 21"/>
          <p:cNvSpPr/>
          <p:nvPr/>
        </p:nvSpPr>
        <p:spPr>
          <a:xfrm>
            <a:off x="9747504" y="2404872"/>
            <a:ext cx="1728216" cy="960120"/>
          </a:xfrm>
          <a:prstGeom prst="rect">
            <a:avLst/>
          </a:prstGeom>
          <a:noFill/>
          <a:ln/>
        </p:spPr>
        <p:txBody>
          <a:bodyPr wrap="square" lIns="0" tIns="0" rIns="0" bIns="0" rtlCol="0" anchor="t"/>
          <a:lstStyle/>
          <a:p>
            <a:pPr indent="0" marL="0">
              <a:buNone/>
            </a:pPr>
            <a:r>
              <a:rPr lang="en-US" sz="1150" dirty="0">
                <a:solidFill>
                  <a:srgbClr val="B9CCD0"/>
                </a:solidFill>
                <a:latin typeface="Segoe UI" pitchFamily="34" charset="0"/>
                <a:ea typeface="Segoe UI" pitchFamily="34" charset="-122"/>
                <a:cs typeface="Segoe UI" pitchFamily="34" charset="-120"/>
              </a:rPr>
              <a:t>Neopond · lima peran · GIS kolam → nasional</a:t>
            </a:r>
            <a:endParaRPr lang="en-US" sz="1150" dirty="0"/>
          </a:p>
        </p:txBody>
      </p:sp>
      <p:sp>
        <p:nvSpPr>
          <p:cNvPr id="24" name="Shape 22"/>
          <p:cNvSpPr/>
          <p:nvPr/>
        </p:nvSpPr>
        <p:spPr>
          <a:xfrm>
            <a:off x="2807208" y="3886200"/>
            <a:ext cx="2057400" cy="777240"/>
          </a:xfrm>
          <a:prstGeom prst="roundRect">
            <a:avLst>
              <a:gd name="adj" fmla="val 10588"/>
            </a:avLst>
          </a:prstGeom>
          <a:solidFill>
            <a:srgbClr val="0F2C33"/>
          </a:solidFill>
          <a:ln w="12700">
            <a:solidFill>
              <a:srgbClr val="24505A"/>
            </a:solidFill>
            <a:prstDash val="solid"/>
          </a:ln>
        </p:spPr>
      </p:sp>
      <p:sp>
        <p:nvSpPr>
          <p:cNvPr id="25" name="Shape 23"/>
          <p:cNvSpPr/>
          <p:nvPr/>
        </p:nvSpPr>
        <p:spPr>
          <a:xfrm>
            <a:off x="2807208" y="4014216"/>
            <a:ext cx="54864" cy="521208"/>
          </a:xfrm>
          <a:prstGeom prst="rect">
            <a:avLst/>
          </a:prstGeom>
          <a:solidFill>
            <a:srgbClr val="FFB347"/>
          </a:solidFill>
          <a:ln w="12700">
            <a:solidFill>
              <a:srgbClr val="FFB347"/>
            </a:solidFill>
            <a:prstDash val="solid"/>
          </a:ln>
        </p:spPr>
      </p:sp>
      <p:sp>
        <p:nvSpPr>
          <p:cNvPr id="26" name="Text 24"/>
          <p:cNvSpPr/>
          <p:nvPr/>
        </p:nvSpPr>
        <p:spPr>
          <a:xfrm>
            <a:off x="3017520" y="3959352"/>
            <a:ext cx="1783080" cy="640080"/>
          </a:xfrm>
          <a:prstGeom prst="rect">
            <a:avLst/>
          </a:prstGeom>
          <a:noFill/>
          <a:ln/>
        </p:spPr>
        <p:txBody>
          <a:bodyPr wrap="square" lIns="0" tIns="0" rIns="0" bIns="0" rtlCol="0" anchor="t"/>
          <a:lstStyle/>
          <a:p>
            <a:pPr indent="0" marL="0">
              <a:buNone/>
            </a:pPr>
            <a:r>
              <a:rPr lang="en-US" sz="1150" b="1" dirty="0">
                <a:solidFill>
                  <a:srgbClr val="FFB347"/>
                </a:solidFill>
                <a:latin typeface="Segoe UI" pitchFamily="34" charset="0"/>
                <a:ea typeface="Segoe UI" pitchFamily="34" charset="-122"/>
                <a:cs typeface="Segoe UI" pitchFamily="34" charset="-120"/>
              </a:rPr>
              <a:t>BMKG</a:t>
            </a:r>
            <a:endParaRPr lang="en-US" sz="1150" dirty="0"/>
          </a:p>
          <a:p>
            <a:pPr indent="0" marL="0">
              <a:buNone/>
            </a:pPr>
            <a:r>
              <a:rPr lang="en-US" sz="1150" dirty="0">
                <a:solidFill>
                  <a:srgbClr val="B9CCD0"/>
                </a:solidFill>
                <a:latin typeface="Segoe UI" pitchFamily="34" charset="0"/>
                <a:ea typeface="Segoe UI" pitchFamily="34" charset="-122"/>
                <a:cs typeface="Segoe UI" pitchFamily="34" charset="-120"/>
              </a:rPr>
              <a:t>prakiraan cuaca → DO subuh</a:t>
            </a:r>
            <a:endParaRPr lang="en-US" sz="1150" dirty="0"/>
          </a:p>
        </p:txBody>
      </p:sp>
      <p:sp>
        <p:nvSpPr>
          <p:cNvPr id="27" name="Shape 25"/>
          <p:cNvSpPr/>
          <p:nvPr/>
        </p:nvSpPr>
        <p:spPr>
          <a:xfrm flipV="1">
            <a:off x="4901184" y="3474720"/>
            <a:ext cx="265176" cy="795528"/>
          </a:xfrm>
          <a:prstGeom prst="line">
            <a:avLst/>
          </a:prstGeom>
          <a:noFill/>
          <a:ln w="19050">
            <a:solidFill>
              <a:srgbClr val="FFB347"/>
            </a:solidFill>
            <a:prstDash val="dash"/>
            <a:tailEnd type="triangle"/>
          </a:ln>
        </p:spPr>
      </p:sp>
      <p:sp>
        <p:nvSpPr>
          <p:cNvPr id="28" name="Shape 26"/>
          <p:cNvSpPr/>
          <p:nvPr/>
        </p:nvSpPr>
        <p:spPr>
          <a:xfrm>
            <a:off x="7324344" y="3886200"/>
            <a:ext cx="4315968" cy="777240"/>
          </a:xfrm>
          <a:prstGeom prst="roundRect">
            <a:avLst>
              <a:gd name="adj" fmla="val 10588"/>
            </a:avLst>
          </a:prstGeom>
          <a:solidFill>
            <a:srgbClr val="0F2C33"/>
          </a:solidFill>
          <a:ln w="12700">
            <a:solidFill>
              <a:srgbClr val="24505A"/>
            </a:solidFill>
            <a:prstDash val="solid"/>
          </a:ln>
        </p:spPr>
      </p:sp>
      <p:sp>
        <p:nvSpPr>
          <p:cNvPr id="29" name="Shape 27"/>
          <p:cNvSpPr/>
          <p:nvPr/>
        </p:nvSpPr>
        <p:spPr>
          <a:xfrm>
            <a:off x="7324344" y="4014216"/>
            <a:ext cx="54864" cy="521208"/>
          </a:xfrm>
          <a:prstGeom prst="rect">
            <a:avLst/>
          </a:prstGeom>
          <a:solidFill>
            <a:srgbClr val="5EE6B0"/>
          </a:solidFill>
          <a:ln w="12700">
            <a:solidFill>
              <a:srgbClr val="5EE6B0"/>
            </a:solidFill>
            <a:prstDash val="solid"/>
          </a:ln>
        </p:spPr>
      </p:sp>
      <p:sp>
        <p:nvSpPr>
          <p:cNvPr id="30" name="Text 28"/>
          <p:cNvSpPr/>
          <p:nvPr/>
        </p:nvSpPr>
        <p:spPr>
          <a:xfrm>
            <a:off x="7534656" y="3959352"/>
            <a:ext cx="4023360" cy="640080"/>
          </a:xfrm>
          <a:prstGeom prst="rect">
            <a:avLst/>
          </a:prstGeom>
          <a:noFill/>
          <a:ln/>
        </p:spPr>
        <p:txBody>
          <a:bodyPr wrap="square" lIns="0" tIns="0" rIns="0" bIns="0" rtlCol="0" anchor="t"/>
          <a:lstStyle/>
          <a:p>
            <a:pPr indent="0" marL="0">
              <a:buNone/>
            </a:pPr>
            <a:r>
              <a:rPr lang="en-US" sz="1150" b="1" dirty="0">
                <a:solidFill>
                  <a:srgbClr val="5EE6B0"/>
                </a:solidFill>
                <a:latin typeface="Segoe UI" pitchFamily="34" charset="0"/>
                <a:ea typeface="Segoe UI" pitchFamily="34" charset="-122"/>
                <a:cs typeface="Segoe UI" pitchFamily="34" charset="-120"/>
              </a:rPr>
              <a:t>STELINA · SICEKATAN · Satu Data</a:t>
            </a:r>
            <a:endParaRPr lang="en-US" sz="1150" dirty="0"/>
          </a:p>
          <a:p>
            <a:pPr indent="0" marL="0">
              <a:buNone/>
            </a:pPr>
            <a:r>
              <a:rPr lang="en-US" sz="1150" dirty="0">
                <a:solidFill>
                  <a:srgbClr val="B9CCD0"/>
                </a:solidFill>
                <a:latin typeface="Segoe UI" pitchFamily="34" charset="0"/>
                <a:ea typeface="Segoe UI" pitchFamily="34" charset="-122"/>
                <a:cs typeface="Segoe UI" pitchFamily="34" charset="-120"/>
              </a:rPr>
              <a:t>API terbuka &amp; event — melengkapi, bukan menggantikan</a:t>
            </a:r>
            <a:endParaRPr lang="en-US" sz="1150" dirty="0"/>
          </a:p>
        </p:txBody>
      </p:sp>
      <p:sp>
        <p:nvSpPr>
          <p:cNvPr id="31" name="Shape 29"/>
          <p:cNvSpPr/>
          <p:nvPr/>
        </p:nvSpPr>
        <p:spPr>
          <a:xfrm>
            <a:off x="7863840" y="3474720"/>
            <a:ext cx="274320" cy="384048"/>
          </a:xfrm>
          <a:prstGeom prst="line">
            <a:avLst/>
          </a:prstGeom>
          <a:noFill/>
          <a:ln w="19050">
            <a:solidFill>
              <a:srgbClr val="5EE6B0"/>
            </a:solidFill>
            <a:prstDash val="dash"/>
            <a:tailEnd type="triangle"/>
          </a:ln>
        </p:spPr>
      </p:sp>
      <p:sp>
        <p:nvSpPr>
          <p:cNvPr id="32" name="Shape 30"/>
          <p:cNvSpPr/>
          <p:nvPr/>
        </p:nvSpPr>
        <p:spPr>
          <a:xfrm>
            <a:off x="548640" y="4937760"/>
            <a:ext cx="11091672" cy="960120"/>
          </a:xfrm>
          <a:prstGeom prst="roundRect">
            <a:avLst>
              <a:gd name="adj" fmla="val 8571"/>
            </a:avLst>
          </a:prstGeom>
          <a:solidFill>
            <a:srgbClr val="133A43"/>
          </a:solidFill>
          <a:ln w="12700">
            <a:solidFill>
              <a:srgbClr val="24505A"/>
            </a:solidFill>
            <a:prstDash val="solid"/>
          </a:ln>
        </p:spPr>
      </p:sp>
      <p:sp>
        <p:nvSpPr>
          <p:cNvPr id="33" name="Shape 31"/>
          <p:cNvSpPr/>
          <p:nvPr/>
        </p:nvSpPr>
        <p:spPr>
          <a:xfrm>
            <a:off x="548640" y="5065776"/>
            <a:ext cx="54864" cy="704088"/>
          </a:xfrm>
          <a:prstGeom prst="rect">
            <a:avLst/>
          </a:prstGeom>
          <a:solidFill>
            <a:srgbClr val="FF8A7A"/>
          </a:solidFill>
          <a:ln w="12700">
            <a:solidFill>
              <a:srgbClr val="FF8A7A"/>
            </a:solidFill>
            <a:prstDash val="solid"/>
          </a:ln>
        </p:spPr>
      </p:sp>
      <p:sp>
        <p:nvSpPr>
          <p:cNvPr id="34" name="Text 32"/>
          <p:cNvSpPr/>
          <p:nvPr/>
        </p:nvSpPr>
        <p:spPr>
          <a:xfrm>
            <a:off x="822960" y="5029200"/>
            <a:ext cx="10607040" cy="777240"/>
          </a:xfrm>
          <a:prstGeom prst="rect">
            <a:avLst/>
          </a:prstGeom>
          <a:noFill/>
          <a:ln/>
        </p:spPr>
        <p:txBody>
          <a:bodyPr wrap="square" lIns="0" tIns="0" rIns="0" bIns="0" rtlCol="0" anchor="ctr"/>
          <a:lstStyle/>
          <a:p>
            <a:pPr indent="0" marL="0">
              <a:buNone/>
            </a:pPr>
            <a:r>
              <a:rPr lang="en-US" sz="1250" b="1" dirty="0">
                <a:solidFill>
                  <a:srgbClr val="FF8A7A"/>
                </a:solidFill>
                <a:latin typeface="Segoe UI" pitchFamily="34" charset="0"/>
                <a:ea typeface="Segoe UI" pitchFamily="34" charset="-122"/>
                <a:cs typeface="Segoe UI" pitchFamily="34" charset="-120"/>
              </a:rPr>
              <a:t>Keamanan  </a:t>
            </a:r>
            <a:pPr indent="0" marL="0">
              <a:buNone/>
            </a:pPr>
            <a:r>
              <a:rPr lang="en-US" sz="1250" dirty="0">
                <a:solidFill>
                  <a:srgbClr val="EAF3F4"/>
                </a:solidFill>
                <a:latin typeface="Segoe UI" pitchFamily="34" charset="0"/>
                <a:ea typeface="Segoe UI" pitchFamily="34" charset="-122"/>
                <a:cs typeface="Segoe UI" pitchFamily="34" charset="-120"/>
              </a:rPr>
              <a:t>hosting di Indonesia · VPN/zero-trust sesuai BSSN · TLS + sertifikat per perangkat · akses per peran · override wajib alasan · jejak audit · update perangkat jarak jauh (OTA)</a:t>
            </a:r>
            <a:endParaRPr lang="en-US" sz="1250" dirty="0"/>
          </a:p>
        </p:txBody>
      </p:sp>
      <p:sp>
        <p:nvSpPr>
          <p:cNvPr id="35" name="Text 33"/>
          <p:cNvSpPr/>
          <p:nvPr/>
        </p:nvSpPr>
        <p:spPr>
          <a:xfrm>
            <a:off x="548640" y="6053328"/>
            <a:ext cx="10972800" cy="274320"/>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Garis putus-putus = belum dibangun (Fase 1). Logika gerbang mutu dan mesin aturan sudah berjalan di prototipe aplikasi.</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9</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3FD0D4"/>
                </a:solidFill>
                <a:latin typeface="Segoe UI" pitchFamily="34" charset="0"/>
                <a:ea typeface="Segoe UI" pitchFamily="34" charset="-122"/>
                <a:cs typeface="Segoe UI" pitchFamily="34" charset="-120"/>
              </a:rPr>
              <a:t>ALUR DATA &amp; KENDALI</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Dua kecepatan: keselamatan dalam detik, manajemen dalam menit</a:t>
            </a:r>
            <a:endParaRPr lang="en-US" sz="2700" dirty="0"/>
          </a:p>
        </p:txBody>
      </p:sp>
      <p:sp>
        <p:nvSpPr>
          <p:cNvPr id="5" name="Shape 3"/>
          <p:cNvSpPr/>
          <p:nvPr/>
        </p:nvSpPr>
        <p:spPr>
          <a:xfrm>
            <a:off x="548640" y="1463040"/>
            <a:ext cx="5440680" cy="2514600"/>
          </a:xfrm>
          <a:prstGeom prst="roundRect">
            <a:avLst>
              <a:gd name="adj" fmla="val 3273"/>
            </a:avLst>
          </a:prstGeom>
          <a:solidFill>
            <a:srgbClr val="0F2C33"/>
          </a:solidFill>
          <a:ln w="12700">
            <a:solidFill>
              <a:srgbClr val="FFB347"/>
            </a:solidFill>
            <a:prstDash val="solid"/>
          </a:ln>
        </p:spPr>
      </p:sp>
      <p:sp>
        <p:nvSpPr>
          <p:cNvPr id="6" name="Text 4"/>
          <p:cNvSpPr/>
          <p:nvPr/>
        </p:nvSpPr>
        <p:spPr>
          <a:xfrm>
            <a:off x="777240" y="1600200"/>
            <a:ext cx="4937760" cy="292608"/>
          </a:xfrm>
          <a:prstGeom prst="rect">
            <a:avLst/>
          </a:prstGeom>
          <a:noFill/>
          <a:ln/>
        </p:spPr>
        <p:txBody>
          <a:bodyPr wrap="square" lIns="0" tIns="0" rIns="0" bIns="0" rtlCol="0" anchor="t"/>
          <a:lstStyle/>
          <a:p>
            <a:pPr indent="0" marL="0">
              <a:buNone/>
            </a:pPr>
            <a:r>
              <a:rPr lang="en-US" sz="1500" dirty="0">
                <a:solidFill>
                  <a:srgbClr val="FFB347"/>
                </a:solidFill>
                <a:latin typeface="Segoe UI Semibold" pitchFamily="34" charset="0"/>
                <a:ea typeface="Segoe UI Semibold" pitchFamily="34" charset="-122"/>
                <a:cs typeface="Segoe UI Semibold" pitchFamily="34" charset="-120"/>
              </a:rPr>
              <a:t>Putaran lokal · setiap siklus polling</a:t>
            </a:r>
            <a:endParaRPr lang="en-US" sz="1500" dirty="0"/>
          </a:p>
        </p:txBody>
      </p:sp>
      <p:sp>
        <p:nvSpPr>
          <p:cNvPr id="7" name="Text 5"/>
          <p:cNvSpPr/>
          <p:nvPr/>
        </p:nvSpPr>
        <p:spPr>
          <a:xfrm>
            <a:off x="777240" y="1901952"/>
            <a:ext cx="4937760" cy="256032"/>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di lokasi · tanpa internet</a:t>
            </a:r>
            <a:endParaRPr lang="en-US" sz="1100" dirty="0"/>
          </a:p>
        </p:txBody>
      </p:sp>
      <p:sp>
        <p:nvSpPr>
          <p:cNvPr id="8" name="Shape 6"/>
          <p:cNvSpPr/>
          <p:nvPr/>
        </p:nvSpPr>
        <p:spPr>
          <a:xfrm>
            <a:off x="777240" y="2331720"/>
            <a:ext cx="1463040" cy="530352"/>
          </a:xfrm>
          <a:prstGeom prst="roundRect">
            <a:avLst>
              <a:gd name="adj" fmla="val 10345"/>
            </a:avLst>
          </a:prstGeom>
          <a:solidFill>
            <a:srgbClr val="133A43"/>
          </a:solidFill>
          <a:ln w="12700">
            <a:solidFill>
              <a:srgbClr val="FFB347"/>
            </a:solidFill>
            <a:prstDash val="solid"/>
          </a:ln>
        </p:spPr>
      </p:sp>
      <p:sp>
        <p:nvSpPr>
          <p:cNvPr id="9" name="Text 7"/>
          <p:cNvSpPr/>
          <p:nvPr/>
        </p:nvSpPr>
        <p:spPr>
          <a:xfrm>
            <a:off x="777240" y="233172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Sensor</a:t>
            </a:r>
            <a:endParaRPr lang="en-US" sz="1100" dirty="0"/>
          </a:p>
        </p:txBody>
      </p:sp>
      <p:sp>
        <p:nvSpPr>
          <p:cNvPr id="10" name="Shape 8"/>
          <p:cNvSpPr/>
          <p:nvPr/>
        </p:nvSpPr>
        <p:spPr>
          <a:xfrm>
            <a:off x="2258568" y="2596896"/>
            <a:ext cx="219456" cy="914"/>
          </a:xfrm>
          <a:prstGeom prst="line">
            <a:avLst/>
          </a:prstGeom>
          <a:noFill/>
          <a:ln w="19050">
            <a:solidFill>
              <a:srgbClr val="86A0A6"/>
            </a:solidFill>
            <a:prstDash val="solid"/>
            <a:tailEnd type="triangle"/>
          </a:ln>
        </p:spPr>
      </p:sp>
      <p:sp>
        <p:nvSpPr>
          <p:cNvPr id="11" name="Shape 9"/>
          <p:cNvSpPr/>
          <p:nvPr/>
        </p:nvSpPr>
        <p:spPr>
          <a:xfrm>
            <a:off x="2496312" y="2331720"/>
            <a:ext cx="1463040" cy="530352"/>
          </a:xfrm>
          <a:prstGeom prst="roundRect">
            <a:avLst>
              <a:gd name="adj" fmla="val 10345"/>
            </a:avLst>
          </a:prstGeom>
          <a:solidFill>
            <a:srgbClr val="133A43"/>
          </a:solidFill>
          <a:ln w="12700">
            <a:solidFill>
              <a:srgbClr val="FFB347"/>
            </a:solidFill>
            <a:prstDash val="solid"/>
          </a:ln>
        </p:spPr>
      </p:sp>
      <p:sp>
        <p:nvSpPr>
          <p:cNvPr id="12" name="Text 10"/>
          <p:cNvSpPr/>
          <p:nvPr/>
        </p:nvSpPr>
        <p:spPr>
          <a:xfrm>
            <a:off x="2496312" y="233172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Edge menilai</a:t>
            </a:r>
            <a:endParaRPr lang="en-US" sz="1100" dirty="0"/>
          </a:p>
        </p:txBody>
      </p:sp>
      <p:sp>
        <p:nvSpPr>
          <p:cNvPr id="13" name="Shape 11"/>
          <p:cNvSpPr/>
          <p:nvPr/>
        </p:nvSpPr>
        <p:spPr>
          <a:xfrm>
            <a:off x="3977640" y="2596896"/>
            <a:ext cx="219456" cy="914"/>
          </a:xfrm>
          <a:prstGeom prst="line">
            <a:avLst/>
          </a:prstGeom>
          <a:noFill/>
          <a:ln w="19050">
            <a:solidFill>
              <a:srgbClr val="86A0A6"/>
            </a:solidFill>
            <a:prstDash val="solid"/>
            <a:tailEnd type="triangle"/>
          </a:ln>
        </p:spPr>
      </p:sp>
      <p:sp>
        <p:nvSpPr>
          <p:cNvPr id="14" name="Shape 12"/>
          <p:cNvSpPr/>
          <p:nvPr/>
        </p:nvSpPr>
        <p:spPr>
          <a:xfrm>
            <a:off x="4215384" y="2331720"/>
            <a:ext cx="1463040" cy="530352"/>
          </a:xfrm>
          <a:prstGeom prst="roundRect">
            <a:avLst>
              <a:gd name="adj" fmla="val 10345"/>
            </a:avLst>
          </a:prstGeom>
          <a:solidFill>
            <a:srgbClr val="133A43"/>
          </a:solidFill>
          <a:ln w="12700">
            <a:solidFill>
              <a:srgbClr val="FFB347"/>
            </a:solidFill>
            <a:prstDash val="solid"/>
          </a:ln>
        </p:spPr>
      </p:sp>
      <p:sp>
        <p:nvSpPr>
          <p:cNvPr id="15" name="Text 13"/>
          <p:cNvSpPr/>
          <p:nvPr/>
        </p:nvSpPr>
        <p:spPr>
          <a:xfrm>
            <a:off x="4215384" y="233172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Modul I/O</a:t>
            </a:r>
            <a:endParaRPr lang="en-US" sz="1100" dirty="0"/>
          </a:p>
        </p:txBody>
      </p:sp>
      <p:sp>
        <p:nvSpPr>
          <p:cNvPr id="16" name="Shape 14"/>
          <p:cNvSpPr/>
          <p:nvPr/>
        </p:nvSpPr>
        <p:spPr>
          <a:xfrm>
            <a:off x="4215384" y="3108960"/>
            <a:ext cx="1463040" cy="530352"/>
          </a:xfrm>
          <a:prstGeom prst="roundRect">
            <a:avLst>
              <a:gd name="adj" fmla="val 10345"/>
            </a:avLst>
          </a:prstGeom>
          <a:solidFill>
            <a:srgbClr val="133A43"/>
          </a:solidFill>
          <a:ln w="12700">
            <a:solidFill>
              <a:srgbClr val="FFB347"/>
            </a:solidFill>
            <a:prstDash val="solid"/>
          </a:ln>
        </p:spPr>
      </p:sp>
      <p:sp>
        <p:nvSpPr>
          <p:cNvPr id="17" name="Text 15"/>
          <p:cNvSpPr/>
          <p:nvPr/>
        </p:nvSpPr>
        <p:spPr>
          <a:xfrm>
            <a:off x="4215384" y="310896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Aerator ON</a:t>
            </a:r>
            <a:endParaRPr lang="en-US" sz="1100" dirty="0"/>
          </a:p>
        </p:txBody>
      </p:sp>
      <p:sp>
        <p:nvSpPr>
          <p:cNvPr id="18" name="Shape 16"/>
          <p:cNvSpPr/>
          <p:nvPr/>
        </p:nvSpPr>
        <p:spPr>
          <a:xfrm flipH="1">
            <a:off x="3977640" y="3374136"/>
            <a:ext cx="219456" cy="914"/>
          </a:xfrm>
          <a:prstGeom prst="line">
            <a:avLst/>
          </a:prstGeom>
          <a:noFill/>
          <a:ln w="19050">
            <a:solidFill>
              <a:srgbClr val="86A0A6"/>
            </a:solidFill>
            <a:prstDash val="solid"/>
            <a:tailEnd type="triangle"/>
          </a:ln>
        </p:spPr>
      </p:sp>
      <p:sp>
        <p:nvSpPr>
          <p:cNvPr id="19" name="Shape 17"/>
          <p:cNvSpPr/>
          <p:nvPr/>
        </p:nvSpPr>
        <p:spPr>
          <a:xfrm>
            <a:off x="2496312" y="3108960"/>
            <a:ext cx="1463040" cy="530352"/>
          </a:xfrm>
          <a:prstGeom prst="roundRect">
            <a:avLst>
              <a:gd name="adj" fmla="val 10345"/>
            </a:avLst>
          </a:prstGeom>
          <a:solidFill>
            <a:srgbClr val="133A43"/>
          </a:solidFill>
          <a:ln w="12700">
            <a:solidFill>
              <a:srgbClr val="FFB347"/>
            </a:solidFill>
            <a:prstDash val="solid"/>
          </a:ln>
        </p:spPr>
      </p:sp>
      <p:sp>
        <p:nvSpPr>
          <p:cNvPr id="20" name="Text 18"/>
          <p:cNvSpPr/>
          <p:nvPr/>
        </p:nvSpPr>
        <p:spPr>
          <a:xfrm>
            <a:off x="2496312" y="310896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Sinyal balik</a:t>
            </a:r>
            <a:endParaRPr lang="en-US" sz="1100" dirty="0"/>
          </a:p>
        </p:txBody>
      </p:sp>
      <p:sp>
        <p:nvSpPr>
          <p:cNvPr id="21" name="Shape 19"/>
          <p:cNvSpPr/>
          <p:nvPr/>
        </p:nvSpPr>
        <p:spPr>
          <a:xfrm flipH="1">
            <a:off x="2258568" y="3374136"/>
            <a:ext cx="219456" cy="914"/>
          </a:xfrm>
          <a:prstGeom prst="line">
            <a:avLst/>
          </a:prstGeom>
          <a:noFill/>
          <a:ln w="19050">
            <a:solidFill>
              <a:srgbClr val="86A0A6"/>
            </a:solidFill>
            <a:prstDash val="solid"/>
            <a:tailEnd type="triangle"/>
          </a:ln>
        </p:spPr>
      </p:sp>
      <p:sp>
        <p:nvSpPr>
          <p:cNvPr id="22" name="Shape 20"/>
          <p:cNvSpPr/>
          <p:nvPr/>
        </p:nvSpPr>
        <p:spPr>
          <a:xfrm>
            <a:off x="777240" y="3108960"/>
            <a:ext cx="1463040" cy="530352"/>
          </a:xfrm>
          <a:prstGeom prst="roundRect">
            <a:avLst>
              <a:gd name="adj" fmla="val 10345"/>
            </a:avLst>
          </a:prstGeom>
          <a:solidFill>
            <a:srgbClr val="133A43"/>
          </a:solidFill>
          <a:ln w="12700">
            <a:solidFill>
              <a:srgbClr val="FFB347"/>
            </a:solidFill>
            <a:prstDash val="solid"/>
          </a:ln>
        </p:spPr>
      </p:sp>
      <p:sp>
        <p:nvSpPr>
          <p:cNvPr id="23" name="Text 21"/>
          <p:cNvSpPr/>
          <p:nvPr/>
        </p:nvSpPr>
        <p:spPr>
          <a:xfrm>
            <a:off x="777240" y="310896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Edge: alat benar jalan?</a:t>
            </a:r>
            <a:endParaRPr lang="en-US" sz="1100" dirty="0"/>
          </a:p>
        </p:txBody>
      </p:sp>
      <p:sp>
        <p:nvSpPr>
          <p:cNvPr id="24" name="Shape 22"/>
          <p:cNvSpPr/>
          <p:nvPr/>
        </p:nvSpPr>
        <p:spPr>
          <a:xfrm>
            <a:off x="4946904" y="2880360"/>
            <a:ext cx="914" cy="210312"/>
          </a:xfrm>
          <a:prstGeom prst="line">
            <a:avLst/>
          </a:prstGeom>
          <a:noFill/>
          <a:ln w="19050">
            <a:solidFill>
              <a:srgbClr val="86A0A6"/>
            </a:solidFill>
            <a:prstDash val="solid"/>
            <a:tailEnd type="triangle"/>
          </a:ln>
        </p:spPr>
      </p:sp>
      <p:sp>
        <p:nvSpPr>
          <p:cNvPr id="25" name="Shape 23"/>
          <p:cNvSpPr/>
          <p:nvPr/>
        </p:nvSpPr>
        <p:spPr>
          <a:xfrm>
            <a:off x="6199632" y="1463040"/>
            <a:ext cx="5440680" cy="2514600"/>
          </a:xfrm>
          <a:prstGeom prst="roundRect">
            <a:avLst>
              <a:gd name="adj" fmla="val 3273"/>
            </a:avLst>
          </a:prstGeom>
          <a:solidFill>
            <a:srgbClr val="0F2C33"/>
          </a:solidFill>
          <a:ln w="12700">
            <a:solidFill>
              <a:srgbClr val="5AA9FF"/>
            </a:solidFill>
            <a:prstDash val="solid"/>
          </a:ln>
        </p:spPr>
      </p:sp>
      <p:sp>
        <p:nvSpPr>
          <p:cNvPr id="26" name="Text 24"/>
          <p:cNvSpPr/>
          <p:nvPr/>
        </p:nvSpPr>
        <p:spPr>
          <a:xfrm>
            <a:off x="6428232" y="1600200"/>
            <a:ext cx="4937760" cy="292608"/>
          </a:xfrm>
          <a:prstGeom prst="rect">
            <a:avLst/>
          </a:prstGeom>
          <a:noFill/>
          <a:ln/>
        </p:spPr>
        <p:txBody>
          <a:bodyPr wrap="square" lIns="0" tIns="0" rIns="0" bIns="0" rtlCol="0" anchor="t"/>
          <a:lstStyle/>
          <a:p>
            <a:pPr indent="0" marL="0">
              <a:buNone/>
            </a:pPr>
            <a:r>
              <a:rPr lang="en-US" sz="1500" dirty="0">
                <a:solidFill>
                  <a:srgbClr val="5AA9FF"/>
                </a:solidFill>
                <a:latin typeface="Segoe UI Semibold" pitchFamily="34" charset="0"/>
                <a:ea typeface="Segoe UI Semibold" pitchFamily="34" charset="-122"/>
                <a:cs typeface="Segoe UI Semibold" pitchFamily="34" charset="-120"/>
              </a:rPr>
              <a:t>Putaran cloud · menit sampai hari</a:t>
            </a:r>
            <a:endParaRPr lang="en-US" sz="1500" dirty="0"/>
          </a:p>
        </p:txBody>
      </p:sp>
      <p:sp>
        <p:nvSpPr>
          <p:cNvPr id="27" name="Text 25"/>
          <p:cNvSpPr/>
          <p:nvPr/>
        </p:nvSpPr>
        <p:spPr>
          <a:xfrm>
            <a:off x="6428232" y="1901952"/>
            <a:ext cx="4937760" cy="256032"/>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lewat 4G · tercatat</a:t>
            </a:r>
            <a:endParaRPr lang="en-US" sz="1100" dirty="0"/>
          </a:p>
        </p:txBody>
      </p:sp>
      <p:sp>
        <p:nvSpPr>
          <p:cNvPr id="28" name="Shape 26"/>
          <p:cNvSpPr/>
          <p:nvPr/>
        </p:nvSpPr>
        <p:spPr>
          <a:xfrm>
            <a:off x="6428232" y="2331720"/>
            <a:ext cx="1463040" cy="530352"/>
          </a:xfrm>
          <a:prstGeom prst="roundRect">
            <a:avLst>
              <a:gd name="adj" fmla="val 10345"/>
            </a:avLst>
          </a:prstGeom>
          <a:solidFill>
            <a:srgbClr val="133A43"/>
          </a:solidFill>
          <a:ln w="12700">
            <a:solidFill>
              <a:srgbClr val="5AA9FF"/>
            </a:solidFill>
            <a:prstDash val="solid"/>
          </a:ln>
        </p:spPr>
      </p:sp>
      <p:sp>
        <p:nvSpPr>
          <p:cNvPr id="29" name="Text 27"/>
          <p:cNvSpPr/>
          <p:nvPr/>
        </p:nvSpPr>
        <p:spPr>
          <a:xfrm>
            <a:off x="6428232" y="233172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Kirim data</a:t>
            </a:r>
            <a:endParaRPr lang="en-US" sz="1100" dirty="0"/>
          </a:p>
        </p:txBody>
      </p:sp>
      <p:sp>
        <p:nvSpPr>
          <p:cNvPr id="30" name="Shape 28"/>
          <p:cNvSpPr/>
          <p:nvPr/>
        </p:nvSpPr>
        <p:spPr>
          <a:xfrm>
            <a:off x="7909560" y="2596896"/>
            <a:ext cx="219456" cy="914"/>
          </a:xfrm>
          <a:prstGeom prst="line">
            <a:avLst/>
          </a:prstGeom>
          <a:noFill/>
          <a:ln w="19050">
            <a:solidFill>
              <a:srgbClr val="86A0A6"/>
            </a:solidFill>
            <a:prstDash val="solid"/>
            <a:tailEnd type="triangle"/>
          </a:ln>
        </p:spPr>
      </p:sp>
      <p:sp>
        <p:nvSpPr>
          <p:cNvPr id="31" name="Shape 29"/>
          <p:cNvSpPr/>
          <p:nvPr/>
        </p:nvSpPr>
        <p:spPr>
          <a:xfrm>
            <a:off x="8147304" y="2331720"/>
            <a:ext cx="1463040" cy="530352"/>
          </a:xfrm>
          <a:prstGeom prst="roundRect">
            <a:avLst>
              <a:gd name="adj" fmla="val 10345"/>
            </a:avLst>
          </a:prstGeom>
          <a:solidFill>
            <a:srgbClr val="133A43"/>
          </a:solidFill>
          <a:ln w="12700">
            <a:solidFill>
              <a:srgbClr val="5AA9FF"/>
            </a:solidFill>
            <a:prstDash val="solid"/>
          </a:ln>
        </p:spPr>
      </p:sp>
      <p:sp>
        <p:nvSpPr>
          <p:cNvPr id="32" name="Text 30"/>
          <p:cNvSpPr/>
          <p:nvPr/>
        </p:nvSpPr>
        <p:spPr>
          <a:xfrm>
            <a:off x="8147304" y="233172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Cek mutu</a:t>
            </a:r>
            <a:endParaRPr lang="en-US" sz="1100" dirty="0"/>
          </a:p>
        </p:txBody>
      </p:sp>
      <p:sp>
        <p:nvSpPr>
          <p:cNvPr id="33" name="Shape 31"/>
          <p:cNvSpPr/>
          <p:nvPr/>
        </p:nvSpPr>
        <p:spPr>
          <a:xfrm>
            <a:off x="9628632" y="2596896"/>
            <a:ext cx="219456" cy="914"/>
          </a:xfrm>
          <a:prstGeom prst="line">
            <a:avLst/>
          </a:prstGeom>
          <a:noFill/>
          <a:ln w="19050">
            <a:solidFill>
              <a:srgbClr val="86A0A6"/>
            </a:solidFill>
            <a:prstDash val="solid"/>
            <a:tailEnd type="triangle"/>
          </a:ln>
        </p:spPr>
      </p:sp>
      <p:sp>
        <p:nvSpPr>
          <p:cNvPr id="34" name="Shape 32"/>
          <p:cNvSpPr/>
          <p:nvPr/>
        </p:nvSpPr>
        <p:spPr>
          <a:xfrm>
            <a:off x="9866376" y="2331720"/>
            <a:ext cx="1463040" cy="530352"/>
          </a:xfrm>
          <a:prstGeom prst="roundRect">
            <a:avLst>
              <a:gd name="adj" fmla="val 10345"/>
            </a:avLst>
          </a:prstGeom>
          <a:solidFill>
            <a:srgbClr val="133A43"/>
          </a:solidFill>
          <a:ln w="12700">
            <a:solidFill>
              <a:srgbClr val="5AA9FF"/>
            </a:solidFill>
            <a:prstDash val="solid"/>
          </a:ln>
        </p:spPr>
      </p:sp>
      <p:sp>
        <p:nvSpPr>
          <p:cNvPr id="35" name="Text 33"/>
          <p:cNvSpPr/>
          <p:nvPr/>
        </p:nvSpPr>
        <p:spPr>
          <a:xfrm>
            <a:off x="9866376" y="233172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Aturan</a:t>
            </a:r>
            <a:endParaRPr lang="en-US" sz="1100" dirty="0"/>
          </a:p>
        </p:txBody>
      </p:sp>
      <p:sp>
        <p:nvSpPr>
          <p:cNvPr id="36" name="Shape 34"/>
          <p:cNvSpPr/>
          <p:nvPr/>
        </p:nvSpPr>
        <p:spPr>
          <a:xfrm>
            <a:off x="9866376" y="3108960"/>
            <a:ext cx="1463040" cy="530352"/>
          </a:xfrm>
          <a:prstGeom prst="roundRect">
            <a:avLst>
              <a:gd name="adj" fmla="val 10345"/>
            </a:avLst>
          </a:prstGeom>
          <a:solidFill>
            <a:srgbClr val="133A43"/>
          </a:solidFill>
          <a:ln w="12700">
            <a:solidFill>
              <a:srgbClr val="5AA9FF"/>
            </a:solidFill>
            <a:prstDash val="solid"/>
          </a:ln>
        </p:spPr>
      </p:sp>
      <p:sp>
        <p:nvSpPr>
          <p:cNvPr id="37" name="Text 35"/>
          <p:cNvSpPr/>
          <p:nvPr/>
        </p:nvSpPr>
        <p:spPr>
          <a:xfrm>
            <a:off x="9866376" y="310896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Peringatan</a:t>
            </a:r>
            <a:endParaRPr lang="en-US" sz="1100" dirty="0"/>
          </a:p>
        </p:txBody>
      </p:sp>
      <p:sp>
        <p:nvSpPr>
          <p:cNvPr id="38" name="Shape 36"/>
          <p:cNvSpPr/>
          <p:nvPr/>
        </p:nvSpPr>
        <p:spPr>
          <a:xfrm flipH="1">
            <a:off x="9628632" y="3374136"/>
            <a:ext cx="219456" cy="914"/>
          </a:xfrm>
          <a:prstGeom prst="line">
            <a:avLst/>
          </a:prstGeom>
          <a:noFill/>
          <a:ln w="19050">
            <a:solidFill>
              <a:srgbClr val="86A0A6"/>
            </a:solidFill>
            <a:prstDash val="solid"/>
            <a:tailEnd type="triangle"/>
          </a:ln>
        </p:spPr>
      </p:sp>
      <p:sp>
        <p:nvSpPr>
          <p:cNvPr id="39" name="Shape 37"/>
          <p:cNvSpPr/>
          <p:nvPr/>
        </p:nvSpPr>
        <p:spPr>
          <a:xfrm>
            <a:off x="8147304" y="3108960"/>
            <a:ext cx="1463040" cy="530352"/>
          </a:xfrm>
          <a:prstGeom prst="roundRect">
            <a:avLst>
              <a:gd name="adj" fmla="val 10345"/>
            </a:avLst>
          </a:prstGeom>
          <a:solidFill>
            <a:srgbClr val="133A43"/>
          </a:solidFill>
          <a:ln w="12700">
            <a:solidFill>
              <a:srgbClr val="5AA9FF"/>
            </a:solidFill>
            <a:prstDash val="solid"/>
          </a:ln>
        </p:spPr>
      </p:sp>
      <p:sp>
        <p:nvSpPr>
          <p:cNvPr id="40" name="Text 38"/>
          <p:cNvSpPr/>
          <p:nvPr/>
        </p:nvSpPr>
        <p:spPr>
          <a:xfrm>
            <a:off x="8147304" y="310896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Operator bertindak</a:t>
            </a:r>
            <a:endParaRPr lang="en-US" sz="1100" dirty="0"/>
          </a:p>
        </p:txBody>
      </p:sp>
      <p:sp>
        <p:nvSpPr>
          <p:cNvPr id="41" name="Shape 39"/>
          <p:cNvSpPr/>
          <p:nvPr/>
        </p:nvSpPr>
        <p:spPr>
          <a:xfrm flipH="1">
            <a:off x="7909560" y="3374136"/>
            <a:ext cx="219456" cy="914"/>
          </a:xfrm>
          <a:prstGeom prst="line">
            <a:avLst/>
          </a:prstGeom>
          <a:noFill/>
          <a:ln w="19050">
            <a:solidFill>
              <a:srgbClr val="86A0A6"/>
            </a:solidFill>
            <a:prstDash val="solid"/>
            <a:tailEnd type="triangle"/>
          </a:ln>
        </p:spPr>
      </p:sp>
      <p:sp>
        <p:nvSpPr>
          <p:cNvPr id="42" name="Shape 40"/>
          <p:cNvSpPr/>
          <p:nvPr/>
        </p:nvSpPr>
        <p:spPr>
          <a:xfrm>
            <a:off x="6428232" y="3108960"/>
            <a:ext cx="1463040" cy="530352"/>
          </a:xfrm>
          <a:prstGeom prst="roundRect">
            <a:avLst>
              <a:gd name="adj" fmla="val 10345"/>
            </a:avLst>
          </a:prstGeom>
          <a:solidFill>
            <a:srgbClr val="133A43"/>
          </a:solidFill>
          <a:ln w="12700">
            <a:solidFill>
              <a:srgbClr val="5AA9FF"/>
            </a:solidFill>
            <a:prstDash val="solid"/>
          </a:ln>
        </p:spPr>
      </p:sp>
      <p:sp>
        <p:nvSpPr>
          <p:cNvPr id="43" name="Text 41"/>
          <p:cNvSpPr/>
          <p:nvPr/>
        </p:nvSpPr>
        <p:spPr>
          <a:xfrm>
            <a:off x="6428232" y="3108960"/>
            <a:ext cx="1463040" cy="530352"/>
          </a:xfrm>
          <a:prstGeom prst="rect">
            <a:avLst/>
          </a:prstGeom>
          <a:noFill/>
          <a:ln/>
        </p:spPr>
        <p:txBody>
          <a:bodyPr wrap="square" lIns="0" tIns="0" rIns="0" bIns="0" rtlCol="0" anchor="ctr"/>
          <a:lstStyle/>
          <a:p>
            <a:pPr algn="ctr" indent="0" marL="0">
              <a:buNone/>
            </a:pPr>
            <a:r>
              <a:rPr lang="en-US" sz="1100" dirty="0">
                <a:solidFill>
                  <a:srgbClr val="EAF3F4"/>
                </a:solidFill>
                <a:latin typeface="Segoe UI" pitchFamily="34" charset="0"/>
                <a:ea typeface="Segoe UI" pitchFamily="34" charset="-122"/>
                <a:cs typeface="Segoe UI" pitchFamily="34" charset="-120"/>
              </a:rPr>
              <a:t>Bukti &amp; laporan</a:t>
            </a:r>
            <a:endParaRPr lang="en-US" sz="1100" dirty="0"/>
          </a:p>
        </p:txBody>
      </p:sp>
      <p:sp>
        <p:nvSpPr>
          <p:cNvPr id="44" name="Shape 42"/>
          <p:cNvSpPr/>
          <p:nvPr/>
        </p:nvSpPr>
        <p:spPr>
          <a:xfrm>
            <a:off x="10597896" y="2880360"/>
            <a:ext cx="914" cy="210312"/>
          </a:xfrm>
          <a:prstGeom prst="line">
            <a:avLst/>
          </a:prstGeom>
          <a:noFill/>
          <a:ln w="19050">
            <a:solidFill>
              <a:srgbClr val="86A0A6"/>
            </a:solidFill>
            <a:prstDash val="solid"/>
            <a:tailEnd type="triangle"/>
          </a:ln>
        </p:spPr>
      </p:sp>
      <p:sp>
        <p:nvSpPr>
          <p:cNvPr id="45" name="Text 43"/>
          <p:cNvSpPr/>
          <p:nvPr/>
        </p:nvSpPr>
        <p:spPr>
          <a:xfrm>
            <a:off x="548640" y="4224528"/>
            <a:ext cx="8229600" cy="292608"/>
          </a:xfrm>
          <a:prstGeom prst="rect">
            <a:avLst/>
          </a:prstGeom>
          <a:noFill/>
          <a:ln/>
        </p:spPr>
        <p:txBody>
          <a:bodyPr wrap="square" lIns="0" tIns="0" rIns="0" bIns="0" rtlCol="0" anchor="t"/>
          <a:lstStyle/>
          <a:p>
            <a:pPr indent="0" marL="0">
              <a:buNone/>
            </a:pPr>
            <a:r>
              <a:rPr lang="en-US" sz="1400" dirty="0">
                <a:solidFill>
                  <a:srgbClr val="F5D35C"/>
                </a:solidFill>
                <a:latin typeface="Segoe UI Semibold" pitchFamily="34" charset="0"/>
                <a:ea typeface="Segoe UI Semibold" pitchFamily="34" charset="-122"/>
                <a:cs typeface="Segoe UI Semibold" pitchFamily="34" charset="-120"/>
              </a:rPr>
              <a:t>Keputusan 02 · interval polling menentukan kecepatan peringatan</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7589520" cy="914400"/>
        </p:xfrm>
        <a:graphic>
          <a:graphicData uri="http://schemas.openxmlformats.org/drawingml/2006/table">
            <a:tbl>
              <a:tblPr/>
              <a:tblGrid>
                <a:gridCol w="3383280"/>
                <a:gridCol w="2103120"/>
                <a:gridCol w="2103120"/>
              </a:tblGrid>
              <a:tr h="292608">
                <a:tc>
                  <a:txBody>
                    <a:bodyPr/>
                    <a:lstStyle/>
                    <a:p>
                      <a:pPr indent="0" marL="0">
                        <a:buNone/>
                      </a:pP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133A43"/>
                    </a:solidFill>
                  </a:tcPr>
                </a:tc>
                <a:tc>
                  <a:txBody>
                    <a:bodyPr/>
                    <a:lstStyle/>
                    <a:p>
                      <a:pPr indent="0" marL="0">
                        <a:buNone/>
                      </a:pPr>
                      <a:r>
                        <a:rPr lang="en-US" sz="1150" b="1" dirty="0">
                          <a:solidFill>
                            <a:srgbClr val="5EE6B0"/>
                          </a:solidFill>
                          <a:latin typeface="Segoe UI" pitchFamily="34" charset="0"/>
                          <a:ea typeface="Segoe UI" pitchFamily="34" charset="-122"/>
                          <a:cs typeface="Segoe UI" pitchFamily="34" charset="-120"/>
                        </a:rPr>
                        <a:t>1 menit</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133A43"/>
                    </a:solidFill>
                  </a:tcPr>
                </a:tc>
                <a:tc>
                  <a:txBody>
                    <a:bodyPr/>
                    <a:lstStyle/>
                    <a:p>
                      <a:pPr indent="0" marL="0">
                        <a:buNone/>
                      </a:pPr>
                      <a:r>
                        <a:rPr lang="en-US" sz="1150" b="1" dirty="0">
                          <a:solidFill>
                            <a:srgbClr val="B9CCD0"/>
                          </a:solidFill>
                          <a:latin typeface="Segoe UI" pitchFamily="34" charset="0"/>
                          <a:ea typeface="Segoe UI" pitchFamily="34" charset="-122"/>
                          <a:cs typeface="Segoe UI" pitchFamily="34" charset="-120"/>
                        </a:rPr>
                        <a:t>5 menit</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133A43"/>
                    </a:solidFill>
                  </a:tcPr>
                </a:tc>
              </a:tr>
              <a:tr h="292608">
                <a:tc>
                  <a:txBody>
                    <a:bodyPr/>
                    <a:lstStyle/>
                    <a:p>
                      <a:pPr indent="0" marL="0">
                        <a:buNone/>
                      </a:pPr>
                      <a:r>
                        <a:rPr lang="en-US" sz="1150" b="1" dirty="0">
                          <a:solidFill>
                            <a:srgbClr val="B9CCD0"/>
                          </a:solidFill>
                          <a:latin typeface="Segoe UI" pitchFamily="34" charset="0"/>
                          <a:ea typeface="Segoe UI" pitchFamily="34" charset="-122"/>
                          <a:cs typeface="Segoe UI" pitchFamily="34" charset="-120"/>
                        </a:rPr>
                        <a:t>Peringatan DO kritis</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c>
                  <a:txBody>
                    <a:bodyPr/>
                    <a:lstStyle/>
                    <a:p>
                      <a:pPr indent="0" marL="0">
                        <a:buNone/>
                      </a:pPr>
                      <a:r>
                        <a:rPr lang="en-US" sz="1150" dirty="0">
                          <a:solidFill>
                            <a:srgbClr val="EAF3F4"/>
                          </a:solidFill>
                          <a:latin typeface="Segoe UI" pitchFamily="34" charset="0"/>
                          <a:ea typeface="Segoe UI" pitchFamily="34" charset="-122"/>
                          <a:cs typeface="Segoe UI" pitchFamily="34" charset="-120"/>
                        </a:rPr>
                        <a:t>±1 menit</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c>
                  <a:txBody>
                    <a:bodyPr/>
                    <a:lstStyle/>
                    <a:p>
                      <a:pPr indent="0" marL="0">
                        <a:buNone/>
                      </a:pPr>
                      <a:r>
                        <a:rPr lang="en-US" sz="1150" dirty="0">
                          <a:solidFill>
                            <a:srgbClr val="B9CCD0"/>
                          </a:solidFill>
                          <a:latin typeface="Segoe UI" pitchFamily="34" charset="0"/>
                          <a:ea typeface="Segoe UI" pitchFamily="34" charset="-122"/>
                          <a:cs typeface="Segoe UI" pitchFamily="34" charset="-120"/>
                        </a:rPr>
                        <a:t>±5 menit</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r>
              <a:tr h="292608">
                <a:tc>
                  <a:txBody>
                    <a:bodyPr/>
                    <a:lstStyle/>
                    <a:p>
                      <a:pPr indent="0" marL="0">
                        <a:buNone/>
                      </a:pPr>
                      <a:r>
                        <a:rPr lang="en-US" sz="1150" b="1" dirty="0">
                          <a:solidFill>
                            <a:srgbClr val="B9CCD0"/>
                          </a:solidFill>
                          <a:latin typeface="Segoe UI" pitchFamily="34" charset="0"/>
                          <a:ea typeface="Segoe UI" pitchFamily="34" charset="-122"/>
                          <a:cs typeface="Segoe UI" pitchFamily="34" charset="-120"/>
                        </a:rPr>
                        <a:t>Syarat master plan: kritis &lt; 2 menit</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c>
                  <a:txBody>
                    <a:bodyPr/>
                    <a:lstStyle/>
                    <a:p>
                      <a:pPr indent="0" marL="0">
                        <a:buNone/>
                      </a:pPr>
                      <a:r>
                        <a:rPr lang="en-US" sz="1150" b="1" dirty="0">
                          <a:solidFill>
                            <a:srgbClr val="5EE6B0"/>
                          </a:solidFill>
                          <a:latin typeface="Segoe UI" pitchFamily="34" charset="0"/>
                          <a:ea typeface="Segoe UI" pitchFamily="34" charset="-122"/>
                          <a:cs typeface="Segoe UI" pitchFamily="34" charset="-120"/>
                        </a:rPr>
                        <a:t>Memenuhi</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c>
                  <a:txBody>
                    <a:bodyPr/>
                    <a:lstStyle/>
                    <a:p>
                      <a:pPr indent="0" marL="0">
                        <a:buNone/>
                      </a:pPr>
                      <a:r>
                        <a:rPr lang="en-US" sz="1150" b="1" dirty="0">
                          <a:solidFill>
                            <a:srgbClr val="FF7D6B"/>
                          </a:solidFill>
                          <a:latin typeface="Segoe UI" pitchFamily="34" charset="0"/>
                          <a:ea typeface="Segoe UI" pitchFamily="34" charset="-122"/>
                          <a:cs typeface="Segoe UI" pitchFamily="34" charset="-120"/>
                        </a:rPr>
                        <a:t>Tidak memenuhi</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r>
              <a:tr h="292608">
                <a:tc>
                  <a:txBody>
                    <a:bodyPr/>
                    <a:lstStyle/>
                    <a:p>
                      <a:pPr indent="0" marL="0">
                        <a:buNone/>
                      </a:pPr>
                      <a:r>
                        <a:rPr lang="en-US" sz="1150" b="1" dirty="0">
                          <a:solidFill>
                            <a:srgbClr val="B9CCD0"/>
                          </a:solidFill>
                          <a:latin typeface="Segoe UI" pitchFamily="34" charset="0"/>
                          <a:ea typeface="Segoe UI" pitchFamily="34" charset="-122"/>
                          <a:cs typeface="Segoe UI" pitchFamily="34" charset="-120"/>
                        </a:rPr>
                        <a:t>Peringatan lain (3 bacaan)</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c>
                  <a:txBody>
                    <a:bodyPr/>
                    <a:lstStyle/>
                    <a:p>
                      <a:pPr indent="0" marL="0">
                        <a:buNone/>
                      </a:pPr>
                      <a:r>
                        <a:rPr lang="en-US" sz="1150" dirty="0">
                          <a:solidFill>
                            <a:srgbClr val="EAF3F4"/>
                          </a:solidFill>
                          <a:latin typeface="Segoe UI" pitchFamily="34" charset="0"/>
                          <a:ea typeface="Segoe UI" pitchFamily="34" charset="-122"/>
                          <a:cs typeface="Segoe UI" pitchFamily="34" charset="-120"/>
                        </a:rPr>
                        <a:t>±3 menit</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c>
                  <a:txBody>
                    <a:bodyPr/>
                    <a:lstStyle/>
                    <a:p>
                      <a:pPr indent="0" marL="0">
                        <a:buNone/>
                      </a:pPr>
                      <a:r>
                        <a:rPr lang="en-US" sz="1150" dirty="0">
                          <a:solidFill>
                            <a:srgbClr val="B9CCD0"/>
                          </a:solidFill>
                          <a:latin typeface="Segoe UI" pitchFamily="34" charset="0"/>
                          <a:ea typeface="Segoe UI" pitchFamily="34" charset="-122"/>
                          <a:cs typeface="Segoe UI" pitchFamily="34" charset="-120"/>
                        </a:rPr>
                        <a:t>±15 menit</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r>
              <a:tr h="292608">
                <a:tc>
                  <a:txBody>
                    <a:bodyPr/>
                    <a:lstStyle/>
                    <a:p>
                      <a:pPr indent="0" marL="0">
                        <a:buNone/>
                      </a:pPr>
                      <a:r>
                        <a:rPr lang="en-US" sz="1150" b="1" dirty="0">
                          <a:solidFill>
                            <a:srgbClr val="B9CCD0"/>
                          </a:solidFill>
                          <a:latin typeface="Segoe UI" pitchFamily="34" charset="0"/>
                          <a:ea typeface="Segoe UI" pitchFamily="34" charset="-122"/>
                          <a:cs typeface="Segoe UI" pitchFamily="34" charset="-120"/>
                        </a:rPr>
                        <a:t>Bacaan per hari (102 sensor)</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c>
                  <a:txBody>
                    <a:bodyPr/>
                    <a:lstStyle/>
                    <a:p>
                      <a:pPr indent="0" marL="0">
                        <a:buNone/>
                      </a:pPr>
                      <a:r>
                        <a:rPr lang="en-US" sz="1150" dirty="0">
                          <a:solidFill>
                            <a:srgbClr val="EAF3F4"/>
                          </a:solidFill>
                          <a:latin typeface="Segoe UI" pitchFamily="34" charset="0"/>
                          <a:ea typeface="Segoe UI" pitchFamily="34" charset="-122"/>
                          <a:cs typeface="Segoe UI" pitchFamily="34" charset="-120"/>
                        </a:rPr>
                        <a:t>±147 ribu</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c>
                  <a:txBody>
                    <a:bodyPr/>
                    <a:lstStyle/>
                    <a:p>
                      <a:pPr indent="0" marL="0">
                        <a:buNone/>
                      </a:pPr>
                      <a:r>
                        <a:rPr lang="en-US" sz="1150" dirty="0">
                          <a:solidFill>
                            <a:srgbClr val="B9CCD0"/>
                          </a:solidFill>
                          <a:latin typeface="Segoe UI" pitchFamily="34" charset="0"/>
                          <a:ea typeface="Segoe UI" pitchFamily="34" charset="-122"/>
                          <a:cs typeface="Segoe UI" pitchFamily="34" charset="-120"/>
                        </a:rPr>
                        <a:t>±29 ribu</a:t>
                      </a:r>
                      <a:endParaRPr lang="en-US" sz="1150" dirty="0">
                        <a:latin typeface="Segoe UI" charset="0"/>
                        <a:ea typeface="Segoe UI" charset="0"/>
                        <a:cs typeface="Segoe UI" charset="0"/>
                      </a:endParaRPr>
                    </a:p>
                  </a:txBody>
                  <a:tcPr marL="109728" marR="109728" marT="18288" marB="18288" anchor="ctr">
                    <a:lnL w="9525" cap="flat" cmpd="sng" algn="ctr">
                      <a:solidFill>
                        <a:srgbClr val="24505A"/>
                      </a:solidFill>
                      <a:prstDash val="solid"/>
                      <a:round/>
                      <a:headEnd type="none" w="med" len="med"/>
                      <a:tailEnd type="none" w="med" len="med"/>
                    </a:lnL>
                    <a:lnR w="9525" cap="flat" cmpd="sng" algn="ctr">
                      <a:solidFill>
                        <a:srgbClr val="24505A"/>
                      </a:solidFill>
                      <a:prstDash val="solid"/>
                      <a:round/>
                      <a:headEnd type="none" w="med" len="med"/>
                      <a:tailEnd type="none" w="med" len="med"/>
                    </a:lnR>
                    <a:lnT w="9525" cap="flat" cmpd="sng" algn="ctr">
                      <a:solidFill>
                        <a:srgbClr val="24505A"/>
                      </a:solidFill>
                      <a:prstDash val="solid"/>
                      <a:round/>
                      <a:headEnd type="none" w="med" len="med"/>
                      <a:tailEnd type="none" w="med" len="med"/>
                    </a:lnT>
                    <a:lnB w="9525" cap="flat" cmpd="sng" algn="ctr">
                      <a:solidFill>
                        <a:srgbClr val="24505A"/>
                      </a:solidFill>
                      <a:prstDash val="solid"/>
                      <a:round/>
                      <a:headEnd type="none" w="med" len="med"/>
                      <a:tailEnd type="none" w="med" len="med"/>
                    </a:lnB>
                    <a:solidFill>
                      <a:srgbClr val="0F2C33"/>
                    </a:solidFill>
                  </a:tcPr>
                </a:tc>
              </a:tr>
            </a:tbl>
          </a:graphicData>
        </a:graphic>
      </p:graphicFrame>
      <p:sp>
        <p:nvSpPr>
          <p:cNvPr id="47" name="Shape 44"/>
          <p:cNvSpPr/>
          <p:nvPr/>
        </p:nvSpPr>
        <p:spPr>
          <a:xfrm>
            <a:off x="8366760" y="4572000"/>
            <a:ext cx="3273552" cy="1463040"/>
          </a:xfrm>
          <a:prstGeom prst="roundRect">
            <a:avLst>
              <a:gd name="adj" fmla="val 5625"/>
            </a:avLst>
          </a:prstGeom>
          <a:solidFill>
            <a:srgbClr val="133A43"/>
          </a:solidFill>
          <a:ln w="12700">
            <a:solidFill>
              <a:srgbClr val="5EE6B0"/>
            </a:solidFill>
            <a:prstDash val="solid"/>
          </a:ln>
        </p:spPr>
      </p:sp>
      <p:sp>
        <p:nvSpPr>
          <p:cNvPr id="48" name="Text 45"/>
          <p:cNvSpPr/>
          <p:nvPr/>
        </p:nvSpPr>
        <p:spPr>
          <a:xfrm>
            <a:off x="8577072" y="4663440"/>
            <a:ext cx="2880360" cy="1325880"/>
          </a:xfrm>
          <a:prstGeom prst="rect">
            <a:avLst/>
          </a:prstGeom>
          <a:noFill/>
          <a:ln/>
        </p:spPr>
        <p:txBody>
          <a:bodyPr wrap="square" lIns="0" tIns="0" rIns="0" bIns="0" rtlCol="0" anchor="t"/>
          <a:lstStyle/>
          <a:p>
            <a:pPr indent="0" marL="0">
              <a:buNone/>
            </a:pPr>
            <a:r>
              <a:rPr lang="en-US" sz="1150" b="1" dirty="0">
                <a:solidFill>
                  <a:srgbClr val="5EE6B0"/>
                </a:solidFill>
                <a:latin typeface="Segoe UI" pitchFamily="34" charset="0"/>
                <a:ea typeface="Segoe UI" pitchFamily="34" charset="-122"/>
                <a:cs typeface="Segoe UI" pitchFamily="34" charset="-120"/>
              </a:rPr>
              <a:t>Rekomendasi: 1 menit</a:t>
            </a:r>
            <a:endParaRPr lang="en-US" sz="1150" dirty="0"/>
          </a:p>
          <a:p>
            <a:pPr indent="0" marL="0">
              <a:buNone/>
            </a:pPr>
            <a:r>
              <a:rPr lang="en-US" sz="1150" dirty="0">
                <a:solidFill>
                  <a:srgbClr val="B9CCD0"/>
                </a:solidFill>
                <a:latin typeface="Segoe UI" pitchFamily="34" charset="0"/>
                <a:ea typeface="Segoe UI" pitchFamily="34" charset="-122"/>
                <a:cs typeface="Segoe UI" pitchFamily="34" charset="-120"/>
              </a:rPr>
              <a:t>Satu-satunya pilihan yang memenuhi syarat peringatan kritis &lt; 2 menit. Satu putaran 112 perangkat tetap jauh di bawah 1 menit.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10</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FF8A7A"/>
                </a:solidFill>
                <a:latin typeface="Segoe UI" pitchFamily="34" charset="0"/>
                <a:ea typeface="Segoe UI" pitchFamily="34" charset="-122"/>
                <a:cs typeface="Segoe UI" pitchFamily="34" charset="-120"/>
              </a:rPr>
              <a:t>LAPIS 6 · APLIKASI NEOPOND</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Setiap peringatan ditangani sampai tuntas, dan ada buktinya</a:t>
            </a:r>
            <a:endParaRPr lang="en-US" sz="2700" dirty="0"/>
          </a:p>
        </p:txBody>
      </p:sp>
      <p:sp>
        <p:nvSpPr>
          <p:cNvPr id="5" name="Shape 3"/>
          <p:cNvSpPr/>
          <p:nvPr/>
        </p:nvSpPr>
        <p:spPr>
          <a:xfrm>
            <a:off x="548640" y="1417320"/>
            <a:ext cx="914400" cy="329184"/>
          </a:xfrm>
          <a:prstGeom prst="roundRect">
            <a:avLst>
              <a:gd name="adj" fmla="val 38889"/>
            </a:avLst>
          </a:prstGeom>
          <a:solidFill>
            <a:srgbClr val="0A1E24"/>
          </a:solidFill>
          <a:ln w="12700">
            <a:solidFill>
              <a:srgbClr val="FF8A7A"/>
            </a:solidFill>
            <a:prstDash val="solid"/>
          </a:ln>
        </p:spPr>
      </p:sp>
      <p:sp>
        <p:nvSpPr>
          <p:cNvPr id="6" name="Text 4"/>
          <p:cNvSpPr/>
          <p:nvPr/>
        </p:nvSpPr>
        <p:spPr>
          <a:xfrm>
            <a:off x="548640" y="1417320"/>
            <a:ext cx="914400" cy="329184"/>
          </a:xfrm>
          <a:prstGeom prst="rect">
            <a:avLst/>
          </a:prstGeom>
          <a:noFill/>
          <a:ln/>
        </p:spPr>
        <p:txBody>
          <a:bodyPr wrap="square" lIns="0" tIns="0" rIns="0" bIns="0" rtlCol="0" anchor="ctr"/>
          <a:lstStyle/>
          <a:p>
            <a:pPr algn="ctr" indent="0" marL="0">
              <a:buNone/>
            </a:pPr>
            <a:r>
              <a:rPr lang="en-US" sz="1150" b="1" dirty="0">
                <a:solidFill>
                  <a:srgbClr val="FF8A7A"/>
                </a:solidFill>
                <a:latin typeface="Segoe UI" pitchFamily="34" charset="0"/>
                <a:ea typeface="Segoe UI" pitchFamily="34" charset="-122"/>
                <a:cs typeface="Segoe UI" pitchFamily="34" charset="-120"/>
              </a:rPr>
              <a:t>Terdeteksi</a:t>
            </a:r>
            <a:endParaRPr lang="en-US" sz="1150" dirty="0"/>
          </a:p>
        </p:txBody>
      </p:sp>
      <p:sp>
        <p:nvSpPr>
          <p:cNvPr id="7" name="Shape 5"/>
          <p:cNvSpPr/>
          <p:nvPr/>
        </p:nvSpPr>
        <p:spPr>
          <a:xfrm>
            <a:off x="1508760" y="1581912"/>
            <a:ext cx="228600" cy="914"/>
          </a:xfrm>
          <a:prstGeom prst="line">
            <a:avLst/>
          </a:prstGeom>
          <a:noFill/>
          <a:ln w="19050">
            <a:solidFill>
              <a:srgbClr val="86A0A6"/>
            </a:solidFill>
            <a:prstDash val="solid"/>
            <a:tailEnd type="triangle"/>
          </a:ln>
        </p:spPr>
      </p:sp>
      <p:sp>
        <p:nvSpPr>
          <p:cNvPr id="8" name="Shape 6"/>
          <p:cNvSpPr/>
          <p:nvPr/>
        </p:nvSpPr>
        <p:spPr>
          <a:xfrm>
            <a:off x="1783080" y="1417320"/>
            <a:ext cx="1309421" cy="329184"/>
          </a:xfrm>
          <a:prstGeom prst="roundRect">
            <a:avLst>
              <a:gd name="adj" fmla="val 38889"/>
            </a:avLst>
          </a:prstGeom>
          <a:solidFill>
            <a:srgbClr val="0A1E24"/>
          </a:solidFill>
          <a:ln w="12700">
            <a:solidFill>
              <a:srgbClr val="FF8A7A"/>
            </a:solidFill>
            <a:prstDash val="solid"/>
          </a:ln>
        </p:spPr>
      </p:sp>
      <p:sp>
        <p:nvSpPr>
          <p:cNvPr id="9" name="Text 7"/>
          <p:cNvSpPr/>
          <p:nvPr/>
        </p:nvSpPr>
        <p:spPr>
          <a:xfrm>
            <a:off x="1783080" y="1417320"/>
            <a:ext cx="1309421" cy="329184"/>
          </a:xfrm>
          <a:prstGeom prst="rect">
            <a:avLst/>
          </a:prstGeom>
          <a:noFill/>
          <a:ln/>
        </p:spPr>
        <p:txBody>
          <a:bodyPr wrap="square" lIns="0" tIns="0" rIns="0" bIns="0" rtlCol="0" anchor="ctr"/>
          <a:lstStyle/>
          <a:p>
            <a:pPr algn="ctr" indent="0" marL="0">
              <a:buNone/>
            </a:pPr>
            <a:r>
              <a:rPr lang="en-US" sz="1150" b="1" dirty="0">
                <a:solidFill>
                  <a:srgbClr val="FF8A7A"/>
                </a:solidFill>
                <a:latin typeface="Segoe UI" pitchFamily="34" charset="0"/>
                <a:ea typeface="Segoe UI" pitchFamily="34" charset="-122"/>
                <a:cs typeface="Segoe UI" pitchFamily="34" charset="-120"/>
              </a:rPr>
              <a:t>Diterima petugas</a:t>
            </a:r>
            <a:endParaRPr lang="en-US" sz="1150" dirty="0"/>
          </a:p>
        </p:txBody>
      </p:sp>
      <p:sp>
        <p:nvSpPr>
          <p:cNvPr id="10" name="Shape 8"/>
          <p:cNvSpPr/>
          <p:nvPr/>
        </p:nvSpPr>
        <p:spPr>
          <a:xfrm>
            <a:off x="3138221" y="1581912"/>
            <a:ext cx="228600" cy="914"/>
          </a:xfrm>
          <a:prstGeom prst="line">
            <a:avLst/>
          </a:prstGeom>
          <a:noFill/>
          <a:ln w="19050">
            <a:solidFill>
              <a:srgbClr val="86A0A6"/>
            </a:solidFill>
            <a:prstDash val="solid"/>
            <a:tailEnd type="triangle"/>
          </a:ln>
        </p:spPr>
      </p:sp>
      <p:sp>
        <p:nvSpPr>
          <p:cNvPr id="11" name="Shape 9"/>
          <p:cNvSpPr/>
          <p:nvPr/>
        </p:nvSpPr>
        <p:spPr>
          <a:xfrm>
            <a:off x="3412541" y="1417320"/>
            <a:ext cx="848563" cy="329184"/>
          </a:xfrm>
          <a:prstGeom prst="roundRect">
            <a:avLst>
              <a:gd name="adj" fmla="val 38889"/>
            </a:avLst>
          </a:prstGeom>
          <a:solidFill>
            <a:srgbClr val="0A1E24"/>
          </a:solidFill>
          <a:ln w="12700">
            <a:solidFill>
              <a:srgbClr val="FF8A7A"/>
            </a:solidFill>
            <a:prstDash val="solid"/>
          </a:ln>
        </p:spPr>
      </p:sp>
      <p:sp>
        <p:nvSpPr>
          <p:cNvPr id="12" name="Text 10"/>
          <p:cNvSpPr/>
          <p:nvPr/>
        </p:nvSpPr>
        <p:spPr>
          <a:xfrm>
            <a:off x="3412541" y="1417320"/>
            <a:ext cx="848563" cy="329184"/>
          </a:xfrm>
          <a:prstGeom prst="rect">
            <a:avLst/>
          </a:prstGeom>
          <a:noFill/>
          <a:ln/>
        </p:spPr>
        <p:txBody>
          <a:bodyPr wrap="square" lIns="0" tIns="0" rIns="0" bIns="0" rtlCol="0" anchor="ctr"/>
          <a:lstStyle/>
          <a:p>
            <a:pPr algn="ctr" indent="0" marL="0">
              <a:buNone/>
            </a:pPr>
            <a:r>
              <a:rPr lang="en-US" sz="1150" b="1" dirty="0">
                <a:solidFill>
                  <a:srgbClr val="FF8A7A"/>
                </a:solidFill>
                <a:latin typeface="Segoe UI" pitchFamily="34" charset="0"/>
                <a:ea typeface="Segoe UI" pitchFamily="34" charset="-122"/>
                <a:cs typeface="Segoe UI" pitchFamily="34" charset="-120"/>
              </a:rPr>
              <a:t>Ditangani</a:t>
            </a:r>
            <a:endParaRPr lang="en-US" sz="1150" dirty="0"/>
          </a:p>
        </p:txBody>
      </p:sp>
      <p:sp>
        <p:nvSpPr>
          <p:cNvPr id="13" name="Shape 11"/>
          <p:cNvSpPr/>
          <p:nvPr/>
        </p:nvSpPr>
        <p:spPr>
          <a:xfrm>
            <a:off x="4306824" y="1581912"/>
            <a:ext cx="228600" cy="914"/>
          </a:xfrm>
          <a:prstGeom prst="line">
            <a:avLst/>
          </a:prstGeom>
          <a:noFill/>
          <a:ln w="19050">
            <a:solidFill>
              <a:srgbClr val="86A0A6"/>
            </a:solidFill>
            <a:prstDash val="solid"/>
            <a:tailEnd type="triangle"/>
          </a:ln>
        </p:spPr>
      </p:sp>
      <p:sp>
        <p:nvSpPr>
          <p:cNvPr id="14" name="Shape 12"/>
          <p:cNvSpPr/>
          <p:nvPr/>
        </p:nvSpPr>
        <p:spPr>
          <a:xfrm>
            <a:off x="4581144" y="1417320"/>
            <a:ext cx="1046074" cy="329184"/>
          </a:xfrm>
          <a:prstGeom prst="roundRect">
            <a:avLst>
              <a:gd name="adj" fmla="val 38889"/>
            </a:avLst>
          </a:prstGeom>
          <a:solidFill>
            <a:srgbClr val="0A1E24"/>
          </a:solidFill>
          <a:ln w="12700">
            <a:solidFill>
              <a:srgbClr val="FF8A7A"/>
            </a:solidFill>
            <a:prstDash val="solid"/>
          </a:ln>
        </p:spPr>
      </p:sp>
      <p:sp>
        <p:nvSpPr>
          <p:cNvPr id="15" name="Text 13"/>
          <p:cNvSpPr/>
          <p:nvPr/>
        </p:nvSpPr>
        <p:spPr>
          <a:xfrm>
            <a:off x="4581144" y="1417320"/>
            <a:ext cx="1046074" cy="329184"/>
          </a:xfrm>
          <a:prstGeom prst="rect">
            <a:avLst/>
          </a:prstGeom>
          <a:noFill/>
          <a:ln/>
        </p:spPr>
        <p:txBody>
          <a:bodyPr wrap="square" lIns="0" tIns="0" rIns="0" bIns="0" rtlCol="0" anchor="ctr"/>
          <a:lstStyle/>
          <a:p>
            <a:pPr algn="ctr" indent="0" marL="0">
              <a:buNone/>
            </a:pPr>
            <a:r>
              <a:rPr lang="en-US" sz="1150" b="1" dirty="0">
                <a:solidFill>
                  <a:srgbClr val="FF8A7A"/>
                </a:solidFill>
                <a:latin typeface="Segoe UI" pitchFamily="34" charset="0"/>
                <a:ea typeface="Segoe UI" pitchFamily="34" charset="-122"/>
                <a:cs typeface="Segoe UI" pitchFamily="34" charset="-120"/>
              </a:rPr>
              <a:t>Diverifikasi</a:t>
            </a:r>
            <a:endParaRPr lang="en-US" sz="1150" dirty="0"/>
          </a:p>
        </p:txBody>
      </p:sp>
      <p:sp>
        <p:nvSpPr>
          <p:cNvPr id="16" name="Shape 14"/>
          <p:cNvSpPr/>
          <p:nvPr/>
        </p:nvSpPr>
        <p:spPr>
          <a:xfrm>
            <a:off x="5672938" y="1581912"/>
            <a:ext cx="228600" cy="914"/>
          </a:xfrm>
          <a:prstGeom prst="line">
            <a:avLst/>
          </a:prstGeom>
          <a:noFill/>
          <a:ln w="19050">
            <a:solidFill>
              <a:srgbClr val="86A0A6"/>
            </a:solidFill>
            <a:prstDash val="solid"/>
            <a:tailEnd type="triangle"/>
          </a:ln>
        </p:spPr>
      </p:sp>
      <p:sp>
        <p:nvSpPr>
          <p:cNvPr id="17" name="Shape 15"/>
          <p:cNvSpPr/>
          <p:nvPr/>
        </p:nvSpPr>
        <p:spPr>
          <a:xfrm>
            <a:off x="5947258" y="1417320"/>
            <a:ext cx="716890" cy="329184"/>
          </a:xfrm>
          <a:prstGeom prst="roundRect">
            <a:avLst>
              <a:gd name="adj" fmla="val 38889"/>
            </a:avLst>
          </a:prstGeom>
          <a:solidFill>
            <a:srgbClr val="5EE6B0"/>
          </a:solidFill>
          <a:ln w="12700">
            <a:solidFill>
              <a:srgbClr val="5EE6B0"/>
            </a:solidFill>
            <a:prstDash val="solid"/>
          </a:ln>
        </p:spPr>
      </p:sp>
      <p:sp>
        <p:nvSpPr>
          <p:cNvPr id="18" name="Text 16"/>
          <p:cNvSpPr/>
          <p:nvPr/>
        </p:nvSpPr>
        <p:spPr>
          <a:xfrm>
            <a:off x="5947258" y="1417320"/>
            <a:ext cx="716890" cy="329184"/>
          </a:xfrm>
          <a:prstGeom prst="rect">
            <a:avLst/>
          </a:prstGeom>
          <a:noFill/>
          <a:ln/>
        </p:spPr>
        <p:txBody>
          <a:bodyPr wrap="square" lIns="0" tIns="0" rIns="0" bIns="0" rtlCol="0" anchor="ctr"/>
          <a:lstStyle/>
          <a:p>
            <a:pPr algn="ctr" indent="0" marL="0">
              <a:buNone/>
            </a:pPr>
            <a:r>
              <a:rPr lang="en-US" sz="1150" b="1" dirty="0">
                <a:solidFill>
                  <a:srgbClr val="0A1E24"/>
                </a:solidFill>
                <a:latin typeface="Segoe UI" pitchFamily="34" charset="0"/>
                <a:ea typeface="Segoe UI" pitchFamily="34" charset="-122"/>
                <a:cs typeface="Segoe UI" pitchFamily="34" charset="-120"/>
              </a:rPr>
              <a:t>Selesai</a:t>
            </a:r>
            <a:endParaRPr lang="en-US" sz="1150" dirty="0"/>
          </a:p>
        </p:txBody>
      </p:sp>
      <p:sp>
        <p:nvSpPr>
          <p:cNvPr id="19" name="Text 17"/>
          <p:cNvSpPr/>
          <p:nvPr/>
        </p:nvSpPr>
        <p:spPr>
          <a:xfrm>
            <a:off x="8778240" y="1463040"/>
            <a:ext cx="2862072" cy="274320"/>
          </a:xfrm>
          <a:prstGeom prst="rect">
            <a:avLst/>
          </a:prstGeom>
          <a:noFill/>
          <a:ln/>
        </p:spPr>
        <p:txBody>
          <a:bodyPr wrap="square" lIns="0" tIns="0" rIns="0" bIns="0" rtlCol="0" anchor="t"/>
          <a:lstStyle/>
          <a:p>
            <a:pPr algn="r" indent="0" marL="0">
              <a:buNone/>
            </a:pPr>
            <a:r>
              <a:rPr lang="en-US" sz="1100" b="1" dirty="0">
                <a:solidFill>
                  <a:srgbClr val="5EE6B0"/>
                </a:solidFill>
                <a:latin typeface="Segoe UI" pitchFamily="34" charset="0"/>
                <a:ea typeface="Segoe UI" pitchFamily="34" charset="-122"/>
                <a:cs typeface="Segoe UI" pitchFamily="34" charset="-120"/>
              </a:rPr>
              <a:t>Prototipe berjalan · data contoh</a:t>
            </a:r>
            <a:endParaRPr lang="en-US" sz="1100" dirty="0"/>
          </a:p>
        </p:txBody>
      </p:sp>
      <p:sp>
        <p:nvSpPr>
          <p:cNvPr id="20" name="Shape 18"/>
          <p:cNvSpPr/>
          <p:nvPr/>
        </p:nvSpPr>
        <p:spPr>
          <a:xfrm>
            <a:off x="512064" y="1975104"/>
            <a:ext cx="6565392" cy="3272090"/>
          </a:xfrm>
          <a:prstGeom prst="roundRect">
            <a:avLst>
              <a:gd name="adj" fmla="val 1677"/>
            </a:avLst>
          </a:prstGeom>
          <a:solidFill>
            <a:srgbClr val="0B1A1F"/>
          </a:solidFill>
          <a:ln w="12700">
            <a:solidFill>
              <a:srgbClr val="24505A"/>
            </a:solidFill>
            <a:prstDash val="solid"/>
          </a:ln>
        </p:spPr>
      </p:sp>
      <p:pic>
        <p:nvPicPr>
          <p:cNvPr id="21" name="Image 0" descr="C:\Users\Steven Waruwu\AppData\Local\Temp\claude\d--KKP\3497f670-cbc2-4672-b31d-c2fc16f14f69\scratchpad\deckgen\img/c-pond.png">    </p:cNvPr>
          <p:cNvPicPr>
            <a:picLocks noChangeAspect="1"/>
          </p:cNvPicPr>
          <p:nvPr/>
        </p:nvPicPr>
        <p:blipFill>
          <a:blip r:embed="rId2"/>
          <a:stretch>
            <a:fillRect/>
          </a:stretch>
        </p:blipFill>
        <p:spPr>
          <a:xfrm>
            <a:off x="548640" y="2011680"/>
            <a:ext cx="6492240" cy="3198938"/>
          </a:xfrm>
          <a:prstGeom prst="rect">
            <a:avLst/>
          </a:prstGeom>
        </p:spPr>
      </p:pic>
      <p:sp>
        <p:nvSpPr>
          <p:cNvPr id="22" name="Text 19"/>
          <p:cNvSpPr/>
          <p:nvPr/>
        </p:nvSpPr>
        <p:spPr>
          <a:xfrm>
            <a:off x="548640" y="5302058"/>
            <a:ext cx="6492240" cy="228600"/>
          </a:xfrm>
          <a:prstGeom prst="rect">
            <a:avLst/>
          </a:prstGeom>
          <a:noFill/>
          <a:ln/>
        </p:spPr>
        <p:txBody>
          <a:bodyPr wrap="square" lIns="0" tIns="0" rIns="0" bIns="0" rtlCol="0" anchor="t"/>
          <a:lstStyle/>
          <a:p>
            <a:pPr indent="0" marL="0">
              <a:buNone/>
            </a:pPr>
            <a:r>
              <a:rPr lang="en-US" sz="1050" dirty="0">
                <a:solidFill>
                  <a:srgbClr val="86A0A6"/>
                </a:solidFill>
                <a:latin typeface="Segoe UI" pitchFamily="34" charset="0"/>
                <a:ea typeface="Segoe UI" pitchFamily="34" charset="-122"/>
                <a:cs typeface="Segoe UI" pitchFamily="34" charset="-120"/>
              </a:rPr>
              <a:t>Detail kolam: semua parameter, “Lakukan dulu”, masalah aktif</a:t>
            </a:r>
            <a:endParaRPr lang="en-US" sz="1050" dirty="0"/>
          </a:p>
        </p:txBody>
      </p:sp>
      <p:sp>
        <p:nvSpPr>
          <p:cNvPr id="23" name="Shape 20"/>
          <p:cNvSpPr/>
          <p:nvPr/>
        </p:nvSpPr>
        <p:spPr>
          <a:xfrm>
            <a:off x="7232904" y="1975104"/>
            <a:ext cx="4443984" cy="1715372"/>
          </a:xfrm>
          <a:prstGeom prst="roundRect">
            <a:avLst>
              <a:gd name="adj" fmla="val 3198"/>
            </a:avLst>
          </a:prstGeom>
          <a:solidFill>
            <a:srgbClr val="0B1A1F"/>
          </a:solidFill>
          <a:ln w="12700">
            <a:solidFill>
              <a:srgbClr val="24505A"/>
            </a:solidFill>
            <a:prstDash val="solid"/>
          </a:ln>
        </p:spPr>
      </p:sp>
      <p:pic>
        <p:nvPicPr>
          <p:cNvPr id="24" name="Image 1" descr="C:\Users\Steven Waruwu\AppData\Local\Temp\claude\d--KKP\3497f670-cbc2-4672-b31d-c2fc16f14f69\scratchpad\deckgen\img/c-insiden.png">    </p:cNvPr>
          <p:cNvPicPr>
            <a:picLocks noChangeAspect="1"/>
          </p:cNvPicPr>
          <p:nvPr/>
        </p:nvPicPr>
        <p:blipFill>
          <a:blip r:embed="rId3"/>
          <a:stretch>
            <a:fillRect/>
          </a:stretch>
        </p:blipFill>
        <p:spPr>
          <a:xfrm>
            <a:off x="7269480" y="2011680"/>
            <a:ext cx="4370832" cy="1642220"/>
          </a:xfrm>
          <a:prstGeom prst="rect">
            <a:avLst/>
          </a:prstGeom>
        </p:spPr>
      </p:pic>
      <p:sp>
        <p:nvSpPr>
          <p:cNvPr id="25" name="Text 21"/>
          <p:cNvSpPr/>
          <p:nvPr/>
        </p:nvSpPr>
        <p:spPr>
          <a:xfrm>
            <a:off x="7269480" y="3745340"/>
            <a:ext cx="4370832" cy="228600"/>
          </a:xfrm>
          <a:prstGeom prst="rect">
            <a:avLst/>
          </a:prstGeom>
          <a:noFill/>
          <a:ln/>
        </p:spPr>
        <p:txBody>
          <a:bodyPr wrap="square" lIns="0" tIns="0" rIns="0" bIns="0" rtlCol="0" anchor="t"/>
          <a:lstStyle/>
          <a:p>
            <a:pPr indent="0" marL="0">
              <a:buNone/>
            </a:pPr>
            <a:r>
              <a:rPr lang="en-US" sz="1050" dirty="0">
                <a:solidFill>
                  <a:srgbClr val="86A0A6"/>
                </a:solidFill>
                <a:latin typeface="Segoe UI" pitchFamily="34" charset="0"/>
                <a:ea typeface="Segoe UI" pitchFamily="34" charset="-122"/>
                <a:cs typeface="Segoe UI" pitchFamily="34" charset="-120"/>
              </a:rPr>
              <a:t>Peringatan: siapa menangani, sejak kapan</a:t>
            </a:r>
            <a:endParaRPr lang="en-US" sz="1050" dirty="0"/>
          </a:p>
        </p:txBody>
      </p:sp>
      <p:sp>
        <p:nvSpPr>
          <p:cNvPr id="26" name="Text 22"/>
          <p:cNvSpPr/>
          <p:nvPr/>
        </p:nvSpPr>
        <p:spPr>
          <a:xfrm>
            <a:off x="7269480" y="4111100"/>
            <a:ext cx="4370832"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B9CCD0"/>
                </a:solidFill>
                <a:latin typeface="Segoe UI" pitchFamily="34" charset="0"/>
                <a:ea typeface="Segoe UI" pitchFamily="34" charset="-122"/>
                <a:cs typeface="Segoe UI" pitchFamily="34" charset="-120"/>
              </a:rPr>
              <a:t>Dugaan penyebab &amp; saran tindakan</a:t>
            </a:r>
            <a:endParaRPr lang="en-US" sz="1200" dirty="0"/>
          </a:p>
          <a:p>
            <a:pPr marL="342900" indent="-342900">
              <a:spcAft>
                <a:spcPts val="400"/>
              </a:spcAft>
              <a:buSzPct val="100000"/>
              <a:buChar char="●"/>
            </a:pPr>
            <a:r>
              <a:rPr lang="en-US" sz="1200" dirty="0">
                <a:solidFill>
                  <a:srgbClr val="B9CCD0"/>
                </a:solidFill>
                <a:latin typeface="Segoe UI" pitchFamily="34" charset="0"/>
                <a:ea typeface="Segoe UI" pitchFamily="34" charset="-122"/>
                <a:cs typeface="Segoe UI" pitchFamily="34" charset="-120"/>
              </a:rPr>
              <a:t>Nilai rupiah yang berisiko di tiap kolam</a:t>
            </a:r>
            <a:endParaRPr lang="en-US" sz="1200" dirty="0"/>
          </a:p>
          <a:p>
            <a:pPr marL="342900" indent="-342900">
              <a:spcAft>
                <a:spcPts val="400"/>
              </a:spcAft>
              <a:buSzPct val="100000"/>
              <a:buChar char="●"/>
            </a:pPr>
            <a:r>
              <a:rPr lang="en-US" sz="1200" dirty="0">
                <a:solidFill>
                  <a:srgbClr val="B9CCD0"/>
                </a:solidFill>
                <a:latin typeface="Segoe UI" pitchFamily="34" charset="0"/>
                <a:ea typeface="Segoe UI" pitchFamily="34" charset="-122"/>
                <a:cs typeface="Segoe UI" pitchFamily="34" charset="-120"/>
              </a:rPr>
              <a:t>Override wajib alasan, tercatat di jejak audit</a:t>
            </a:r>
            <a:endParaRPr lang="en-US" sz="1200" dirty="0"/>
          </a:p>
          <a:p>
            <a:pPr marL="342900" indent="-342900">
              <a:spcAft>
                <a:spcPts val="400"/>
              </a:spcAft>
              <a:buSzPct val="100000"/>
              <a:buChar char="●"/>
            </a:pPr>
            <a:r>
              <a:rPr lang="en-US" sz="1200" dirty="0">
                <a:solidFill>
                  <a:srgbClr val="B9CCD0"/>
                </a:solidFill>
                <a:latin typeface="Segoe UI" pitchFamily="34" charset="0"/>
                <a:ea typeface="Segoe UI" pitchFamily="34" charset="-122"/>
                <a:cs typeface="Segoe UI" pitchFamily="34" charset="-120"/>
              </a:rPr>
              <a:t>Lima peran: operator, supervisor, teknisi, manajer, auditor</a:t>
            </a:r>
            <a:endParaRPr lang="en-US" sz="1200" dirty="0"/>
          </a:p>
          <a:p>
            <a:pPr marL="342900" indent="-342900">
              <a:spcAft>
                <a:spcPts val="400"/>
              </a:spcAft>
              <a:buSzPct val="100000"/>
              <a:buChar char="●"/>
            </a:pPr>
            <a:r>
              <a:rPr lang="en-US" sz="1200" dirty="0">
                <a:solidFill>
                  <a:srgbClr val="B9CCD0"/>
                </a:solidFill>
                <a:latin typeface="Segoe UI" pitchFamily="34" charset="0"/>
                <a:ea typeface="Segoe UI" pitchFamily="34" charset="-122"/>
                <a:cs typeface="Segoe UI" pitchFamily="34" charset="-120"/>
              </a:rPr>
              <a:t>Peta GIS berjenjang: kolam → lokasi → provinsi → nasional</a:t>
            </a:r>
            <a:endParaRPr lang="en-US" sz="1200" dirty="0"/>
          </a:p>
          <a:p>
            <a:pPr marL="342900" indent="-342900">
              <a:spcAft>
                <a:spcPts val="400"/>
              </a:spcAft>
              <a:buSzPct val="100000"/>
              <a:buChar char="●"/>
            </a:pPr>
            <a:r>
              <a:rPr lang="en-US" sz="1200" dirty="0">
                <a:solidFill>
                  <a:srgbClr val="B9CCD0"/>
                </a:solidFill>
                <a:latin typeface="Segoe UI" pitchFamily="34" charset="0"/>
                <a:ea typeface="Segoe UI" pitchFamily="34" charset="-122"/>
                <a:cs typeface="Segoe UI" pitchFamily="34" charset="-120"/>
              </a:rPr>
              <a:t>Bahasa Indonesia sehari-hari, nyaman di HP</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11</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5EE6B0"/>
                </a:solidFill>
                <a:latin typeface="Segoe UI" pitchFamily="34" charset="0"/>
                <a:ea typeface="Segoe UI" pitchFamily="34" charset="-122"/>
                <a:cs typeface="Segoe UI" pitchFamily="34" charset="-120"/>
              </a:rPr>
              <a:t>SIKLUS BUDIDAYA &amp; NILAI</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Dari tebar sampai panen: angka produksi dan rupiah di satu tempat</a:t>
            </a:r>
            <a:endParaRPr lang="en-US" sz="2700" dirty="0"/>
          </a:p>
        </p:txBody>
      </p:sp>
      <p:sp>
        <p:nvSpPr>
          <p:cNvPr id="5" name="Shape 3"/>
          <p:cNvSpPr/>
          <p:nvPr/>
        </p:nvSpPr>
        <p:spPr>
          <a:xfrm>
            <a:off x="548640" y="1417320"/>
            <a:ext cx="1143000" cy="438912"/>
          </a:xfrm>
          <a:prstGeom prst="roundRect">
            <a:avLst>
              <a:gd name="adj" fmla="val 50000"/>
            </a:avLst>
          </a:prstGeom>
          <a:solidFill>
            <a:srgbClr val="5EE6B0"/>
          </a:solidFill>
          <a:ln w="12700">
            <a:solidFill>
              <a:srgbClr val="5EE6B0"/>
            </a:solidFill>
            <a:prstDash val="solid"/>
          </a:ln>
        </p:spPr>
      </p:sp>
      <p:sp>
        <p:nvSpPr>
          <p:cNvPr id="6" name="Text 4"/>
          <p:cNvSpPr/>
          <p:nvPr/>
        </p:nvSpPr>
        <p:spPr>
          <a:xfrm>
            <a:off x="548640" y="1417320"/>
            <a:ext cx="1143000" cy="438912"/>
          </a:xfrm>
          <a:prstGeom prst="rect">
            <a:avLst/>
          </a:prstGeom>
          <a:noFill/>
          <a:ln/>
        </p:spPr>
        <p:txBody>
          <a:bodyPr wrap="square" lIns="0" tIns="0" rIns="0" bIns="0" rtlCol="0" anchor="ctr"/>
          <a:lstStyle/>
          <a:p>
            <a:pPr algn="ctr" indent="0" marL="0">
              <a:buNone/>
            </a:pPr>
            <a:r>
              <a:rPr lang="en-US" sz="1150" b="1" dirty="0">
                <a:solidFill>
                  <a:srgbClr val="0A1E24"/>
                </a:solidFill>
                <a:latin typeface="Segoe UI" pitchFamily="34" charset="0"/>
                <a:ea typeface="Segoe UI" pitchFamily="34" charset="-122"/>
                <a:cs typeface="Segoe UI" pitchFamily="34" charset="-120"/>
              </a:rPr>
              <a:t>Tebar</a:t>
            </a:r>
            <a:endParaRPr lang="en-US" sz="1150" dirty="0"/>
          </a:p>
        </p:txBody>
      </p:sp>
      <p:sp>
        <p:nvSpPr>
          <p:cNvPr id="7" name="Shape 5"/>
          <p:cNvSpPr/>
          <p:nvPr/>
        </p:nvSpPr>
        <p:spPr>
          <a:xfrm>
            <a:off x="1728216" y="1636776"/>
            <a:ext cx="292608" cy="914"/>
          </a:xfrm>
          <a:prstGeom prst="line">
            <a:avLst/>
          </a:prstGeom>
          <a:noFill/>
          <a:ln w="19050">
            <a:solidFill>
              <a:srgbClr val="5EE6B0"/>
            </a:solidFill>
            <a:prstDash val="solid"/>
            <a:tailEnd type="triangle"/>
          </a:ln>
        </p:spPr>
      </p:sp>
      <p:sp>
        <p:nvSpPr>
          <p:cNvPr id="8" name="Shape 6"/>
          <p:cNvSpPr/>
          <p:nvPr/>
        </p:nvSpPr>
        <p:spPr>
          <a:xfrm>
            <a:off x="2075688" y="1417320"/>
            <a:ext cx="3063240" cy="438912"/>
          </a:xfrm>
          <a:prstGeom prst="roundRect">
            <a:avLst>
              <a:gd name="adj" fmla="val 50000"/>
            </a:avLst>
          </a:prstGeom>
          <a:solidFill>
            <a:srgbClr val="133A43"/>
          </a:solidFill>
          <a:ln w="12700">
            <a:solidFill>
              <a:srgbClr val="5EE6B0"/>
            </a:solidFill>
            <a:prstDash val="solid"/>
          </a:ln>
        </p:spPr>
      </p:sp>
      <p:sp>
        <p:nvSpPr>
          <p:cNvPr id="9" name="Text 7"/>
          <p:cNvSpPr/>
          <p:nvPr/>
        </p:nvSpPr>
        <p:spPr>
          <a:xfrm>
            <a:off x="2075688" y="1417320"/>
            <a:ext cx="3063240" cy="438912"/>
          </a:xfrm>
          <a:prstGeom prst="rect">
            <a:avLst/>
          </a:prstGeom>
          <a:noFill/>
          <a:ln/>
        </p:spPr>
        <p:txBody>
          <a:bodyPr wrap="square" lIns="0" tIns="0" rIns="0" bIns="0" rtlCol="0" anchor="ctr"/>
          <a:lstStyle/>
          <a:p>
            <a:pPr algn="ctr" indent="0" marL="0">
              <a:buNone/>
            </a:pPr>
            <a:r>
              <a:rPr lang="en-US" sz="1150" b="1" dirty="0">
                <a:solidFill>
                  <a:srgbClr val="EAF3F4"/>
                </a:solidFill>
                <a:latin typeface="Segoe UI" pitchFamily="34" charset="0"/>
                <a:ea typeface="Segoe UI" pitchFamily="34" charset="-122"/>
                <a:cs typeface="Segoe UI" pitchFamily="34" charset="-120"/>
              </a:rPr>
              <a:t>Harian: pakan, kematian, perawatan</a:t>
            </a:r>
            <a:endParaRPr lang="en-US" sz="1150" dirty="0"/>
          </a:p>
        </p:txBody>
      </p:sp>
      <p:sp>
        <p:nvSpPr>
          <p:cNvPr id="10" name="Shape 8"/>
          <p:cNvSpPr/>
          <p:nvPr/>
        </p:nvSpPr>
        <p:spPr>
          <a:xfrm>
            <a:off x="5175504" y="1636776"/>
            <a:ext cx="292608" cy="914"/>
          </a:xfrm>
          <a:prstGeom prst="line">
            <a:avLst/>
          </a:prstGeom>
          <a:noFill/>
          <a:ln w="19050">
            <a:solidFill>
              <a:srgbClr val="5EE6B0"/>
            </a:solidFill>
            <a:prstDash val="solid"/>
            <a:tailEnd type="triangle"/>
          </a:ln>
        </p:spPr>
      </p:sp>
      <p:sp>
        <p:nvSpPr>
          <p:cNvPr id="11" name="Shape 9"/>
          <p:cNvSpPr/>
          <p:nvPr/>
        </p:nvSpPr>
        <p:spPr>
          <a:xfrm>
            <a:off x="5522976" y="1417320"/>
            <a:ext cx="1783080" cy="438912"/>
          </a:xfrm>
          <a:prstGeom prst="roundRect">
            <a:avLst>
              <a:gd name="adj" fmla="val 50000"/>
            </a:avLst>
          </a:prstGeom>
          <a:solidFill>
            <a:srgbClr val="133A43"/>
          </a:solidFill>
          <a:ln w="12700">
            <a:solidFill>
              <a:srgbClr val="5EE6B0"/>
            </a:solidFill>
            <a:prstDash val="solid"/>
          </a:ln>
        </p:spPr>
      </p:sp>
      <p:sp>
        <p:nvSpPr>
          <p:cNvPr id="12" name="Text 10"/>
          <p:cNvSpPr/>
          <p:nvPr/>
        </p:nvSpPr>
        <p:spPr>
          <a:xfrm>
            <a:off x="5522976" y="1417320"/>
            <a:ext cx="1783080" cy="438912"/>
          </a:xfrm>
          <a:prstGeom prst="rect">
            <a:avLst/>
          </a:prstGeom>
          <a:noFill/>
          <a:ln/>
        </p:spPr>
        <p:txBody>
          <a:bodyPr wrap="square" lIns="0" tIns="0" rIns="0" bIns="0" rtlCol="0" anchor="ctr"/>
          <a:lstStyle/>
          <a:p>
            <a:pPr algn="ctr" indent="0" marL="0">
              <a:buNone/>
            </a:pPr>
            <a:r>
              <a:rPr lang="en-US" sz="1150" b="1" dirty="0">
                <a:solidFill>
                  <a:srgbClr val="EAF3F4"/>
                </a:solidFill>
                <a:latin typeface="Segoe UI" pitchFamily="34" charset="0"/>
                <a:ea typeface="Segoe UI" pitchFamily="34" charset="-122"/>
                <a:cs typeface="Segoe UI" pitchFamily="34" charset="-120"/>
              </a:rPr>
              <a:t>Sampling berat</a:t>
            </a:r>
            <a:endParaRPr lang="en-US" sz="1150" dirty="0"/>
          </a:p>
        </p:txBody>
      </p:sp>
      <p:sp>
        <p:nvSpPr>
          <p:cNvPr id="13" name="Shape 11"/>
          <p:cNvSpPr/>
          <p:nvPr/>
        </p:nvSpPr>
        <p:spPr>
          <a:xfrm>
            <a:off x="7342632" y="1636776"/>
            <a:ext cx="292608" cy="914"/>
          </a:xfrm>
          <a:prstGeom prst="line">
            <a:avLst/>
          </a:prstGeom>
          <a:noFill/>
          <a:ln w="19050">
            <a:solidFill>
              <a:srgbClr val="5EE6B0"/>
            </a:solidFill>
            <a:prstDash val="solid"/>
            <a:tailEnd type="triangle"/>
          </a:ln>
        </p:spPr>
      </p:sp>
      <p:sp>
        <p:nvSpPr>
          <p:cNvPr id="14" name="Shape 12"/>
          <p:cNvSpPr/>
          <p:nvPr/>
        </p:nvSpPr>
        <p:spPr>
          <a:xfrm>
            <a:off x="7690104" y="1417320"/>
            <a:ext cx="1920240" cy="438912"/>
          </a:xfrm>
          <a:prstGeom prst="roundRect">
            <a:avLst>
              <a:gd name="adj" fmla="val 50000"/>
            </a:avLst>
          </a:prstGeom>
          <a:solidFill>
            <a:srgbClr val="133A43"/>
          </a:solidFill>
          <a:ln w="12700">
            <a:solidFill>
              <a:srgbClr val="5EE6B0"/>
            </a:solidFill>
            <a:prstDash val="solid"/>
          </a:ln>
        </p:spPr>
      </p:sp>
      <p:sp>
        <p:nvSpPr>
          <p:cNvPr id="15" name="Text 13"/>
          <p:cNvSpPr/>
          <p:nvPr/>
        </p:nvSpPr>
        <p:spPr>
          <a:xfrm>
            <a:off x="7690104" y="1417320"/>
            <a:ext cx="1920240" cy="438912"/>
          </a:xfrm>
          <a:prstGeom prst="rect">
            <a:avLst/>
          </a:prstGeom>
          <a:noFill/>
          <a:ln/>
        </p:spPr>
        <p:txBody>
          <a:bodyPr wrap="square" lIns="0" tIns="0" rIns="0" bIns="0" rtlCol="0" anchor="ctr"/>
          <a:lstStyle/>
          <a:p>
            <a:pPr algn="ctr" indent="0" marL="0">
              <a:buNone/>
            </a:pPr>
            <a:r>
              <a:rPr lang="en-US" sz="1150" b="1" dirty="0">
                <a:solidFill>
                  <a:srgbClr val="EAF3F4"/>
                </a:solidFill>
                <a:latin typeface="Segoe UI" pitchFamily="34" charset="0"/>
                <a:ea typeface="Segoe UI" pitchFamily="34" charset="-122"/>
                <a:cs typeface="Segoe UI" pitchFamily="34" charset="-120"/>
              </a:rPr>
              <a:t>FCR &amp; sintasan</a:t>
            </a:r>
            <a:endParaRPr lang="en-US" sz="1150" dirty="0"/>
          </a:p>
        </p:txBody>
      </p:sp>
      <p:sp>
        <p:nvSpPr>
          <p:cNvPr id="16" name="Shape 14"/>
          <p:cNvSpPr/>
          <p:nvPr/>
        </p:nvSpPr>
        <p:spPr>
          <a:xfrm>
            <a:off x="9646920" y="1636776"/>
            <a:ext cx="292608" cy="914"/>
          </a:xfrm>
          <a:prstGeom prst="line">
            <a:avLst/>
          </a:prstGeom>
          <a:noFill/>
          <a:ln w="19050">
            <a:solidFill>
              <a:srgbClr val="5EE6B0"/>
            </a:solidFill>
            <a:prstDash val="solid"/>
            <a:tailEnd type="triangle"/>
          </a:ln>
        </p:spPr>
      </p:sp>
      <p:sp>
        <p:nvSpPr>
          <p:cNvPr id="17" name="Shape 15"/>
          <p:cNvSpPr/>
          <p:nvPr/>
        </p:nvSpPr>
        <p:spPr>
          <a:xfrm>
            <a:off x="9994392" y="1417320"/>
            <a:ext cx="1143000" cy="438912"/>
          </a:xfrm>
          <a:prstGeom prst="roundRect">
            <a:avLst>
              <a:gd name="adj" fmla="val 50000"/>
            </a:avLst>
          </a:prstGeom>
          <a:solidFill>
            <a:srgbClr val="5EE6B0"/>
          </a:solidFill>
          <a:ln w="12700">
            <a:solidFill>
              <a:srgbClr val="5EE6B0"/>
            </a:solidFill>
            <a:prstDash val="solid"/>
          </a:ln>
        </p:spPr>
      </p:sp>
      <p:sp>
        <p:nvSpPr>
          <p:cNvPr id="18" name="Text 16"/>
          <p:cNvSpPr/>
          <p:nvPr/>
        </p:nvSpPr>
        <p:spPr>
          <a:xfrm>
            <a:off x="9994392" y="1417320"/>
            <a:ext cx="1143000" cy="438912"/>
          </a:xfrm>
          <a:prstGeom prst="rect">
            <a:avLst/>
          </a:prstGeom>
          <a:noFill/>
          <a:ln/>
        </p:spPr>
        <p:txBody>
          <a:bodyPr wrap="square" lIns="0" tIns="0" rIns="0" bIns="0" rtlCol="0" anchor="ctr"/>
          <a:lstStyle/>
          <a:p>
            <a:pPr algn="ctr" indent="0" marL="0">
              <a:buNone/>
            </a:pPr>
            <a:r>
              <a:rPr lang="en-US" sz="1150" b="1" dirty="0">
                <a:solidFill>
                  <a:srgbClr val="0A1E24"/>
                </a:solidFill>
                <a:latin typeface="Segoe UI" pitchFamily="34" charset="0"/>
                <a:ea typeface="Segoe UI" pitchFamily="34" charset="-122"/>
                <a:cs typeface="Segoe UI" pitchFamily="34" charset="-120"/>
              </a:rPr>
              <a:t>Panen</a:t>
            </a:r>
            <a:endParaRPr lang="en-US" sz="1150" dirty="0"/>
          </a:p>
        </p:txBody>
      </p:sp>
      <p:sp>
        <p:nvSpPr>
          <p:cNvPr id="19" name="Shape 17"/>
          <p:cNvSpPr/>
          <p:nvPr/>
        </p:nvSpPr>
        <p:spPr>
          <a:xfrm>
            <a:off x="512064" y="2112264"/>
            <a:ext cx="5650992" cy="1210265"/>
          </a:xfrm>
          <a:prstGeom prst="roundRect">
            <a:avLst>
              <a:gd name="adj" fmla="val 4533"/>
            </a:avLst>
          </a:prstGeom>
          <a:solidFill>
            <a:srgbClr val="0B1A1F"/>
          </a:solidFill>
          <a:ln w="12700">
            <a:solidFill>
              <a:srgbClr val="24505A"/>
            </a:solidFill>
            <a:prstDash val="solid"/>
          </a:ln>
        </p:spPr>
      </p:sp>
      <p:pic>
        <p:nvPicPr>
          <p:cNvPr id="20" name="Image 0" descr="C:\Users\Steven Waruwu\AppData\Local\Temp\claude\d--KKP\3497f670-cbc2-4672-b31d-c2fc16f14f69\scratchpad\deckgen\img/c-siklus.png">    </p:cNvPr>
          <p:cNvPicPr>
            <a:picLocks noChangeAspect="1"/>
          </p:cNvPicPr>
          <p:nvPr/>
        </p:nvPicPr>
        <p:blipFill>
          <a:blip r:embed="rId2"/>
          <a:stretch>
            <a:fillRect/>
          </a:stretch>
        </p:blipFill>
        <p:spPr>
          <a:xfrm>
            <a:off x="548640" y="2148840"/>
            <a:ext cx="5577840" cy="1137113"/>
          </a:xfrm>
          <a:prstGeom prst="rect">
            <a:avLst/>
          </a:prstGeom>
        </p:spPr>
      </p:pic>
      <p:sp>
        <p:nvSpPr>
          <p:cNvPr id="21" name="Text 18"/>
          <p:cNvSpPr/>
          <p:nvPr/>
        </p:nvSpPr>
        <p:spPr>
          <a:xfrm>
            <a:off x="548640" y="3359105"/>
            <a:ext cx="5577840" cy="228600"/>
          </a:xfrm>
          <a:prstGeom prst="rect">
            <a:avLst/>
          </a:prstGeom>
          <a:noFill/>
          <a:ln/>
        </p:spPr>
        <p:txBody>
          <a:bodyPr wrap="square" lIns="0" tIns="0" rIns="0" bIns="0" rtlCol="0" anchor="t"/>
          <a:lstStyle/>
          <a:p>
            <a:pPr indent="0" marL="0">
              <a:buNone/>
            </a:pPr>
            <a:r>
              <a:rPr lang="en-US" sz="1050" dirty="0">
                <a:solidFill>
                  <a:srgbClr val="86A0A6"/>
                </a:solidFill>
                <a:latin typeface="Segoe UI" pitchFamily="34" charset="0"/>
                <a:ea typeface="Segoe UI" pitchFamily="34" charset="-122"/>
                <a:cs typeface="Segoe UI" pitchFamily="34" charset="-120"/>
              </a:rPr>
              <a:t>Siklus per kolam: populasi, berat, FCR, pakan hari ini</a:t>
            </a:r>
            <a:endParaRPr lang="en-US" sz="1050" dirty="0"/>
          </a:p>
        </p:txBody>
      </p:sp>
      <p:sp>
        <p:nvSpPr>
          <p:cNvPr id="22" name="Text 19"/>
          <p:cNvSpPr/>
          <p:nvPr/>
        </p:nvSpPr>
        <p:spPr>
          <a:xfrm>
            <a:off x="548640" y="3743153"/>
            <a:ext cx="5577840" cy="2377440"/>
          </a:xfrm>
          <a:prstGeom prst="rect">
            <a:avLst/>
          </a:prstGeom>
          <a:noFill/>
          <a:ln/>
        </p:spPr>
        <p:txBody>
          <a:bodyPr wrap="square" lIns="0" tIns="0" rIns="0" bIns="0" rtlCol="0" anchor="t"/>
          <a:lstStyle/>
          <a:p>
            <a:pPr indent="0" marL="0">
              <a:buNone/>
            </a:pPr>
            <a:r>
              <a:rPr lang="en-US" sz="1250" b="1" dirty="0">
                <a:solidFill>
                  <a:srgbClr val="EAF3F4"/>
                </a:solidFill>
                <a:latin typeface="Segoe UI" pitchFamily="34" charset="0"/>
                <a:ea typeface="Segoe UI" pitchFamily="34" charset="-122"/>
                <a:cs typeface="Segoe UI" pitchFamily="34" charset="-120"/>
              </a:rPr>
              <a:t>Produksi tercatat dari lapangan</a:t>
            </a:r>
            <a:endParaRPr lang="en-US" sz="1250" dirty="0"/>
          </a:p>
          <a:p>
            <a:pPr indent="0" marL="0">
              <a:buNone/>
            </a:pPr>
            <a:r>
              <a:rPr lang="en-US" sz="1250" dirty="0">
                <a:solidFill>
                  <a:srgbClr val="B9CCD0"/>
                </a:solidFill>
                <a:latin typeface="Segoe UI" pitchFamily="34" charset="0"/>
                <a:ea typeface="Segoe UI" pitchFamily="34" charset="-122"/>
                <a:cs typeface="Segoe UI" pitchFamily="34" charset="-120"/>
              </a:rPr>
              <a:t>Operator mencatat pakan, kematian, sampling dan perawatan di HP; FCR dan sintasan dihitung otomatis dan diberi anjuran.</a:t>
            </a:r>
            <a:endParaRPr lang="en-US" sz="1250" dirty="0"/>
          </a:p>
          <a:p>
            <a:pPr indent="0" marL="0">
              <a:buNone/>
            </a:pPr>
            <a:r>
              <a:rPr lang="en-US" sz="600" dirty="0">
                <a:solidFill>
                  <a:srgbClr val="EAF3F4"/>
                </a:solidFill>
                <a:latin typeface="Segoe UI" pitchFamily="34" charset="0"/>
                <a:ea typeface="Segoe UI" pitchFamily="34" charset="-122"/>
                <a:cs typeface="Segoe UI" pitchFamily="34" charset="-120"/>
              </a:rPr>
              <a:t> </a:t>
            </a:r>
            <a:endParaRPr lang="en-US" sz="1250" dirty="0"/>
          </a:p>
          <a:p>
            <a:pPr indent="0" marL="0">
              <a:buNone/>
            </a:pPr>
            <a:r>
              <a:rPr lang="en-US" sz="1250" b="1" dirty="0">
                <a:solidFill>
                  <a:srgbClr val="EAF3F4"/>
                </a:solidFill>
                <a:latin typeface="Segoe UI" pitchFamily="34" charset="0"/>
                <a:ea typeface="Segoe UI" pitchFamily="34" charset="-122"/>
                <a:cs typeface="Segoe UI" pitchFamily="34" charset="-120"/>
              </a:rPr>
              <a:t>Rupiah terlihat oleh manajemen</a:t>
            </a:r>
            <a:endParaRPr lang="en-US" sz="1250" dirty="0"/>
          </a:p>
          <a:p>
            <a:pPr indent="0" marL="0">
              <a:buNone/>
            </a:pPr>
            <a:r>
              <a:rPr lang="en-US" sz="1250" dirty="0">
                <a:solidFill>
                  <a:srgbClr val="B9CCD0"/>
                </a:solidFill>
                <a:latin typeface="Segoe UI" pitchFamily="34" charset="0"/>
                <a:ea typeface="Segoe UI" pitchFamily="34" charset="-122"/>
                <a:cs typeface="Segoe UI" pitchFamily="34" charset="-120"/>
              </a:rPr>
              <a:t>Stok hidup, HPP, perkiraan margin, nilai berisiko sekarang, kerugian yang berhasil dicegah, dan balik modal kit — per kolam dan per lokasi.</a:t>
            </a:r>
            <a:endParaRPr lang="en-US" sz="1250" dirty="0"/>
          </a:p>
          <a:p>
            <a:pPr indent="0" marL="0">
              <a:buNone/>
            </a:pPr>
            <a:r>
              <a:rPr lang="en-US" sz="600" dirty="0">
                <a:solidFill>
                  <a:srgbClr val="EAF3F4"/>
                </a:solidFill>
                <a:latin typeface="Segoe UI" pitchFamily="34" charset="0"/>
                <a:ea typeface="Segoe UI" pitchFamily="34" charset="-122"/>
                <a:cs typeface="Segoe UI" pitchFamily="34" charset="-120"/>
              </a:rPr>
              <a:t> </a:t>
            </a:r>
            <a:endParaRPr lang="en-US" sz="1250" dirty="0"/>
          </a:p>
          <a:p>
            <a:pPr indent="0" marL="0">
              <a:buNone/>
            </a:pPr>
            <a:r>
              <a:rPr lang="en-US" sz="1250" b="1" dirty="0">
                <a:solidFill>
                  <a:srgbClr val="5EE6B0"/>
                </a:solidFill>
                <a:latin typeface="Segoe UI" pitchFamily="34" charset="0"/>
                <a:ea typeface="Segoe UI" pitchFamily="34" charset="-122"/>
                <a:cs typeface="Segoe UI" pitchFamily="34" charset="-120"/>
              </a:rPr>
              <a:t>KPI sebanding antar site</a:t>
            </a:r>
            <a:endParaRPr lang="en-US" sz="1250" dirty="0"/>
          </a:p>
          <a:p>
            <a:pPr indent="0" marL="0">
              <a:buNone/>
            </a:pPr>
            <a:r>
              <a:rPr lang="en-US" sz="1250" dirty="0">
                <a:solidFill>
                  <a:srgbClr val="B9CCD0"/>
                </a:solidFill>
                <a:latin typeface="Segoe UI" pitchFamily="34" charset="0"/>
                <a:ea typeface="Segoe UI" pitchFamily="34" charset="-122"/>
                <a:cs typeface="Segoe UI" pitchFamily="34" charset="-120"/>
              </a:rPr>
              <a:t>Sintasan, FCR, energi/kg, uptime alat — baseline diukur di Fase 1.</a:t>
            </a:r>
            <a:endParaRPr lang="en-US" sz="1250" dirty="0"/>
          </a:p>
        </p:txBody>
      </p:sp>
      <p:sp>
        <p:nvSpPr>
          <p:cNvPr id="23" name="Shape 20"/>
          <p:cNvSpPr/>
          <p:nvPr/>
        </p:nvSpPr>
        <p:spPr>
          <a:xfrm>
            <a:off x="6318504" y="2112264"/>
            <a:ext cx="5358384" cy="2440814"/>
          </a:xfrm>
          <a:prstGeom prst="roundRect">
            <a:avLst>
              <a:gd name="adj" fmla="val 2248"/>
            </a:avLst>
          </a:prstGeom>
          <a:solidFill>
            <a:srgbClr val="0B1A1F"/>
          </a:solidFill>
          <a:ln w="12700">
            <a:solidFill>
              <a:srgbClr val="24505A"/>
            </a:solidFill>
            <a:prstDash val="solid"/>
          </a:ln>
        </p:spPr>
      </p:sp>
      <p:pic>
        <p:nvPicPr>
          <p:cNvPr id="24" name="Image 1" descr="C:\Users\Steven Waruwu\AppData\Local\Temp\claude\d--KKP\3497f670-cbc2-4672-b31d-c2fc16f14f69\scratchpad\deckgen\img/c-keuangan.png">    </p:cNvPr>
          <p:cNvPicPr>
            <a:picLocks noChangeAspect="1"/>
          </p:cNvPicPr>
          <p:nvPr/>
        </p:nvPicPr>
        <p:blipFill>
          <a:blip r:embed="rId3"/>
          <a:stretch>
            <a:fillRect/>
          </a:stretch>
        </p:blipFill>
        <p:spPr>
          <a:xfrm>
            <a:off x="6355080" y="2148840"/>
            <a:ext cx="5285232" cy="2367662"/>
          </a:xfrm>
          <a:prstGeom prst="rect">
            <a:avLst/>
          </a:prstGeom>
        </p:spPr>
      </p:pic>
      <p:sp>
        <p:nvSpPr>
          <p:cNvPr id="25" name="Text 21"/>
          <p:cNvSpPr/>
          <p:nvPr/>
        </p:nvSpPr>
        <p:spPr>
          <a:xfrm>
            <a:off x="6355080" y="4589654"/>
            <a:ext cx="5285232" cy="228600"/>
          </a:xfrm>
          <a:prstGeom prst="rect">
            <a:avLst/>
          </a:prstGeom>
          <a:noFill/>
          <a:ln/>
        </p:spPr>
        <p:txBody>
          <a:bodyPr wrap="square" lIns="0" tIns="0" rIns="0" bIns="0" rtlCol="0" anchor="t"/>
          <a:lstStyle/>
          <a:p>
            <a:pPr indent="0" marL="0">
              <a:buNone/>
            </a:pPr>
            <a:r>
              <a:rPr lang="en-US" sz="1050" dirty="0">
                <a:solidFill>
                  <a:srgbClr val="86A0A6"/>
                </a:solidFill>
                <a:latin typeface="Segoe UI" pitchFamily="34" charset="0"/>
                <a:ea typeface="Segoe UI" pitchFamily="34" charset="-122"/>
                <a:cs typeface="Segoe UI" pitchFamily="34" charset="-120"/>
              </a:rPr>
              <a:t>Modul Keuangan · angka contoh dari prototipe, bukan transaksi</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12</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F5D35C"/>
                </a:solidFill>
                <a:latin typeface="Segoe UI" pitchFamily="34" charset="0"/>
                <a:ea typeface="Segoe UI" pitchFamily="34" charset="-122"/>
                <a:cs typeface="Segoe UI" pitchFamily="34" charset="-120"/>
              </a:rPr>
              <a:t>SIKLUS INFRASTRUKTUR</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Sensor yang dirawat adalah sensor yang bisa dipercaya</a:t>
            </a:r>
            <a:endParaRPr lang="en-US" sz="2700" dirty="0"/>
          </a:p>
        </p:txBody>
      </p:sp>
      <p:sp>
        <p:nvSpPr>
          <p:cNvPr id="5" name="Shape 3"/>
          <p:cNvSpPr/>
          <p:nvPr/>
        </p:nvSpPr>
        <p:spPr>
          <a:xfrm>
            <a:off x="548640" y="1463040"/>
            <a:ext cx="2670048" cy="2788920"/>
          </a:xfrm>
          <a:prstGeom prst="roundRect">
            <a:avLst>
              <a:gd name="adj" fmla="val 3082"/>
            </a:avLst>
          </a:prstGeom>
          <a:solidFill>
            <a:srgbClr val="0F2C33"/>
          </a:solidFill>
          <a:ln w="12700">
            <a:solidFill>
              <a:srgbClr val="5EE6B0"/>
            </a:solidFill>
            <a:prstDash val="solid"/>
          </a:ln>
        </p:spPr>
      </p:sp>
      <p:sp>
        <p:nvSpPr>
          <p:cNvPr id="6" name="Shape 4"/>
          <p:cNvSpPr/>
          <p:nvPr/>
        </p:nvSpPr>
        <p:spPr>
          <a:xfrm>
            <a:off x="548640" y="1463040"/>
            <a:ext cx="2670048" cy="73152"/>
          </a:xfrm>
          <a:prstGeom prst="rect">
            <a:avLst/>
          </a:prstGeom>
          <a:solidFill>
            <a:srgbClr val="5EE6B0"/>
          </a:solidFill>
          <a:ln w="12700">
            <a:solidFill>
              <a:srgbClr val="5EE6B0"/>
            </a:solidFill>
            <a:prstDash val="solid"/>
          </a:ln>
        </p:spPr>
      </p:sp>
      <p:sp>
        <p:nvSpPr>
          <p:cNvPr id="7" name="Text 5"/>
          <p:cNvSpPr/>
          <p:nvPr/>
        </p:nvSpPr>
        <p:spPr>
          <a:xfrm>
            <a:off x="749808" y="1691640"/>
            <a:ext cx="2304288" cy="347472"/>
          </a:xfrm>
          <a:prstGeom prst="rect">
            <a:avLst/>
          </a:prstGeom>
          <a:noFill/>
          <a:ln/>
        </p:spPr>
        <p:txBody>
          <a:bodyPr wrap="square" lIns="0" tIns="0" rIns="0" bIns="0" rtlCol="0" anchor="t"/>
          <a:lstStyle/>
          <a:p>
            <a:pPr indent="0" marL="0">
              <a:buNone/>
            </a:pPr>
            <a:r>
              <a:rPr lang="en-US" sz="1700" dirty="0">
                <a:solidFill>
                  <a:srgbClr val="5EE6B0"/>
                </a:solidFill>
                <a:latin typeface="Segoe UI Semibold" pitchFamily="34" charset="0"/>
                <a:ea typeface="Segoe UI Semibold" pitchFamily="34" charset="-122"/>
                <a:cs typeface="Segoe UI Semibold" pitchFamily="34" charset="-120"/>
              </a:rPr>
              <a:t>Terus-menerus</a:t>
            </a:r>
            <a:endParaRPr lang="en-US" sz="1700" dirty="0"/>
          </a:p>
        </p:txBody>
      </p:sp>
      <p:sp>
        <p:nvSpPr>
          <p:cNvPr id="8" name="Text 6"/>
          <p:cNvSpPr/>
          <p:nvPr/>
        </p:nvSpPr>
        <p:spPr>
          <a:xfrm>
            <a:off x="749808" y="2057400"/>
            <a:ext cx="2304288" cy="237744"/>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otomatis</a:t>
            </a:r>
            <a:endParaRPr lang="en-US" sz="1100" dirty="0"/>
          </a:p>
        </p:txBody>
      </p:sp>
      <p:sp>
        <p:nvSpPr>
          <p:cNvPr id="9" name="Text 7"/>
          <p:cNvSpPr/>
          <p:nvPr/>
        </p:nvSpPr>
        <p:spPr>
          <a:xfrm>
            <a:off x="749808" y="2468880"/>
            <a:ext cx="2304288"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Data macet, hilang, atau lonjakan</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Dua sensor DO tidak sepakat</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Aerator tidak merespons</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Kesehatan edge, UPS, 4G</a:t>
            </a:r>
            <a:endParaRPr lang="en-US" sz="1200" dirty="0"/>
          </a:p>
        </p:txBody>
      </p:sp>
      <p:sp>
        <p:nvSpPr>
          <p:cNvPr id="10" name="Shape 8"/>
          <p:cNvSpPr/>
          <p:nvPr/>
        </p:nvSpPr>
        <p:spPr>
          <a:xfrm>
            <a:off x="3355848" y="1463040"/>
            <a:ext cx="2670048" cy="2788920"/>
          </a:xfrm>
          <a:prstGeom prst="roundRect">
            <a:avLst>
              <a:gd name="adj" fmla="val 3082"/>
            </a:avLst>
          </a:prstGeom>
          <a:solidFill>
            <a:srgbClr val="0F2C33"/>
          </a:solidFill>
          <a:ln w="12700">
            <a:solidFill>
              <a:srgbClr val="3FD0D4"/>
            </a:solidFill>
            <a:prstDash val="solid"/>
          </a:ln>
        </p:spPr>
      </p:sp>
      <p:sp>
        <p:nvSpPr>
          <p:cNvPr id="11" name="Shape 9"/>
          <p:cNvSpPr/>
          <p:nvPr/>
        </p:nvSpPr>
        <p:spPr>
          <a:xfrm>
            <a:off x="3355848" y="1463040"/>
            <a:ext cx="2670048" cy="73152"/>
          </a:xfrm>
          <a:prstGeom prst="rect">
            <a:avLst/>
          </a:prstGeom>
          <a:solidFill>
            <a:srgbClr val="3FD0D4"/>
          </a:solidFill>
          <a:ln w="12700">
            <a:solidFill>
              <a:srgbClr val="3FD0D4"/>
            </a:solidFill>
            <a:prstDash val="solid"/>
          </a:ln>
        </p:spPr>
      </p:sp>
      <p:sp>
        <p:nvSpPr>
          <p:cNvPr id="12" name="Text 10"/>
          <p:cNvSpPr/>
          <p:nvPr/>
        </p:nvSpPr>
        <p:spPr>
          <a:xfrm>
            <a:off x="3557016" y="1691640"/>
            <a:ext cx="2304288" cy="347472"/>
          </a:xfrm>
          <a:prstGeom prst="rect">
            <a:avLst/>
          </a:prstGeom>
          <a:noFill/>
          <a:ln/>
        </p:spPr>
        <p:txBody>
          <a:bodyPr wrap="square" lIns="0" tIns="0" rIns="0" bIns="0" rtlCol="0" anchor="t"/>
          <a:lstStyle/>
          <a:p>
            <a:pPr indent="0" marL="0">
              <a:buNone/>
            </a:pPr>
            <a:r>
              <a:rPr lang="en-US" sz="1700" dirty="0">
                <a:solidFill>
                  <a:srgbClr val="3FD0D4"/>
                </a:solidFill>
                <a:latin typeface="Segoe UI Semibold" pitchFamily="34" charset="0"/>
                <a:ea typeface="Segoe UI Semibold" pitchFamily="34" charset="-122"/>
                <a:cs typeface="Segoe UI Semibold" pitchFamily="34" charset="-120"/>
              </a:rPr>
              <a:t>Mingguan</a:t>
            </a:r>
            <a:endParaRPr lang="en-US" sz="1700" dirty="0"/>
          </a:p>
        </p:txBody>
      </p:sp>
      <p:sp>
        <p:nvSpPr>
          <p:cNvPr id="13" name="Text 11"/>
          <p:cNvSpPr/>
          <p:nvPr/>
        </p:nvSpPr>
        <p:spPr>
          <a:xfrm>
            <a:off x="3557016" y="2057400"/>
            <a:ext cx="2304288" cy="237744"/>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operator</a:t>
            </a:r>
            <a:endParaRPr lang="en-US" sz="1100" dirty="0"/>
          </a:p>
        </p:txBody>
      </p:sp>
      <p:sp>
        <p:nvSpPr>
          <p:cNvPr id="14" name="Text 12"/>
          <p:cNvSpPr/>
          <p:nvPr/>
        </p:nvSpPr>
        <p:spPr>
          <a:xfrm>
            <a:off x="3557016" y="2468880"/>
            <a:ext cx="2304288"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Bersihkan probe dari lumut dan lumpur</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Cek DO dengan alat genggam</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Cek fisik kabel &amp; junction box</a:t>
            </a:r>
            <a:endParaRPr lang="en-US" sz="1200" dirty="0"/>
          </a:p>
        </p:txBody>
      </p:sp>
      <p:sp>
        <p:nvSpPr>
          <p:cNvPr id="15" name="Shape 13"/>
          <p:cNvSpPr/>
          <p:nvPr/>
        </p:nvSpPr>
        <p:spPr>
          <a:xfrm>
            <a:off x="6163056" y="1463040"/>
            <a:ext cx="2670048" cy="2788920"/>
          </a:xfrm>
          <a:prstGeom prst="roundRect">
            <a:avLst>
              <a:gd name="adj" fmla="val 3082"/>
            </a:avLst>
          </a:prstGeom>
          <a:solidFill>
            <a:srgbClr val="0F2C33"/>
          </a:solidFill>
          <a:ln w="12700">
            <a:solidFill>
              <a:srgbClr val="F5D35C"/>
            </a:solidFill>
            <a:prstDash val="solid"/>
          </a:ln>
        </p:spPr>
      </p:sp>
      <p:sp>
        <p:nvSpPr>
          <p:cNvPr id="16" name="Shape 14"/>
          <p:cNvSpPr/>
          <p:nvPr/>
        </p:nvSpPr>
        <p:spPr>
          <a:xfrm>
            <a:off x="6163056" y="1463040"/>
            <a:ext cx="2670048" cy="73152"/>
          </a:xfrm>
          <a:prstGeom prst="rect">
            <a:avLst/>
          </a:prstGeom>
          <a:solidFill>
            <a:srgbClr val="F5D35C"/>
          </a:solidFill>
          <a:ln w="12700">
            <a:solidFill>
              <a:srgbClr val="F5D35C"/>
            </a:solidFill>
            <a:prstDash val="solid"/>
          </a:ln>
        </p:spPr>
      </p:sp>
      <p:sp>
        <p:nvSpPr>
          <p:cNvPr id="17" name="Text 15"/>
          <p:cNvSpPr/>
          <p:nvPr/>
        </p:nvSpPr>
        <p:spPr>
          <a:xfrm>
            <a:off x="6364224" y="1691640"/>
            <a:ext cx="2304288" cy="347472"/>
          </a:xfrm>
          <a:prstGeom prst="rect">
            <a:avLst/>
          </a:prstGeom>
          <a:noFill/>
          <a:ln/>
        </p:spPr>
        <p:txBody>
          <a:bodyPr wrap="square" lIns="0" tIns="0" rIns="0" bIns="0" rtlCol="0" anchor="t"/>
          <a:lstStyle/>
          <a:p>
            <a:pPr indent="0" marL="0">
              <a:buNone/>
            </a:pPr>
            <a:r>
              <a:rPr lang="en-US" sz="1700" dirty="0">
                <a:solidFill>
                  <a:srgbClr val="F5D35C"/>
                </a:solidFill>
                <a:latin typeface="Segoe UI Semibold" pitchFamily="34" charset="0"/>
                <a:ea typeface="Segoe UI Semibold" pitchFamily="34" charset="-122"/>
                <a:cs typeface="Segoe UI Semibold" pitchFamily="34" charset="-120"/>
              </a:rPr>
              <a:t>Bulanan</a:t>
            </a:r>
            <a:endParaRPr lang="en-US" sz="1700" dirty="0"/>
          </a:p>
        </p:txBody>
      </p:sp>
      <p:sp>
        <p:nvSpPr>
          <p:cNvPr id="18" name="Text 16"/>
          <p:cNvSpPr/>
          <p:nvPr/>
        </p:nvSpPr>
        <p:spPr>
          <a:xfrm>
            <a:off x="6364224" y="2057400"/>
            <a:ext cx="2304288" cy="237744"/>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teknisi</a:t>
            </a:r>
            <a:endParaRPr lang="en-US" sz="1100" dirty="0"/>
          </a:p>
        </p:txBody>
      </p:sp>
      <p:sp>
        <p:nvSpPr>
          <p:cNvPr id="19" name="Text 17"/>
          <p:cNvSpPr/>
          <p:nvPr/>
        </p:nvSpPr>
        <p:spPr>
          <a:xfrm>
            <a:off x="6364224" y="2468880"/>
            <a:ext cx="2304288"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Kalibrasi DO, pH, EC, TAN</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TAN dicocokkan dengan test kit/lab</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Ganti membran/elektrolit bila perlu</a:t>
            </a:r>
            <a:endParaRPr lang="en-US" sz="1200" dirty="0"/>
          </a:p>
        </p:txBody>
      </p:sp>
      <p:sp>
        <p:nvSpPr>
          <p:cNvPr id="20" name="Shape 18"/>
          <p:cNvSpPr/>
          <p:nvPr/>
        </p:nvSpPr>
        <p:spPr>
          <a:xfrm>
            <a:off x="8970264" y="1463040"/>
            <a:ext cx="2670048" cy="2788920"/>
          </a:xfrm>
          <a:prstGeom prst="roundRect">
            <a:avLst>
              <a:gd name="adj" fmla="val 3082"/>
            </a:avLst>
          </a:prstGeom>
          <a:solidFill>
            <a:srgbClr val="0F2C33"/>
          </a:solidFill>
          <a:ln w="12700">
            <a:solidFill>
              <a:srgbClr val="FFB347"/>
            </a:solidFill>
            <a:prstDash val="solid"/>
          </a:ln>
        </p:spPr>
      </p:sp>
      <p:sp>
        <p:nvSpPr>
          <p:cNvPr id="21" name="Shape 19"/>
          <p:cNvSpPr/>
          <p:nvPr/>
        </p:nvSpPr>
        <p:spPr>
          <a:xfrm>
            <a:off x="8970264" y="1463040"/>
            <a:ext cx="2670048" cy="73152"/>
          </a:xfrm>
          <a:prstGeom prst="rect">
            <a:avLst/>
          </a:prstGeom>
          <a:solidFill>
            <a:srgbClr val="FFB347"/>
          </a:solidFill>
          <a:ln w="12700">
            <a:solidFill>
              <a:srgbClr val="FFB347"/>
            </a:solidFill>
            <a:prstDash val="solid"/>
          </a:ln>
        </p:spPr>
      </p:sp>
      <p:sp>
        <p:nvSpPr>
          <p:cNvPr id="22" name="Text 20"/>
          <p:cNvSpPr/>
          <p:nvPr/>
        </p:nvSpPr>
        <p:spPr>
          <a:xfrm>
            <a:off x="9171432" y="1691640"/>
            <a:ext cx="2304288" cy="347472"/>
          </a:xfrm>
          <a:prstGeom prst="rect">
            <a:avLst/>
          </a:prstGeom>
          <a:noFill/>
          <a:ln/>
        </p:spPr>
        <p:txBody>
          <a:bodyPr wrap="square" lIns="0" tIns="0" rIns="0" bIns="0" rtlCol="0" anchor="t"/>
          <a:lstStyle/>
          <a:p>
            <a:pPr indent="0" marL="0">
              <a:buNone/>
            </a:pPr>
            <a:r>
              <a:rPr lang="en-US" sz="1700" dirty="0">
                <a:solidFill>
                  <a:srgbClr val="FFB347"/>
                </a:solidFill>
                <a:latin typeface="Segoe UI Semibold" pitchFamily="34" charset="0"/>
                <a:ea typeface="Segoe UI Semibold" pitchFamily="34" charset="-122"/>
                <a:cs typeface="Segoe UI Semibold" pitchFamily="34" charset="-120"/>
              </a:rPr>
              <a:t>Per kuartal</a:t>
            </a:r>
            <a:endParaRPr lang="en-US" sz="1700" dirty="0"/>
          </a:p>
        </p:txBody>
      </p:sp>
      <p:sp>
        <p:nvSpPr>
          <p:cNvPr id="23" name="Text 21"/>
          <p:cNvSpPr/>
          <p:nvPr/>
        </p:nvSpPr>
        <p:spPr>
          <a:xfrm>
            <a:off x="9171432" y="2057400"/>
            <a:ext cx="2304288" cy="237744"/>
          </a:xfrm>
          <a:prstGeom prst="rect">
            <a:avLst/>
          </a:prstGeom>
          <a:noFill/>
          <a:ln/>
        </p:spPr>
        <p:txBody>
          <a:bodyPr wrap="square" lIns="0" tIns="0" rIns="0" bIns="0" rtlCol="0" anchor="t"/>
          <a:lstStyle/>
          <a:p>
            <a:pPr indent="0" marL="0">
              <a:buNone/>
            </a:pPr>
            <a:r>
              <a:rPr lang="en-US" sz="1100" dirty="0">
                <a:solidFill>
                  <a:srgbClr val="86A0A6"/>
                </a:solidFill>
                <a:latin typeface="Segoe UI" pitchFamily="34" charset="0"/>
                <a:ea typeface="Segoe UI" pitchFamily="34" charset="-122"/>
                <a:cs typeface="Segoe UI" pitchFamily="34" charset="-120"/>
              </a:rPr>
              <a:t>teknisi + supervisor</a:t>
            </a:r>
            <a:endParaRPr lang="en-US" sz="1100" dirty="0"/>
          </a:p>
        </p:txBody>
      </p:sp>
      <p:sp>
        <p:nvSpPr>
          <p:cNvPr id="24" name="Text 22"/>
          <p:cNvSpPr/>
          <p:nvPr/>
        </p:nvSpPr>
        <p:spPr>
          <a:xfrm>
            <a:off x="9171432" y="2468880"/>
            <a:ext cx="2304288"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Uji kegagalan: cabut 4G, matikan edge aktif, putus satu sensor</a:t>
            </a:r>
            <a:endParaRPr lang="en-US" sz="1200" dirty="0"/>
          </a:p>
          <a:p>
            <a:pPr marL="342900" indent="-342900">
              <a:spcAft>
                <a:spcPts val="600"/>
              </a:spcAft>
              <a:buSzPct val="100000"/>
              <a:buChar char="●"/>
            </a:pPr>
            <a:r>
              <a:rPr lang="en-US" sz="1200" dirty="0">
                <a:solidFill>
                  <a:srgbClr val="B9CCD0"/>
                </a:solidFill>
                <a:latin typeface="Segoe UI" pitchFamily="34" charset="0"/>
                <a:ea typeface="Segoe UI" pitchFamily="34" charset="-122"/>
                <a:cs typeface="Segoe UI" pitchFamily="34" charset="-120"/>
              </a:rPr>
              <a:t>Cek grounding, arrester, baterai UPS</a:t>
            </a:r>
            <a:endParaRPr lang="en-US" sz="1200" dirty="0"/>
          </a:p>
        </p:txBody>
      </p:sp>
      <p:sp>
        <p:nvSpPr>
          <p:cNvPr id="25" name="Shape 23"/>
          <p:cNvSpPr/>
          <p:nvPr/>
        </p:nvSpPr>
        <p:spPr>
          <a:xfrm>
            <a:off x="548640" y="4434840"/>
            <a:ext cx="11091672" cy="685800"/>
          </a:xfrm>
          <a:prstGeom prst="roundRect">
            <a:avLst>
              <a:gd name="adj" fmla="val 12000"/>
            </a:avLst>
          </a:prstGeom>
          <a:solidFill>
            <a:srgbClr val="133A43"/>
          </a:solidFill>
          <a:ln w="12700">
            <a:solidFill>
              <a:srgbClr val="24505A"/>
            </a:solidFill>
            <a:prstDash val="solid"/>
          </a:ln>
        </p:spPr>
      </p:sp>
      <p:sp>
        <p:nvSpPr>
          <p:cNvPr id="26" name="Shape 24"/>
          <p:cNvSpPr/>
          <p:nvPr/>
        </p:nvSpPr>
        <p:spPr>
          <a:xfrm>
            <a:off x="548640" y="4562856"/>
            <a:ext cx="54864" cy="429768"/>
          </a:xfrm>
          <a:prstGeom prst="rect">
            <a:avLst/>
          </a:prstGeom>
          <a:solidFill>
            <a:srgbClr val="FF8A7A"/>
          </a:solidFill>
          <a:ln w="12700">
            <a:solidFill>
              <a:srgbClr val="FF8A7A"/>
            </a:solidFill>
            <a:prstDash val="solid"/>
          </a:ln>
        </p:spPr>
      </p:sp>
      <p:sp>
        <p:nvSpPr>
          <p:cNvPr id="27" name="Text 25"/>
          <p:cNvSpPr/>
          <p:nvPr/>
        </p:nvSpPr>
        <p:spPr>
          <a:xfrm>
            <a:off x="822960" y="4480560"/>
            <a:ext cx="10607040" cy="594360"/>
          </a:xfrm>
          <a:prstGeom prst="rect">
            <a:avLst/>
          </a:prstGeom>
          <a:noFill/>
          <a:ln/>
        </p:spPr>
        <p:txBody>
          <a:bodyPr wrap="square" lIns="0" tIns="0" rIns="0" bIns="0" rtlCol="0" anchor="ctr"/>
          <a:lstStyle/>
          <a:p>
            <a:pPr indent="0" marL="0">
              <a:buNone/>
            </a:pPr>
            <a:r>
              <a:rPr lang="en-US" sz="1200" b="1" dirty="0">
                <a:solidFill>
                  <a:srgbClr val="FF8A7A"/>
                </a:solidFill>
                <a:latin typeface="Segoe UI" pitchFamily="34" charset="0"/>
                <a:ea typeface="Segoe UI" pitchFamily="34" charset="-122"/>
                <a:cs typeface="Segoe UI" pitchFamily="34" charset="-120"/>
              </a:rPr>
              <a:t>Aplikasi yang mengingatkan: </a:t>
            </a:r>
            <a:pPr indent="0" marL="0">
              <a:buNone/>
            </a:pPr>
            <a:r>
              <a:rPr lang="en-US" sz="1200" dirty="0">
                <a:solidFill>
                  <a:srgbClr val="EAF3F4"/>
                </a:solidFill>
                <a:latin typeface="Segoe UI" pitchFamily="34" charset="0"/>
                <a:ea typeface="Segoe UI" pitchFamily="34" charset="-122"/>
                <a:cs typeface="Segoe UI" pitchFamily="34" charset="-120"/>
              </a:rPr>
              <a:t>sensor meragukan ditandai dan tidak dipakai untuk keputusan, jatuh tempo kalibrasi muncul sebagai tugas, gangguan alat masuk ke halaman Kondisi alat.</a:t>
            </a:r>
            <a:endParaRPr lang="en-US" sz="1200" dirty="0"/>
          </a:p>
        </p:txBody>
      </p:sp>
      <p:sp>
        <p:nvSpPr>
          <p:cNvPr id="28" name="Shape 26"/>
          <p:cNvSpPr/>
          <p:nvPr/>
        </p:nvSpPr>
        <p:spPr>
          <a:xfrm>
            <a:off x="548640" y="5257800"/>
            <a:ext cx="11091672" cy="685800"/>
          </a:xfrm>
          <a:prstGeom prst="roundRect">
            <a:avLst>
              <a:gd name="adj" fmla="val 12000"/>
            </a:avLst>
          </a:prstGeom>
          <a:solidFill>
            <a:srgbClr val="133A43"/>
          </a:solidFill>
          <a:ln w="12700">
            <a:solidFill>
              <a:srgbClr val="24505A"/>
            </a:solidFill>
            <a:prstDash val="solid"/>
          </a:ln>
        </p:spPr>
      </p:sp>
      <p:sp>
        <p:nvSpPr>
          <p:cNvPr id="29" name="Shape 27"/>
          <p:cNvSpPr/>
          <p:nvPr/>
        </p:nvSpPr>
        <p:spPr>
          <a:xfrm>
            <a:off x="548640" y="5385816"/>
            <a:ext cx="54864" cy="429768"/>
          </a:xfrm>
          <a:prstGeom prst="rect">
            <a:avLst/>
          </a:prstGeom>
          <a:solidFill>
            <a:srgbClr val="B39DFF"/>
          </a:solidFill>
          <a:ln w="12700">
            <a:solidFill>
              <a:srgbClr val="B39DFF"/>
            </a:solidFill>
            <a:prstDash val="solid"/>
          </a:ln>
        </p:spPr>
      </p:sp>
      <p:sp>
        <p:nvSpPr>
          <p:cNvPr id="30" name="Text 28"/>
          <p:cNvSpPr/>
          <p:nvPr/>
        </p:nvSpPr>
        <p:spPr>
          <a:xfrm>
            <a:off x="822960" y="5303520"/>
            <a:ext cx="10607040" cy="594360"/>
          </a:xfrm>
          <a:prstGeom prst="rect">
            <a:avLst/>
          </a:prstGeom>
          <a:noFill/>
          <a:ln/>
        </p:spPr>
        <p:txBody>
          <a:bodyPr wrap="square" lIns="0" tIns="0" rIns="0" bIns="0" rtlCol="0" anchor="ctr"/>
          <a:lstStyle/>
          <a:p>
            <a:pPr indent="0" marL="0">
              <a:buNone/>
            </a:pPr>
            <a:r>
              <a:rPr lang="en-US" sz="1200" b="1" dirty="0">
                <a:solidFill>
                  <a:srgbClr val="B39DFF"/>
                </a:solidFill>
                <a:latin typeface="Segoe UI" pitchFamily="34" charset="0"/>
                <a:ea typeface="Segoe UI" pitchFamily="34" charset="-122"/>
                <a:cs typeface="Segoe UI" pitchFamily="34" charset="-120"/>
              </a:rPr>
              <a:t>Dukungan &amp; SLA: </a:t>
            </a:r>
            <a:pPr indent="0" marL="0">
              <a:buNone/>
            </a:pPr>
            <a:r>
              <a:rPr lang="en-US" sz="1200" dirty="0">
                <a:solidFill>
                  <a:srgbClr val="EAF3F4"/>
                </a:solidFill>
                <a:latin typeface="Segoe UI" pitchFamily="34" charset="0"/>
                <a:ea typeface="Segoe UI" pitchFamily="34" charset="-122"/>
                <a:cs typeface="Segoe UI" pitchFamily="34" charset="-120"/>
              </a:rPr>
              <a:t>P1 kritis 24/7 — respons 1 jam, selesai 8 jam · P2 jam kerja — respons 4 jam · helpdesk → field engineer → solution architect, satu kontrak satu SLA.</a:t>
            </a:r>
            <a:endParaRPr lang="en-US" sz="1200" dirty="0"/>
          </a:p>
        </p:txBody>
      </p:sp>
      <p:sp>
        <p:nvSpPr>
          <p:cNvPr id="31" name="Text 29"/>
          <p:cNvSpPr/>
          <p:nvPr/>
        </p:nvSpPr>
        <p:spPr>
          <a:xfrm>
            <a:off x="548640" y="6053328"/>
            <a:ext cx="10972800" cy="228600"/>
          </a:xfrm>
          <a:prstGeom prst="rect">
            <a:avLst/>
          </a:prstGeom>
          <a:noFill/>
          <a:ln/>
        </p:spPr>
        <p:txBody>
          <a:bodyPr wrap="square" lIns="0" tIns="0" rIns="0" bIns="0" rtlCol="0" anchor="t"/>
          <a:lstStyle/>
          <a:p>
            <a:pPr indent="0" marL="0">
              <a:buNone/>
            </a:pPr>
            <a:r>
              <a:rPr lang="en-US" sz="1050" dirty="0">
                <a:solidFill>
                  <a:srgbClr val="86A0A6"/>
                </a:solidFill>
                <a:latin typeface="Segoe UI" pitchFamily="34" charset="0"/>
                <a:ea typeface="Segoe UI" pitchFamily="34" charset="-122"/>
                <a:cs typeface="Segoe UI" pitchFamily="34" charset="-120"/>
              </a:rPr>
              <a:t>Frekuensi awal; disetel dengan rekomendasi pabrikan sensor dan data pilot.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13</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3FD0D4"/>
                </a:solidFill>
                <a:latin typeface="Segoe UI" pitchFamily="34" charset="0"/>
                <a:ea typeface="Segoe UI" pitchFamily="34" charset="-122"/>
                <a:cs typeface="Segoe UI" pitchFamily="34" charset="-120"/>
              </a:rPr>
              <a:t>RISIKO &amp; JAWABAN DESAIN</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Setiap risiko di lapangan punya jawabannya</a:t>
            </a:r>
            <a:endParaRPr lang="en-US" sz="2700" dirty="0"/>
          </a:p>
        </p:txBody>
      </p:sp>
      <p:sp>
        <p:nvSpPr>
          <p:cNvPr id="5" name="Text 3"/>
          <p:cNvSpPr/>
          <p:nvPr/>
        </p:nvSpPr>
        <p:spPr>
          <a:xfrm>
            <a:off x="685800" y="1371600"/>
            <a:ext cx="3657600" cy="228600"/>
          </a:xfrm>
          <a:prstGeom prst="rect">
            <a:avLst/>
          </a:prstGeom>
          <a:noFill/>
          <a:ln/>
        </p:spPr>
        <p:txBody>
          <a:bodyPr wrap="square" lIns="0" tIns="0" rIns="0" bIns="0" rtlCol="0" anchor="t"/>
          <a:lstStyle/>
          <a:p>
            <a:pPr indent="0" marL="0">
              <a:buNone/>
            </a:pPr>
            <a:r>
              <a:rPr lang="en-US" sz="1050" b="1" spc="150" kern="0" dirty="0">
                <a:solidFill>
                  <a:srgbClr val="FF8A7A"/>
                </a:solidFill>
                <a:latin typeface="Segoe UI" pitchFamily="34" charset="0"/>
                <a:ea typeface="Segoe UI" pitchFamily="34" charset="-122"/>
                <a:cs typeface="Segoe UI" pitchFamily="34" charset="-120"/>
              </a:rPr>
              <a:t>RISIKO</a:t>
            </a:r>
            <a:endParaRPr lang="en-US" sz="1050" dirty="0"/>
          </a:p>
        </p:txBody>
      </p:sp>
      <p:sp>
        <p:nvSpPr>
          <p:cNvPr id="6" name="Text 4"/>
          <p:cNvSpPr/>
          <p:nvPr/>
        </p:nvSpPr>
        <p:spPr>
          <a:xfrm>
            <a:off x="5257800" y="1371600"/>
            <a:ext cx="3657600" cy="228600"/>
          </a:xfrm>
          <a:prstGeom prst="rect">
            <a:avLst/>
          </a:prstGeom>
          <a:noFill/>
          <a:ln/>
        </p:spPr>
        <p:txBody>
          <a:bodyPr wrap="square" lIns="0" tIns="0" rIns="0" bIns="0" rtlCol="0" anchor="t"/>
          <a:lstStyle/>
          <a:p>
            <a:pPr indent="0" marL="0">
              <a:buNone/>
            </a:pPr>
            <a:r>
              <a:rPr lang="en-US" sz="1050" b="1" spc="150" kern="0" dirty="0">
                <a:solidFill>
                  <a:srgbClr val="5EE6B0"/>
                </a:solidFill>
                <a:latin typeface="Segoe UI" pitchFamily="34" charset="0"/>
                <a:ea typeface="Segoe UI" pitchFamily="34" charset="-122"/>
                <a:cs typeface="Segoe UI" pitchFamily="34" charset="-120"/>
              </a:rPr>
              <a:t>JAWABAN DESAIN</a:t>
            </a:r>
            <a:endParaRPr lang="en-US" sz="1050" dirty="0"/>
          </a:p>
        </p:txBody>
      </p:sp>
      <p:sp>
        <p:nvSpPr>
          <p:cNvPr id="7" name="Shape 5"/>
          <p:cNvSpPr/>
          <p:nvPr/>
        </p:nvSpPr>
        <p:spPr>
          <a:xfrm>
            <a:off x="548640" y="1691640"/>
            <a:ext cx="11091672" cy="384048"/>
          </a:xfrm>
          <a:prstGeom prst="roundRect">
            <a:avLst>
              <a:gd name="adj" fmla="val 21429"/>
            </a:avLst>
          </a:prstGeom>
          <a:solidFill>
            <a:srgbClr val="0F2C33"/>
          </a:solidFill>
          <a:ln w="12700">
            <a:solidFill>
              <a:srgbClr val="24505A"/>
            </a:solidFill>
            <a:prstDash val="solid"/>
          </a:ln>
        </p:spPr>
      </p:sp>
      <p:sp>
        <p:nvSpPr>
          <p:cNvPr id="8" name="Shape 6"/>
          <p:cNvSpPr/>
          <p:nvPr/>
        </p:nvSpPr>
        <p:spPr>
          <a:xfrm>
            <a:off x="548640" y="1819656"/>
            <a:ext cx="54864" cy="128016"/>
          </a:xfrm>
          <a:prstGeom prst="rect">
            <a:avLst/>
          </a:prstGeom>
          <a:solidFill>
            <a:srgbClr val="FFB347"/>
          </a:solidFill>
          <a:ln w="12700">
            <a:solidFill>
              <a:srgbClr val="FFB347"/>
            </a:solidFill>
            <a:prstDash val="solid"/>
          </a:ln>
        </p:spPr>
      </p:sp>
      <p:sp>
        <p:nvSpPr>
          <p:cNvPr id="9" name="Text 7"/>
          <p:cNvSpPr/>
          <p:nvPr/>
        </p:nvSpPr>
        <p:spPr>
          <a:xfrm>
            <a:off x="777240" y="1691640"/>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Internet putus malam hari</a:t>
            </a:r>
            <a:endParaRPr lang="en-US" sz="1250" dirty="0"/>
          </a:p>
        </p:txBody>
      </p:sp>
      <p:sp>
        <p:nvSpPr>
          <p:cNvPr id="10" name="Shape 8"/>
          <p:cNvSpPr/>
          <p:nvPr/>
        </p:nvSpPr>
        <p:spPr>
          <a:xfrm>
            <a:off x="4754880" y="1883664"/>
            <a:ext cx="365760" cy="914"/>
          </a:xfrm>
          <a:prstGeom prst="line">
            <a:avLst/>
          </a:prstGeom>
          <a:noFill/>
          <a:ln w="19050">
            <a:solidFill>
              <a:srgbClr val="3FD0D4"/>
            </a:solidFill>
            <a:prstDash val="solid"/>
            <a:tailEnd type="triangle"/>
          </a:ln>
        </p:spPr>
      </p:sp>
      <p:sp>
        <p:nvSpPr>
          <p:cNvPr id="11" name="Text 9"/>
          <p:cNvSpPr/>
          <p:nvPr/>
        </p:nvSpPr>
        <p:spPr>
          <a:xfrm>
            <a:off x="5257800" y="1691640"/>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Kendali pengaman di edge; data ditahan dan dikirim ulang</a:t>
            </a:r>
            <a:endParaRPr lang="en-US" sz="1250" dirty="0"/>
          </a:p>
        </p:txBody>
      </p:sp>
      <p:sp>
        <p:nvSpPr>
          <p:cNvPr id="12" name="Shape 10"/>
          <p:cNvSpPr/>
          <p:nvPr/>
        </p:nvSpPr>
        <p:spPr>
          <a:xfrm>
            <a:off x="548640" y="2139696"/>
            <a:ext cx="11091672" cy="384048"/>
          </a:xfrm>
          <a:prstGeom prst="roundRect">
            <a:avLst>
              <a:gd name="adj" fmla="val 21429"/>
            </a:avLst>
          </a:prstGeom>
          <a:solidFill>
            <a:srgbClr val="0F2C33"/>
          </a:solidFill>
          <a:ln w="12700">
            <a:solidFill>
              <a:srgbClr val="24505A"/>
            </a:solidFill>
            <a:prstDash val="solid"/>
          </a:ln>
        </p:spPr>
      </p:sp>
      <p:sp>
        <p:nvSpPr>
          <p:cNvPr id="13" name="Shape 11"/>
          <p:cNvSpPr/>
          <p:nvPr/>
        </p:nvSpPr>
        <p:spPr>
          <a:xfrm>
            <a:off x="548640" y="2267712"/>
            <a:ext cx="54864" cy="128016"/>
          </a:xfrm>
          <a:prstGeom prst="rect">
            <a:avLst/>
          </a:prstGeom>
          <a:solidFill>
            <a:srgbClr val="FFB347"/>
          </a:solidFill>
          <a:ln w="12700">
            <a:solidFill>
              <a:srgbClr val="FFB347"/>
            </a:solidFill>
            <a:prstDash val="solid"/>
          </a:ln>
        </p:spPr>
      </p:sp>
      <p:sp>
        <p:nvSpPr>
          <p:cNvPr id="14" name="Text 12"/>
          <p:cNvSpPr/>
          <p:nvPr/>
        </p:nvSpPr>
        <p:spPr>
          <a:xfrm>
            <a:off x="777240" y="2139696"/>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Edge rusak</a:t>
            </a:r>
            <a:endParaRPr lang="en-US" sz="1250" dirty="0"/>
          </a:p>
        </p:txBody>
      </p:sp>
      <p:sp>
        <p:nvSpPr>
          <p:cNvPr id="15" name="Shape 13"/>
          <p:cNvSpPr/>
          <p:nvPr/>
        </p:nvSpPr>
        <p:spPr>
          <a:xfrm>
            <a:off x="4754880" y="2331720"/>
            <a:ext cx="365760" cy="914"/>
          </a:xfrm>
          <a:prstGeom prst="line">
            <a:avLst/>
          </a:prstGeom>
          <a:noFill/>
          <a:ln w="19050">
            <a:solidFill>
              <a:srgbClr val="3FD0D4"/>
            </a:solidFill>
            <a:prstDash val="solid"/>
            <a:tailEnd type="triangle"/>
          </a:ln>
        </p:spPr>
      </p:sp>
      <p:sp>
        <p:nvSpPr>
          <p:cNvPr id="16" name="Text 14"/>
          <p:cNvSpPr/>
          <p:nvPr/>
        </p:nvSpPr>
        <p:spPr>
          <a:xfrm>
            <a:off x="5257800" y="2139696"/>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Cadangan ambil alih lewat relay watchdog; modul I/O ke posisi aman</a:t>
            </a:r>
            <a:endParaRPr lang="en-US" sz="1250" dirty="0"/>
          </a:p>
        </p:txBody>
      </p:sp>
      <p:sp>
        <p:nvSpPr>
          <p:cNvPr id="17" name="Shape 15"/>
          <p:cNvSpPr/>
          <p:nvPr/>
        </p:nvSpPr>
        <p:spPr>
          <a:xfrm>
            <a:off x="548640" y="2587752"/>
            <a:ext cx="11091672" cy="384048"/>
          </a:xfrm>
          <a:prstGeom prst="roundRect">
            <a:avLst>
              <a:gd name="adj" fmla="val 21429"/>
            </a:avLst>
          </a:prstGeom>
          <a:solidFill>
            <a:srgbClr val="0F2C33"/>
          </a:solidFill>
          <a:ln w="12700">
            <a:solidFill>
              <a:srgbClr val="24505A"/>
            </a:solidFill>
            <a:prstDash val="solid"/>
          </a:ln>
        </p:spPr>
      </p:sp>
      <p:sp>
        <p:nvSpPr>
          <p:cNvPr id="18" name="Shape 16"/>
          <p:cNvSpPr/>
          <p:nvPr/>
        </p:nvSpPr>
        <p:spPr>
          <a:xfrm>
            <a:off x="548640" y="2715768"/>
            <a:ext cx="54864" cy="128016"/>
          </a:xfrm>
          <a:prstGeom prst="rect">
            <a:avLst/>
          </a:prstGeom>
          <a:solidFill>
            <a:srgbClr val="5EE6B0"/>
          </a:solidFill>
          <a:ln w="12700">
            <a:solidFill>
              <a:srgbClr val="5EE6B0"/>
            </a:solidFill>
            <a:prstDash val="solid"/>
          </a:ln>
        </p:spPr>
      </p:sp>
      <p:sp>
        <p:nvSpPr>
          <p:cNvPr id="19" name="Text 17"/>
          <p:cNvSpPr/>
          <p:nvPr/>
        </p:nvSpPr>
        <p:spPr>
          <a:xfrm>
            <a:off x="777240" y="2587752"/>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Satu sensor DO kotor atau drift</a:t>
            </a:r>
            <a:endParaRPr lang="en-US" sz="1250" dirty="0"/>
          </a:p>
        </p:txBody>
      </p:sp>
      <p:sp>
        <p:nvSpPr>
          <p:cNvPr id="20" name="Shape 18"/>
          <p:cNvSpPr/>
          <p:nvPr/>
        </p:nvSpPr>
        <p:spPr>
          <a:xfrm>
            <a:off x="4754880" y="2779776"/>
            <a:ext cx="365760" cy="914"/>
          </a:xfrm>
          <a:prstGeom prst="line">
            <a:avLst/>
          </a:prstGeom>
          <a:noFill/>
          <a:ln w="19050">
            <a:solidFill>
              <a:srgbClr val="3FD0D4"/>
            </a:solidFill>
            <a:prstDash val="solid"/>
            <a:tailEnd type="triangle"/>
          </a:ln>
        </p:spPr>
      </p:sp>
      <p:sp>
        <p:nvSpPr>
          <p:cNvPr id="21" name="Text 19"/>
          <p:cNvSpPr/>
          <p:nvPr/>
        </p:nvSpPr>
        <p:spPr>
          <a:xfrm>
            <a:off x="5257800" y="2587752"/>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Dua sensor DO, bacaan terendah dipakai; jadwal kalibrasi</a:t>
            </a:r>
            <a:endParaRPr lang="en-US" sz="1250" dirty="0"/>
          </a:p>
        </p:txBody>
      </p:sp>
      <p:sp>
        <p:nvSpPr>
          <p:cNvPr id="22" name="Shape 20"/>
          <p:cNvSpPr/>
          <p:nvPr/>
        </p:nvSpPr>
        <p:spPr>
          <a:xfrm>
            <a:off x="548640" y="3035808"/>
            <a:ext cx="11091672" cy="384048"/>
          </a:xfrm>
          <a:prstGeom prst="roundRect">
            <a:avLst>
              <a:gd name="adj" fmla="val 21429"/>
            </a:avLst>
          </a:prstGeom>
          <a:solidFill>
            <a:srgbClr val="0F2C33"/>
          </a:solidFill>
          <a:ln w="12700">
            <a:solidFill>
              <a:srgbClr val="24505A"/>
            </a:solidFill>
            <a:prstDash val="solid"/>
          </a:ln>
        </p:spPr>
      </p:sp>
      <p:sp>
        <p:nvSpPr>
          <p:cNvPr id="23" name="Shape 21"/>
          <p:cNvSpPr/>
          <p:nvPr/>
        </p:nvSpPr>
        <p:spPr>
          <a:xfrm>
            <a:off x="548640" y="3163824"/>
            <a:ext cx="54864" cy="128016"/>
          </a:xfrm>
          <a:prstGeom prst="rect">
            <a:avLst/>
          </a:prstGeom>
          <a:solidFill>
            <a:srgbClr val="A9B4BC"/>
          </a:solidFill>
          <a:ln w="12700">
            <a:solidFill>
              <a:srgbClr val="A9B4BC"/>
            </a:solidFill>
            <a:prstDash val="solid"/>
          </a:ln>
        </p:spPr>
      </p:sp>
      <p:sp>
        <p:nvSpPr>
          <p:cNvPr id="24" name="Text 22"/>
          <p:cNvSpPr/>
          <p:nvPr/>
        </p:nvSpPr>
        <p:spPr>
          <a:xfrm>
            <a:off x="777240" y="3035808"/>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Aerator diperintah ON tapi mati</a:t>
            </a:r>
            <a:endParaRPr lang="en-US" sz="1250" dirty="0"/>
          </a:p>
        </p:txBody>
      </p:sp>
      <p:sp>
        <p:nvSpPr>
          <p:cNvPr id="25" name="Shape 23"/>
          <p:cNvSpPr/>
          <p:nvPr/>
        </p:nvSpPr>
        <p:spPr>
          <a:xfrm>
            <a:off x="4754880" y="3227832"/>
            <a:ext cx="365760" cy="914"/>
          </a:xfrm>
          <a:prstGeom prst="line">
            <a:avLst/>
          </a:prstGeom>
          <a:noFill/>
          <a:ln w="19050">
            <a:solidFill>
              <a:srgbClr val="3FD0D4"/>
            </a:solidFill>
            <a:prstDash val="solid"/>
            <a:tailEnd type="triangle"/>
          </a:ln>
        </p:spPr>
      </p:sp>
      <p:sp>
        <p:nvSpPr>
          <p:cNvPr id="26" name="Text 24"/>
          <p:cNvSpPr/>
          <p:nvPr/>
        </p:nvSpPr>
        <p:spPr>
          <a:xfrm>
            <a:off x="5257800" y="3035808"/>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Sinyal balik tiap aerator → peringatan “tidak merespons”</a:t>
            </a:r>
            <a:endParaRPr lang="en-US" sz="1250" dirty="0"/>
          </a:p>
        </p:txBody>
      </p:sp>
      <p:sp>
        <p:nvSpPr>
          <p:cNvPr id="27" name="Shape 25"/>
          <p:cNvSpPr/>
          <p:nvPr/>
        </p:nvSpPr>
        <p:spPr>
          <a:xfrm>
            <a:off x="548640" y="3483864"/>
            <a:ext cx="11091672" cy="384048"/>
          </a:xfrm>
          <a:prstGeom prst="roundRect">
            <a:avLst>
              <a:gd name="adj" fmla="val 21429"/>
            </a:avLst>
          </a:prstGeom>
          <a:solidFill>
            <a:srgbClr val="0F2C33"/>
          </a:solidFill>
          <a:ln w="12700">
            <a:solidFill>
              <a:srgbClr val="24505A"/>
            </a:solidFill>
            <a:prstDash val="solid"/>
          </a:ln>
        </p:spPr>
      </p:sp>
      <p:sp>
        <p:nvSpPr>
          <p:cNvPr id="28" name="Shape 26"/>
          <p:cNvSpPr/>
          <p:nvPr/>
        </p:nvSpPr>
        <p:spPr>
          <a:xfrm>
            <a:off x="548640" y="3611880"/>
            <a:ext cx="54864" cy="128016"/>
          </a:xfrm>
          <a:prstGeom prst="rect">
            <a:avLst/>
          </a:prstGeom>
          <a:solidFill>
            <a:srgbClr val="5AA9FF"/>
          </a:solidFill>
          <a:ln w="12700">
            <a:solidFill>
              <a:srgbClr val="5AA9FF"/>
            </a:solidFill>
            <a:prstDash val="solid"/>
          </a:ln>
        </p:spPr>
      </p:sp>
      <p:sp>
        <p:nvSpPr>
          <p:cNvPr id="29" name="Text 27"/>
          <p:cNvSpPr/>
          <p:nvPr/>
        </p:nvSpPr>
        <p:spPr>
          <a:xfrm>
            <a:off x="777240" y="3483864"/>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Alarm palsu membuat petugas abai</a:t>
            </a:r>
            <a:endParaRPr lang="en-US" sz="1250" dirty="0"/>
          </a:p>
        </p:txBody>
      </p:sp>
      <p:sp>
        <p:nvSpPr>
          <p:cNvPr id="30" name="Shape 28"/>
          <p:cNvSpPr/>
          <p:nvPr/>
        </p:nvSpPr>
        <p:spPr>
          <a:xfrm>
            <a:off x="4754880" y="3675888"/>
            <a:ext cx="365760" cy="914"/>
          </a:xfrm>
          <a:prstGeom prst="line">
            <a:avLst/>
          </a:prstGeom>
          <a:noFill/>
          <a:ln w="19050">
            <a:solidFill>
              <a:srgbClr val="3FD0D4"/>
            </a:solidFill>
            <a:prstDash val="solid"/>
            <a:tailEnd type="triangle"/>
          </a:ln>
        </p:spPr>
      </p:sp>
      <p:sp>
        <p:nvSpPr>
          <p:cNvPr id="31" name="Text 29"/>
          <p:cNvSpPr/>
          <p:nvPr/>
        </p:nvSpPr>
        <p:spPr>
          <a:xfrm>
            <a:off x="5257800" y="3483864"/>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Gerbang mutu data + konfirmasi 3 bacaan</a:t>
            </a:r>
            <a:endParaRPr lang="en-US" sz="1250" dirty="0"/>
          </a:p>
        </p:txBody>
      </p:sp>
      <p:sp>
        <p:nvSpPr>
          <p:cNvPr id="32" name="Shape 30"/>
          <p:cNvSpPr/>
          <p:nvPr/>
        </p:nvSpPr>
        <p:spPr>
          <a:xfrm>
            <a:off x="548640" y="3931920"/>
            <a:ext cx="11091672" cy="384048"/>
          </a:xfrm>
          <a:prstGeom prst="roundRect">
            <a:avLst>
              <a:gd name="adj" fmla="val 21429"/>
            </a:avLst>
          </a:prstGeom>
          <a:solidFill>
            <a:srgbClr val="0F2C33"/>
          </a:solidFill>
          <a:ln w="12700">
            <a:solidFill>
              <a:srgbClr val="24505A"/>
            </a:solidFill>
            <a:prstDash val="solid"/>
          </a:ln>
        </p:spPr>
      </p:sp>
      <p:sp>
        <p:nvSpPr>
          <p:cNvPr id="33" name="Shape 31"/>
          <p:cNvSpPr/>
          <p:nvPr/>
        </p:nvSpPr>
        <p:spPr>
          <a:xfrm>
            <a:off x="548640" y="4059936"/>
            <a:ext cx="54864" cy="128016"/>
          </a:xfrm>
          <a:prstGeom prst="rect">
            <a:avLst/>
          </a:prstGeom>
          <a:solidFill>
            <a:srgbClr val="A9B4BC"/>
          </a:solidFill>
          <a:ln w="12700">
            <a:solidFill>
              <a:srgbClr val="A9B4BC"/>
            </a:solidFill>
            <a:prstDash val="solid"/>
          </a:ln>
        </p:spPr>
      </p:sp>
      <p:sp>
        <p:nvSpPr>
          <p:cNvPr id="34" name="Text 32"/>
          <p:cNvSpPr/>
          <p:nvPr/>
        </p:nvSpPr>
        <p:spPr>
          <a:xfrm>
            <a:off x="777240" y="3931920"/>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Pompa membuat kolam meluap</a:t>
            </a:r>
            <a:endParaRPr lang="en-US" sz="1250" dirty="0"/>
          </a:p>
        </p:txBody>
      </p:sp>
      <p:sp>
        <p:nvSpPr>
          <p:cNvPr id="35" name="Shape 33"/>
          <p:cNvSpPr/>
          <p:nvPr/>
        </p:nvSpPr>
        <p:spPr>
          <a:xfrm>
            <a:off x="4754880" y="4123944"/>
            <a:ext cx="365760" cy="914"/>
          </a:xfrm>
          <a:prstGeom prst="line">
            <a:avLst/>
          </a:prstGeom>
          <a:noFill/>
          <a:ln w="19050">
            <a:solidFill>
              <a:srgbClr val="3FD0D4"/>
            </a:solidFill>
            <a:prstDash val="solid"/>
            <a:tailEnd type="triangle"/>
          </a:ln>
        </p:spPr>
      </p:sp>
      <p:sp>
        <p:nvSpPr>
          <p:cNvPr id="36" name="Text 34"/>
          <p:cNvSpPr/>
          <p:nvPr/>
        </p:nvSpPr>
        <p:spPr>
          <a:xfrm>
            <a:off x="5257800" y="3931920"/>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Kunci pengaman dari sensor tinggi air</a:t>
            </a:r>
            <a:endParaRPr lang="en-US" sz="1250" dirty="0"/>
          </a:p>
        </p:txBody>
      </p:sp>
      <p:sp>
        <p:nvSpPr>
          <p:cNvPr id="37" name="Shape 35"/>
          <p:cNvSpPr/>
          <p:nvPr/>
        </p:nvSpPr>
        <p:spPr>
          <a:xfrm>
            <a:off x="548640" y="4379976"/>
            <a:ext cx="11091672" cy="384048"/>
          </a:xfrm>
          <a:prstGeom prst="roundRect">
            <a:avLst>
              <a:gd name="adj" fmla="val 21429"/>
            </a:avLst>
          </a:prstGeom>
          <a:solidFill>
            <a:srgbClr val="0F2C33"/>
          </a:solidFill>
          <a:ln w="12700">
            <a:solidFill>
              <a:srgbClr val="24505A"/>
            </a:solidFill>
            <a:prstDash val="solid"/>
          </a:ln>
        </p:spPr>
      </p:sp>
      <p:sp>
        <p:nvSpPr>
          <p:cNvPr id="38" name="Shape 36"/>
          <p:cNvSpPr/>
          <p:nvPr/>
        </p:nvSpPr>
        <p:spPr>
          <a:xfrm>
            <a:off x="548640" y="4507992"/>
            <a:ext cx="54864" cy="128016"/>
          </a:xfrm>
          <a:prstGeom prst="rect">
            <a:avLst/>
          </a:prstGeom>
          <a:solidFill>
            <a:srgbClr val="FFB347"/>
          </a:solidFill>
          <a:ln w="12700">
            <a:solidFill>
              <a:srgbClr val="FFB347"/>
            </a:solidFill>
            <a:prstDash val="solid"/>
          </a:ln>
        </p:spPr>
      </p:sp>
      <p:sp>
        <p:nvSpPr>
          <p:cNvPr id="39" name="Text 37"/>
          <p:cNvSpPr/>
          <p:nvPr/>
        </p:nvSpPr>
        <p:spPr>
          <a:xfrm>
            <a:off x="777240" y="4379976"/>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Air asin, lembap, padam listrik, petir</a:t>
            </a:r>
            <a:endParaRPr lang="en-US" sz="1250" dirty="0"/>
          </a:p>
        </p:txBody>
      </p:sp>
      <p:sp>
        <p:nvSpPr>
          <p:cNvPr id="40" name="Shape 38"/>
          <p:cNvSpPr/>
          <p:nvPr/>
        </p:nvSpPr>
        <p:spPr>
          <a:xfrm>
            <a:off x="4754880" y="4572000"/>
            <a:ext cx="365760" cy="914"/>
          </a:xfrm>
          <a:prstGeom prst="line">
            <a:avLst/>
          </a:prstGeom>
          <a:noFill/>
          <a:ln w="19050">
            <a:solidFill>
              <a:srgbClr val="3FD0D4"/>
            </a:solidFill>
            <a:prstDash val="solid"/>
            <a:tailEnd type="triangle"/>
          </a:ln>
        </p:spPr>
      </p:sp>
      <p:sp>
        <p:nvSpPr>
          <p:cNvPr id="41" name="Text 39"/>
          <p:cNvSpPr/>
          <p:nvPr/>
        </p:nvSpPr>
        <p:spPr>
          <a:xfrm>
            <a:off x="5257800" y="4379976"/>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Perangkat industri IP65+, cabinet IP66, UPS DC, grounding, arrester</a:t>
            </a:r>
            <a:endParaRPr lang="en-US" sz="1250" dirty="0"/>
          </a:p>
        </p:txBody>
      </p:sp>
      <p:sp>
        <p:nvSpPr>
          <p:cNvPr id="42" name="Shape 40"/>
          <p:cNvSpPr/>
          <p:nvPr/>
        </p:nvSpPr>
        <p:spPr>
          <a:xfrm>
            <a:off x="548640" y="4828032"/>
            <a:ext cx="11091672" cy="384048"/>
          </a:xfrm>
          <a:prstGeom prst="roundRect">
            <a:avLst>
              <a:gd name="adj" fmla="val 21429"/>
            </a:avLst>
          </a:prstGeom>
          <a:solidFill>
            <a:srgbClr val="0F2C33"/>
          </a:solidFill>
          <a:ln w="12700">
            <a:solidFill>
              <a:srgbClr val="24505A"/>
            </a:solidFill>
            <a:prstDash val="solid"/>
          </a:ln>
        </p:spPr>
      </p:sp>
      <p:sp>
        <p:nvSpPr>
          <p:cNvPr id="43" name="Shape 41"/>
          <p:cNvSpPr/>
          <p:nvPr/>
        </p:nvSpPr>
        <p:spPr>
          <a:xfrm>
            <a:off x="548640" y="4956048"/>
            <a:ext cx="54864" cy="128016"/>
          </a:xfrm>
          <a:prstGeom prst="rect">
            <a:avLst/>
          </a:prstGeom>
          <a:solidFill>
            <a:srgbClr val="5EE6B0"/>
          </a:solidFill>
          <a:ln w="12700">
            <a:solidFill>
              <a:srgbClr val="5EE6B0"/>
            </a:solidFill>
            <a:prstDash val="solid"/>
          </a:ln>
        </p:spPr>
      </p:sp>
      <p:sp>
        <p:nvSpPr>
          <p:cNvPr id="44" name="Text 42"/>
          <p:cNvSpPr/>
          <p:nvPr/>
        </p:nvSpPr>
        <p:spPr>
          <a:xfrm>
            <a:off x="777240" y="4828032"/>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NH₃ beracun tidak akurat</a:t>
            </a:r>
            <a:endParaRPr lang="en-US" sz="1250" dirty="0"/>
          </a:p>
        </p:txBody>
      </p:sp>
      <p:sp>
        <p:nvSpPr>
          <p:cNvPr id="45" name="Shape 43"/>
          <p:cNvSpPr/>
          <p:nvPr/>
        </p:nvSpPr>
        <p:spPr>
          <a:xfrm>
            <a:off x="4754880" y="5020056"/>
            <a:ext cx="365760" cy="914"/>
          </a:xfrm>
          <a:prstGeom prst="line">
            <a:avLst/>
          </a:prstGeom>
          <a:noFill/>
          <a:ln w="19050">
            <a:solidFill>
              <a:srgbClr val="3FD0D4"/>
            </a:solidFill>
            <a:prstDash val="solid"/>
            <a:tailEnd type="triangle"/>
          </a:ln>
        </p:spPr>
      </p:sp>
      <p:sp>
        <p:nvSpPr>
          <p:cNvPr id="46" name="Text 44"/>
          <p:cNvSpPr/>
          <p:nvPr/>
        </p:nvSpPr>
        <p:spPr>
          <a:xfrm>
            <a:off x="5257800" y="4828032"/>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TAN, pH, suhu, salinitas di satu titik + cek test kit/lab</a:t>
            </a:r>
            <a:endParaRPr lang="en-US" sz="1250" dirty="0"/>
          </a:p>
        </p:txBody>
      </p:sp>
      <p:sp>
        <p:nvSpPr>
          <p:cNvPr id="47" name="Shape 45"/>
          <p:cNvSpPr/>
          <p:nvPr/>
        </p:nvSpPr>
        <p:spPr>
          <a:xfrm>
            <a:off x="548640" y="5276088"/>
            <a:ext cx="11091672" cy="384048"/>
          </a:xfrm>
          <a:prstGeom prst="roundRect">
            <a:avLst>
              <a:gd name="adj" fmla="val 21429"/>
            </a:avLst>
          </a:prstGeom>
          <a:solidFill>
            <a:srgbClr val="0F2C33"/>
          </a:solidFill>
          <a:ln w="12700">
            <a:solidFill>
              <a:srgbClr val="24505A"/>
            </a:solidFill>
            <a:prstDash val="solid"/>
          </a:ln>
        </p:spPr>
      </p:sp>
      <p:sp>
        <p:nvSpPr>
          <p:cNvPr id="48" name="Shape 46"/>
          <p:cNvSpPr/>
          <p:nvPr/>
        </p:nvSpPr>
        <p:spPr>
          <a:xfrm>
            <a:off x="548640" y="5404104"/>
            <a:ext cx="54864" cy="128016"/>
          </a:xfrm>
          <a:prstGeom prst="rect">
            <a:avLst/>
          </a:prstGeom>
          <a:solidFill>
            <a:srgbClr val="5AA9FF"/>
          </a:solidFill>
          <a:ln w="12700">
            <a:solidFill>
              <a:srgbClr val="5AA9FF"/>
            </a:solidFill>
            <a:prstDash val="solid"/>
          </a:ln>
        </p:spPr>
      </p:sp>
      <p:sp>
        <p:nvSpPr>
          <p:cNvPr id="49" name="Text 47"/>
          <p:cNvSpPr/>
          <p:nvPr/>
        </p:nvSpPr>
        <p:spPr>
          <a:xfrm>
            <a:off x="777240" y="5276088"/>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Integrasi STELINA/SICEKATAN lebih rumit</a:t>
            </a:r>
            <a:endParaRPr lang="en-US" sz="1250" dirty="0"/>
          </a:p>
        </p:txBody>
      </p:sp>
      <p:sp>
        <p:nvSpPr>
          <p:cNvPr id="50" name="Shape 48"/>
          <p:cNvSpPr/>
          <p:nvPr/>
        </p:nvSpPr>
        <p:spPr>
          <a:xfrm>
            <a:off x="4754880" y="5468112"/>
            <a:ext cx="365760" cy="914"/>
          </a:xfrm>
          <a:prstGeom prst="line">
            <a:avLst/>
          </a:prstGeom>
          <a:noFill/>
          <a:ln w="19050">
            <a:solidFill>
              <a:srgbClr val="3FD0D4"/>
            </a:solidFill>
            <a:prstDash val="solid"/>
            <a:tailEnd type="triangle"/>
          </a:ln>
        </p:spPr>
      </p:sp>
      <p:sp>
        <p:nvSpPr>
          <p:cNvPr id="51" name="Text 49"/>
          <p:cNvSpPr/>
          <p:nvPr/>
        </p:nvSpPr>
        <p:spPr>
          <a:xfrm>
            <a:off x="5257800" y="5276088"/>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Kontrak API diklarifikasi di awal; adapter dan cadangan manual</a:t>
            </a:r>
            <a:endParaRPr lang="en-US" sz="1250" dirty="0"/>
          </a:p>
        </p:txBody>
      </p:sp>
      <p:sp>
        <p:nvSpPr>
          <p:cNvPr id="52" name="Shape 50"/>
          <p:cNvSpPr/>
          <p:nvPr/>
        </p:nvSpPr>
        <p:spPr>
          <a:xfrm>
            <a:off x="548640" y="5724144"/>
            <a:ext cx="11091672" cy="384048"/>
          </a:xfrm>
          <a:prstGeom prst="roundRect">
            <a:avLst>
              <a:gd name="adj" fmla="val 21429"/>
            </a:avLst>
          </a:prstGeom>
          <a:solidFill>
            <a:srgbClr val="0F2C33"/>
          </a:solidFill>
          <a:ln w="12700">
            <a:solidFill>
              <a:srgbClr val="24505A"/>
            </a:solidFill>
            <a:prstDash val="solid"/>
          </a:ln>
        </p:spPr>
      </p:sp>
      <p:sp>
        <p:nvSpPr>
          <p:cNvPr id="53" name="Shape 51"/>
          <p:cNvSpPr/>
          <p:nvPr/>
        </p:nvSpPr>
        <p:spPr>
          <a:xfrm>
            <a:off x="548640" y="5852160"/>
            <a:ext cx="54864" cy="128016"/>
          </a:xfrm>
          <a:prstGeom prst="rect">
            <a:avLst/>
          </a:prstGeom>
          <a:solidFill>
            <a:srgbClr val="FF8A7A"/>
          </a:solidFill>
          <a:ln w="12700">
            <a:solidFill>
              <a:srgbClr val="FF8A7A"/>
            </a:solidFill>
            <a:prstDash val="solid"/>
          </a:ln>
        </p:spPr>
      </p:sp>
      <p:sp>
        <p:nvSpPr>
          <p:cNvPr id="54" name="Text 52"/>
          <p:cNvSpPr/>
          <p:nvPr/>
        </p:nvSpPr>
        <p:spPr>
          <a:xfrm>
            <a:off x="777240" y="5724144"/>
            <a:ext cx="4206240" cy="384048"/>
          </a:xfrm>
          <a:prstGeom prst="rect">
            <a:avLst/>
          </a:prstGeom>
          <a:noFill/>
          <a:ln/>
        </p:spPr>
        <p:txBody>
          <a:bodyPr wrap="square" lIns="0" tIns="0" rIns="0" bIns="0" rtlCol="0" anchor="ctr"/>
          <a:lstStyle/>
          <a:p>
            <a:pPr indent="0" marL="0">
              <a:buNone/>
            </a:pPr>
            <a:r>
              <a:rPr lang="en-US" sz="1250" dirty="0">
                <a:solidFill>
                  <a:srgbClr val="B9CCD0"/>
                </a:solidFill>
                <a:latin typeface="Segoe UI" pitchFamily="34" charset="0"/>
                <a:ea typeface="Segoe UI" pitchFamily="34" charset="-122"/>
                <a:cs typeface="Segoe UI" pitchFamily="34" charset="-120"/>
              </a:rPr>
              <a:t>Akses tidak sah, data keluar negeri</a:t>
            </a:r>
            <a:endParaRPr lang="en-US" sz="1250" dirty="0"/>
          </a:p>
        </p:txBody>
      </p:sp>
      <p:sp>
        <p:nvSpPr>
          <p:cNvPr id="55" name="Shape 53"/>
          <p:cNvSpPr/>
          <p:nvPr/>
        </p:nvSpPr>
        <p:spPr>
          <a:xfrm>
            <a:off x="4754880" y="5916168"/>
            <a:ext cx="365760" cy="914"/>
          </a:xfrm>
          <a:prstGeom prst="line">
            <a:avLst/>
          </a:prstGeom>
          <a:noFill/>
          <a:ln w="19050">
            <a:solidFill>
              <a:srgbClr val="3FD0D4"/>
            </a:solidFill>
            <a:prstDash val="solid"/>
            <a:tailEnd type="triangle"/>
          </a:ln>
        </p:spPr>
      </p:sp>
      <p:sp>
        <p:nvSpPr>
          <p:cNvPr id="56" name="Text 54"/>
          <p:cNvSpPr/>
          <p:nvPr/>
        </p:nvSpPr>
        <p:spPr>
          <a:xfrm>
            <a:off x="5257800" y="5724144"/>
            <a:ext cx="6309360" cy="384048"/>
          </a:xfrm>
          <a:prstGeom prst="rect">
            <a:avLst/>
          </a:prstGeom>
          <a:noFill/>
          <a:ln/>
        </p:spPr>
        <p:txBody>
          <a:bodyPr wrap="square" lIns="0" tIns="0" rIns="0" bIns="0" rtlCol="0" anchor="ctr"/>
          <a:lstStyle/>
          <a:p>
            <a:pPr indent="0" marL="0">
              <a:buNone/>
            </a:pPr>
            <a:r>
              <a:rPr lang="en-US" sz="1250" b="1" dirty="0">
                <a:solidFill>
                  <a:srgbClr val="EAF3F4"/>
                </a:solidFill>
                <a:latin typeface="Segoe UI" pitchFamily="34" charset="0"/>
                <a:ea typeface="Segoe UI" pitchFamily="34" charset="-122"/>
                <a:cs typeface="Segoe UI" pitchFamily="34" charset="-120"/>
              </a:rPr>
              <a:t>Hosting di Indonesia, VPN sesuai BSSN, akses per peran, jejak audit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28232"/>
            <a:ext cx="6400800" cy="228600"/>
          </a:xfrm>
          <a:prstGeom prst="rect">
            <a:avLst/>
          </a:prstGeom>
          <a:noFill/>
          <a:ln/>
        </p:spPr>
        <p:txBody>
          <a:bodyPr wrap="square" lIns="0" tIns="0" rIns="0" bIns="0" rtlCol="0" anchor="t"/>
          <a:lstStyle/>
          <a:p>
            <a:pPr indent="0" marL="0">
              <a:buNone/>
            </a:pPr>
            <a:r>
              <a:rPr lang="en-US" sz="900" dirty="0">
                <a:solidFill>
                  <a:srgbClr val="86A0A6"/>
                </a:solidFill>
                <a:latin typeface="Segoe UI" pitchFamily="34" charset="0"/>
                <a:ea typeface="Segoe UI" pitchFamily="34" charset="-122"/>
                <a:cs typeface="Segoe UI" pitchFamily="34" charset="-120"/>
              </a:rPr>
              <a:t>SmartAqua Pond · High-Level Design · 14</a:t>
            </a:r>
            <a:endParaRPr lang="en-US" sz="900" dirty="0"/>
          </a:p>
        </p:txBody>
      </p:sp>
      <p:sp>
        <p:nvSpPr>
          <p:cNvPr id="3" name="Text 1"/>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3FD0D4"/>
                </a:solidFill>
                <a:latin typeface="Segoe UI" pitchFamily="34" charset="0"/>
                <a:ea typeface="Segoe UI" pitchFamily="34" charset="-122"/>
                <a:cs typeface="Segoe UI" pitchFamily="34" charset="-120"/>
              </a:rPr>
              <a:t>JALAN KE OPERASI</a:t>
            </a:r>
            <a:endParaRPr lang="en-US" sz="1100" dirty="0"/>
          </a:p>
        </p:txBody>
      </p:sp>
      <p:sp>
        <p:nvSpPr>
          <p:cNvPr id="4" name="Text 2"/>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Pilot bertahap: Fase 1 selesai dalam 12–16 minggu</a:t>
            </a:r>
            <a:endParaRPr lang="en-US" sz="2700" dirty="0"/>
          </a:p>
        </p:txBody>
      </p:sp>
      <p:sp>
        <p:nvSpPr>
          <p:cNvPr id="5" name="Shape 3"/>
          <p:cNvSpPr/>
          <p:nvPr/>
        </p:nvSpPr>
        <p:spPr>
          <a:xfrm>
            <a:off x="548640" y="1417320"/>
            <a:ext cx="3611880" cy="1554480"/>
          </a:xfrm>
          <a:prstGeom prst="roundRect">
            <a:avLst>
              <a:gd name="adj" fmla="val 5294"/>
            </a:avLst>
          </a:prstGeom>
          <a:solidFill>
            <a:srgbClr val="133A43"/>
          </a:solidFill>
          <a:ln w="12700">
            <a:solidFill>
              <a:srgbClr val="3FD0D4"/>
            </a:solidFill>
            <a:prstDash val="solid"/>
          </a:ln>
        </p:spPr>
      </p:sp>
      <p:sp>
        <p:nvSpPr>
          <p:cNvPr id="6" name="Text 4"/>
          <p:cNvSpPr/>
          <p:nvPr/>
        </p:nvSpPr>
        <p:spPr>
          <a:xfrm>
            <a:off x="749808" y="1536192"/>
            <a:ext cx="1097280" cy="228600"/>
          </a:xfrm>
          <a:prstGeom prst="rect">
            <a:avLst/>
          </a:prstGeom>
          <a:noFill/>
          <a:ln/>
        </p:spPr>
        <p:txBody>
          <a:bodyPr wrap="square" lIns="0" tIns="0" rIns="0" bIns="0" rtlCol="0" anchor="t"/>
          <a:lstStyle/>
          <a:p>
            <a:pPr indent="0" marL="0">
              <a:buNone/>
            </a:pPr>
            <a:r>
              <a:rPr lang="en-US" sz="1050" b="1" spc="150" kern="0" dirty="0">
                <a:solidFill>
                  <a:srgbClr val="3FD0D4"/>
                </a:solidFill>
                <a:latin typeface="Segoe UI" pitchFamily="34" charset="0"/>
                <a:ea typeface="Segoe UI" pitchFamily="34" charset="-122"/>
                <a:cs typeface="Segoe UI" pitchFamily="34" charset="-120"/>
              </a:rPr>
              <a:t>FASE 1</a:t>
            </a:r>
            <a:endParaRPr lang="en-US" sz="1050" dirty="0"/>
          </a:p>
        </p:txBody>
      </p:sp>
      <p:sp>
        <p:nvSpPr>
          <p:cNvPr id="7" name="Shape 5"/>
          <p:cNvSpPr/>
          <p:nvPr/>
        </p:nvSpPr>
        <p:spPr>
          <a:xfrm>
            <a:off x="2377440" y="1517904"/>
            <a:ext cx="1600200" cy="256032"/>
          </a:xfrm>
          <a:prstGeom prst="roundRect">
            <a:avLst>
              <a:gd name="adj" fmla="val 50000"/>
            </a:avLst>
          </a:prstGeom>
          <a:solidFill>
            <a:srgbClr val="3FD0D4"/>
          </a:solidFill>
          <a:ln w="12700">
            <a:solidFill>
              <a:srgbClr val="3FD0D4"/>
            </a:solidFill>
            <a:prstDash val="solid"/>
          </a:ln>
        </p:spPr>
      </p:sp>
      <p:sp>
        <p:nvSpPr>
          <p:cNvPr id="8" name="Text 6"/>
          <p:cNvSpPr/>
          <p:nvPr/>
        </p:nvSpPr>
        <p:spPr>
          <a:xfrm>
            <a:off x="2377440" y="1517904"/>
            <a:ext cx="1600200" cy="256032"/>
          </a:xfrm>
          <a:prstGeom prst="rect">
            <a:avLst/>
          </a:prstGeom>
          <a:noFill/>
          <a:ln/>
        </p:spPr>
        <p:txBody>
          <a:bodyPr wrap="square" lIns="0" tIns="0" rIns="0" bIns="0" rtlCol="0" anchor="ctr"/>
          <a:lstStyle/>
          <a:p>
            <a:pPr algn="ctr" indent="0" marL="0">
              <a:buNone/>
            </a:pPr>
            <a:r>
              <a:rPr lang="en-US" sz="950" b="1" dirty="0">
                <a:solidFill>
                  <a:srgbClr val="0A1E24"/>
                </a:solidFill>
                <a:latin typeface="Segoe UI" pitchFamily="34" charset="0"/>
                <a:ea typeface="Segoe UI" pitchFamily="34" charset="-122"/>
                <a:cs typeface="Segoe UI" pitchFamily="34" charset="-120"/>
              </a:rPr>
              <a:t>12–16 minggu</a:t>
            </a:r>
            <a:endParaRPr lang="en-US" sz="950" dirty="0"/>
          </a:p>
        </p:txBody>
      </p:sp>
      <p:sp>
        <p:nvSpPr>
          <p:cNvPr id="9" name="Text 7"/>
          <p:cNvSpPr/>
          <p:nvPr/>
        </p:nvSpPr>
        <p:spPr>
          <a:xfrm>
            <a:off x="749808" y="1810512"/>
            <a:ext cx="3246120" cy="329184"/>
          </a:xfrm>
          <a:prstGeom prst="rect">
            <a:avLst/>
          </a:prstGeom>
          <a:noFill/>
          <a:ln/>
        </p:spPr>
        <p:txBody>
          <a:bodyPr wrap="square" lIns="0" tIns="0" rIns="0" bIns="0" rtlCol="0" anchor="t"/>
          <a:lstStyle/>
          <a:p>
            <a:pPr indent="0" marL="0">
              <a:buNone/>
            </a:pPr>
            <a:r>
              <a:rPr lang="en-US" sz="1550" dirty="0">
                <a:solidFill>
                  <a:srgbClr val="EAF3F4"/>
                </a:solidFill>
                <a:latin typeface="Segoe UI Semibold" pitchFamily="34" charset="0"/>
                <a:ea typeface="Segoe UI Semibold" pitchFamily="34" charset="-122"/>
                <a:cs typeface="Segoe UI Semibold" pitchFamily="34" charset="-120"/>
              </a:rPr>
              <a:t>Instrument + Integrate</a:t>
            </a:r>
            <a:endParaRPr lang="en-US" sz="1550" dirty="0"/>
          </a:p>
        </p:txBody>
      </p:sp>
      <p:sp>
        <p:nvSpPr>
          <p:cNvPr id="10" name="Text 8"/>
          <p:cNvSpPr/>
          <p:nvPr/>
        </p:nvSpPr>
        <p:spPr>
          <a:xfrm>
            <a:off x="749808" y="2176272"/>
            <a:ext cx="3246120" cy="731520"/>
          </a:xfrm>
          <a:prstGeom prst="rect">
            <a:avLst/>
          </a:prstGeom>
          <a:noFill/>
          <a:ln/>
        </p:spPr>
        <p:txBody>
          <a:bodyPr wrap="square" lIns="0" tIns="0" rIns="0" bIns="0" rtlCol="0" anchor="t"/>
          <a:lstStyle/>
          <a:p>
            <a:pPr indent="0" marL="0">
              <a:buNone/>
            </a:pPr>
            <a:r>
              <a:rPr lang="en-US" sz="1100" dirty="0">
                <a:solidFill>
                  <a:srgbClr val="B9CCD0"/>
                </a:solidFill>
                <a:latin typeface="Segoe UI" pitchFamily="34" charset="0"/>
                <a:ea typeface="Segoe UI" pitchFamily="34" charset="-122"/>
                <a:cs typeface="Segoe UI" pitchFamily="34" charset="-120"/>
              </a:rPr>
              <a:t>Sensor, jaringan, edge, backend inti, aplikasi, kendali aturan + override · 10–20 kolam</a:t>
            </a:r>
            <a:endParaRPr lang="en-US" sz="1100" dirty="0"/>
          </a:p>
        </p:txBody>
      </p:sp>
      <p:sp>
        <p:nvSpPr>
          <p:cNvPr id="11" name="Shape 9"/>
          <p:cNvSpPr/>
          <p:nvPr/>
        </p:nvSpPr>
        <p:spPr>
          <a:xfrm>
            <a:off x="4288536" y="1417320"/>
            <a:ext cx="3611880" cy="1554480"/>
          </a:xfrm>
          <a:prstGeom prst="roundRect">
            <a:avLst>
              <a:gd name="adj" fmla="val 5294"/>
            </a:avLst>
          </a:prstGeom>
          <a:solidFill>
            <a:srgbClr val="0F2C33"/>
          </a:solidFill>
          <a:ln w="12700">
            <a:solidFill>
              <a:srgbClr val="5AA9FF"/>
            </a:solidFill>
            <a:prstDash val="dash"/>
          </a:ln>
        </p:spPr>
      </p:sp>
      <p:sp>
        <p:nvSpPr>
          <p:cNvPr id="12" name="Text 10"/>
          <p:cNvSpPr/>
          <p:nvPr/>
        </p:nvSpPr>
        <p:spPr>
          <a:xfrm>
            <a:off x="4489704" y="1536192"/>
            <a:ext cx="1097280" cy="228600"/>
          </a:xfrm>
          <a:prstGeom prst="rect">
            <a:avLst/>
          </a:prstGeom>
          <a:noFill/>
          <a:ln/>
        </p:spPr>
        <p:txBody>
          <a:bodyPr wrap="square" lIns="0" tIns="0" rIns="0" bIns="0" rtlCol="0" anchor="t"/>
          <a:lstStyle/>
          <a:p>
            <a:pPr indent="0" marL="0">
              <a:buNone/>
            </a:pPr>
            <a:r>
              <a:rPr lang="en-US" sz="1050" b="1" spc="150" kern="0" dirty="0">
                <a:solidFill>
                  <a:srgbClr val="5AA9FF"/>
                </a:solidFill>
                <a:latin typeface="Segoe UI" pitchFamily="34" charset="0"/>
                <a:ea typeface="Segoe UI" pitchFamily="34" charset="-122"/>
                <a:cs typeface="Segoe UI" pitchFamily="34" charset="-120"/>
              </a:rPr>
              <a:t>FASE 2</a:t>
            </a:r>
            <a:endParaRPr lang="en-US" sz="1050" dirty="0"/>
          </a:p>
        </p:txBody>
      </p:sp>
      <p:sp>
        <p:nvSpPr>
          <p:cNvPr id="13" name="Shape 11"/>
          <p:cNvSpPr/>
          <p:nvPr/>
        </p:nvSpPr>
        <p:spPr>
          <a:xfrm>
            <a:off x="6117336" y="1517904"/>
            <a:ext cx="1600200" cy="256032"/>
          </a:xfrm>
          <a:prstGeom prst="roundRect">
            <a:avLst>
              <a:gd name="adj" fmla="val 50000"/>
            </a:avLst>
          </a:prstGeom>
          <a:solidFill>
            <a:srgbClr val="0A1E24"/>
          </a:solidFill>
          <a:ln w="12700">
            <a:solidFill>
              <a:srgbClr val="5AA9FF"/>
            </a:solidFill>
            <a:prstDash val="solid"/>
          </a:ln>
        </p:spPr>
      </p:sp>
      <p:sp>
        <p:nvSpPr>
          <p:cNvPr id="14" name="Text 12"/>
          <p:cNvSpPr/>
          <p:nvPr/>
        </p:nvSpPr>
        <p:spPr>
          <a:xfrm>
            <a:off x="6117336" y="1517904"/>
            <a:ext cx="1600200" cy="256032"/>
          </a:xfrm>
          <a:prstGeom prst="rect">
            <a:avLst/>
          </a:prstGeom>
          <a:noFill/>
          <a:ln/>
        </p:spPr>
        <p:txBody>
          <a:bodyPr wrap="square" lIns="0" tIns="0" rIns="0" bIns="0" rtlCol="0" anchor="ctr"/>
          <a:lstStyle/>
          <a:p>
            <a:pPr algn="ctr" indent="0" marL="0">
              <a:buNone/>
            </a:pPr>
            <a:r>
              <a:rPr lang="en-US" sz="950" b="1" dirty="0">
                <a:solidFill>
                  <a:srgbClr val="5AA9FF"/>
                </a:solidFill>
                <a:latin typeface="Segoe UI" pitchFamily="34" charset="0"/>
                <a:ea typeface="Segoe UI" pitchFamily="34" charset="-122"/>
                <a:cs typeface="Segoe UI" pitchFamily="34" charset="-120"/>
              </a:rPr>
              <a:t>setelah baseline</a:t>
            </a:r>
            <a:endParaRPr lang="en-US" sz="950" dirty="0"/>
          </a:p>
        </p:txBody>
      </p:sp>
      <p:sp>
        <p:nvSpPr>
          <p:cNvPr id="15" name="Text 13"/>
          <p:cNvSpPr/>
          <p:nvPr/>
        </p:nvSpPr>
        <p:spPr>
          <a:xfrm>
            <a:off x="4489704" y="1810512"/>
            <a:ext cx="3246120" cy="329184"/>
          </a:xfrm>
          <a:prstGeom prst="rect">
            <a:avLst/>
          </a:prstGeom>
          <a:noFill/>
          <a:ln/>
        </p:spPr>
        <p:txBody>
          <a:bodyPr wrap="square" lIns="0" tIns="0" rIns="0" bIns="0" rtlCol="0" anchor="t"/>
          <a:lstStyle/>
          <a:p>
            <a:pPr indent="0" marL="0">
              <a:buNone/>
            </a:pPr>
            <a:r>
              <a:rPr lang="en-US" sz="1550" dirty="0">
                <a:solidFill>
                  <a:srgbClr val="EAF3F4"/>
                </a:solidFill>
                <a:latin typeface="Segoe UI Semibold" pitchFamily="34" charset="0"/>
                <a:ea typeface="Segoe UI Semibold" pitchFamily="34" charset="-122"/>
                <a:cs typeface="Segoe UI Semibold" pitchFamily="34" charset="-120"/>
              </a:rPr>
              <a:t>Predict + Assist</a:t>
            </a:r>
            <a:endParaRPr lang="en-US" sz="1550" dirty="0"/>
          </a:p>
        </p:txBody>
      </p:sp>
      <p:sp>
        <p:nvSpPr>
          <p:cNvPr id="16" name="Text 14"/>
          <p:cNvSpPr/>
          <p:nvPr/>
        </p:nvSpPr>
        <p:spPr>
          <a:xfrm>
            <a:off x="4489704" y="2176272"/>
            <a:ext cx="3246120" cy="731520"/>
          </a:xfrm>
          <a:prstGeom prst="rect">
            <a:avLst/>
          </a:prstGeom>
          <a:noFill/>
          <a:ln/>
        </p:spPr>
        <p:txBody>
          <a:bodyPr wrap="square" lIns="0" tIns="0" rIns="0" bIns="0" rtlCol="0" anchor="t"/>
          <a:lstStyle/>
          <a:p>
            <a:pPr indent="0" marL="0">
              <a:buNone/>
            </a:pPr>
            <a:r>
              <a:rPr lang="en-US" sz="1100" dirty="0">
                <a:solidFill>
                  <a:srgbClr val="B9CCD0"/>
                </a:solidFill>
                <a:latin typeface="Segoe UI" pitchFamily="34" charset="0"/>
                <a:ea typeface="Segoe UI" pitchFamily="34" charset="-122"/>
                <a:cs typeface="Segoe UI" pitchFamily="34" charset="-120"/>
              </a:rPr>
              <a:t>Prakiraan DO, rekomendasi pakan, deteksi anomali alat — dari baseline Fase 1</a:t>
            </a:r>
            <a:endParaRPr lang="en-US" sz="1100" dirty="0"/>
          </a:p>
        </p:txBody>
      </p:sp>
      <p:sp>
        <p:nvSpPr>
          <p:cNvPr id="17" name="Shape 15"/>
          <p:cNvSpPr/>
          <p:nvPr/>
        </p:nvSpPr>
        <p:spPr>
          <a:xfrm>
            <a:off x="8028432" y="1417320"/>
            <a:ext cx="3611880" cy="1554480"/>
          </a:xfrm>
          <a:prstGeom prst="roundRect">
            <a:avLst>
              <a:gd name="adj" fmla="val 5294"/>
            </a:avLst>
          </a:prstGeom>
          <a:solidFill>
            <a:srgbClr val="0F2C33"/>
          </a:solidFill>
          <a:ln w="12700">
            <a:solidFill>
              <a:srgbClr val="B39DFF"/>
            </a:solidFill>
            <a:prstDash val="dash"/>
          </a:ln>
        </p:spPr>
      </p:sp>
      <p:sp>
        <p:nvSpPr>
          <p:cNvPr id="18" name="Text 16"/>
          <p:cNvSpPr/>
          <p:nvPr/>
        </p:nvSpPr>
        <p:spPr>
          <a:xfrm>
            <a:off x="8229600" y="1536192"/>
            <a:ext cx="1097280" cy="228600"/>
          </a:xfrm>
          <a:prstGeom prst="rect">
            <a:avLst/>
          </a:prstGeom>
          <a:noFill/>
          <a:ln/>
        </p:spPr>
        <p:txBody>
          <a:bodyPr wrap="square" lIns="0" tIns="0" rIns="0" bIns="0" rtlCol="0" anchor="t"/>
          <a:lstStyle/>
          <a:p>
            <a:pPr indent="0" marL="0">
              <a:buNone/>
            </a:pPr>
            <a:r>
              <a:rPr lang="en-US" sz="1050" b="1" spc="150" kern="0" dirty="0">
                <a:solidFill>
                  <a:srgbClr val="B39DFF"/>
                </a:solidFill>
                <a:latin typeface="Segoe UI" pitchFamily="34" charset="0"/>
                <a:ea typeface="Segoe UI" pitchFamily="34" charset="-122"/>
                <a:cs typeface="Segoe UI" pitchFamily="34" charset="-120"/>
              </a:rPr>
              <a:t>FASE 3</a:t>
            </a:r>
            <a:endParaRPr lang="en-US" sz="1050" dirty="0"/>
          </a:p>
        </p:txBody>
      </p:sp>
      <p:sp>
        <p:nvSpPr>
          <p:cNvPr id="19" name="Shape 17"/>
          <p:cNvSpPr/>
          <p:nvPr/>
        </p:nvSpPr>
        <p:spPr>
          <a:xfrm>
            <a:off x="9857232" y="1517904"/>
            <a:ext cx="1600200" cy="256032"/>
          </a:xfrm>
          <a:prstGeom prst="roundRect">
            <a:avLst>
              <a:gd name="adj" fmla="val 50000"/>
            </a:avLst>
          </a:prstGeom>
          <a:solidFill>
            <a:srgbClr val="0A1E24"/>
          </a:solidFill>
          <a:ln w="12700">
            <a:solidFill>
              <a:srgbClr val="B39DFF"/>
            </a:solidFill>
            <a:prstDash val="solid"/>
          </a:ln>
        </p:spPr>
      </p:sp>
      <p:sp>
        <p:nvSpPr>
          <p:cNvPr id="20" name="Text 18"/>
          <p:cNvSpPr/>
          <p:nvPr/>
        </p:nvSpPr>
        <p:spPr>
          <a:xfrm>
            <a:off x="9857232" y="1517904"/>
            <a:ext cx="1600200" cy="256032"/>
          </a:xfrm>
          <a:prstGeom prst="rect">
            <a:avLst/>
          </a:prstGeom>
          <a:noFill/>
          <a:ln/>
        </p:spPr>
        <p:txBody>
          <a:bodyPr wrap="square" lIns="0" tIns="0" rIns="0" bIns="0" rtlCol="0" anchor="ctr"/>
          <a:lstStyle/>
          <a:p>
            <a:pPr algn="ctr" indent="0" marL="0">
              <a:buNone/>
            </a:pPr>
            <a:r>
              <a:rPr lang="en-US" sz="950" b="1" dirty="0">
                <a:solidFill>
                  <a:srgbClr val="B39DFF"/>
                </a:solidFill>
                <a:latin typeface="Segoe UI" pitchFamily="34" charset="0"/>
                <a:ea typeface="Segoe UI" pitchFamily="34" charset="-122"/>
                <a:cs typeface="Segoe UI" pitchFamily="34" charset="-120"/>
              </a:rPr>
              <a:t>setelah sistem dipercaya</a:t>
            </a:r>
            <a:endParaRPr lang="en-US" sz="950" dirty="0"/>
          </a:p>
        </p:txBody>
      </p:sp>
      <p:sp>
        <p:nvSpPr>
          <p:cNvPr id="21" name="Text 19"/>
          <p:cNvSpPr/>
          <p:nvPr/>
        </p:nvSpPr>
        <p:spPr>
          <a:xfrm>
            <a:off x="8229600" y="1810512"/>
            <a:ext cx="3246120" cy="329184"/>
          </a:xfrm>
          <a:prstGeom prst="rect">
            <a:avLst/>
          </a:prstGeom>
          <a:noFill/>
          <a:ln/>
        </p:spPr>
        <p:txBody>
          <a:bodyPr wrap="square" lIns="0" tIns="0" rIns="0" bIns="0" rtlCol="0" anchor="t"/>
          <a:lstStyle/>
          <a:p>
            <a:pPr indent="0" marL="0">
              <a:buNone/>
            </a:pPr>
            <a:r>
              <a:rPr lang="en-US" sz="1550" dirty="0">
                <a:solidFill>
                  <a:srgbClr val="EAF3F4"/>
                </a:solidFill>
                <a:latin typeface="Segoe UI Semibold" pitchFamily="34" charset="0"/>
                <a:ea typeface="Segoe UI Semibold" pitchFamily="34" charset="-122"/>
                <a:cs typeface="Segoe UI Semibold" pitchFamily="34" charset="-120"/>
              </a:rPr>
              <a:t>Automate + Scale</a:t>
            </a:r>
            <a:endParaRPr lang="en-US" sz="1550" dirty="0"/>
          </a:p>
        </p:txBody>
      </p:sp>
      <p:sp>
        <p:nvSpPr>
          <p:cNvPr id="22" name="Text 20"/>
          <p:cNvSpPr/>
          <p:nvPr/>
        </p:nvSpPr>
        <p:spPr>
          <a:xfrm>
            <a:off x="8229600" y="2176272"/>
            <a:ext cx="3246120" cy="731520"/>
          </a:xfrm>
          <a:prstGeom prst="rect">
            <a:avLst/>
          </a:prstGeom>
          <a:noFill/>
          <a:ln/>
        </p:spPr>
        <p:txBody>
          <a:bodyPr wrap="square" lIns="0" tIns="0" rIns="0" bIns="0" rtlCol="0" anchor="t"/>
          <a:lstStyle/>
          <a:p>
            <a:pPr indent="0" marL="0">
              <a:buNone/>
            </a:pPr>
            <a:r>
              <a:rPr lang="en-US" sz="1100" dirty="0">
                <a:solidFill>
                  <a:srgbClr val="B9CCD0"/>
                </a:solidFill>
                <a:latin typeface="Segoe UI" pitchFamily="34" charset="0"/>
                <a:ea typeface="Segoe UI" pitchFamily="34" charset="-122"/>
                <a:cs typeface="Segoe UI" pitchFamily="34" charset="-120"/>
              </a:rPr>
              <a:t>Kendali tertutup lebih luas, banyak site, GIS nasional</a:t>
            </a:r>
            <a:endParaRPr lang="en-US" sz="1100" dirty="0"/>
          </a:p>
        </p:txBody>
      </p:sp>
      <p:sp>
        <p:nvSpPr>
          <p:cNvPr id="23" name="Text 21"/>
          <p:cNvSpPr/>
          <p:nvPr/>
        </p:nvSpPr>
        <p:spPr>
          <a:xfrm>
            <a:off x="548640" y="3182112"/>
            <a:ext cx="3657600" cy="274320"/>
          </a:xfrm>
          <a:prstGeom prst="rect">
            <a:avLst/>
          </a:prstGeom>
          <a:noFill/>
          <a:ln/>
        </p:spPr>
        <p:txBody>
          <a:bodyPr wrap="square" lIns="0" tIns="0" rIns="0" bIns="0" rtlCol="0" anchor="t"/>
          <a:lstStyle/>
          <a:p>
            <a:pPr indent="0" marL="0">
              <a:buNone/>
            </a:pPr>
            <a:r>
              <a:rPr lang="en-US" sz="1300" dirty="0">
                <a:solidFill>
                  <a:srgbClr val="3FD0D4"/>
                </a:solidFill>
                <a:latin typeface="Segoe UI Semibold" pitchFamily="34" charset="0"/>
                <a:ea typeface="Segoe UI Semibold" pitchFamily="34" charset="-122"/>
                <a:cs typeface="Segoe UI Semibold" pitchFamily="34" charset="-120"/>
              </a:rPr>
              <a:t>Fase 1 · minggu ke-</a:t>
            </a:r>
            <a:endParaRPr lang="en-US" sz="1300" dirty="0"/>
          </a:p>
        </p:txBody>
      </p:sp>
      <p:sp>
        <p:nvSpPr>
          <p:cNvPr id="24" name="Text 22"/>
          <p:cNvSpPr/>
          <p:nvPr/>
        </p:nvSpPr>
        <p:spPr>
          <a:xfrm>
            <a:off x="4206240" y="3200400"/>
            <a:ext cx="7434072" cy="274320"/>
          </a:xfrm>
          <a:prstGeom prst="rect">
            <a:avLst/>
          </a:prstGeom>
          <a:noFill/>
          <a:ln/>
        </p:spPr>
        <p:txBody>
          <a:bodyPr wrap="square" lIns="0" tIns="0" rIns="0" bIns="0" rtlCol="0" anchor="t"/>
          <a:lstStyle/>
          <a:p>
            <a:pPr algn="r" indent="0" marL="0">
              <a:buNone/>
            </a:pPr>
            <a:r>
              <a:rPr lang="en-US" sz="1100" dirty="0">
                <a:solidFill>
                  <a:srgbClr val="5EE6B0"/>
                </a:solidFill>
                <a:latin typeface="Segoe UI" pitchFamily="34" charset="0"/>
                <a:ea typeface="Segoe UI" pitchFamily="34" charset="-122"/>
                <a:cs typeface="Segoe UI" pitchFamily="34" charset="-120"/>
              </a:rPr>
              <a:t>Hari ini: desain lapangan selesai · prototipe aplikasi berjalan (data contoh + simulator)</a:t>
            </a:r>
            <a:endParaRPr lang="en-US" sz="1100" dirty="0"/>
          </a:p>
        </p:txBody>
      </p:sp>
      <p:sp>
        <p:nvSpPr>
          <p:cNvPr id="25" name="Shape 23"/>
          <p:cNvSpPr/>
          <p:nvPr/>
        </p:nvSpPr>
        <p:spPr>
          <a:xfrm>
            <a:off x="548640" y="3566160"/>
            <a:ext cx="1331595" cy="82296"/>
          </a:xfrm>
          <a:prstGeom prst="rect">
            <a:avLst/>
          </a:prstGeom>
          <a:solidFill>
            <a:srgbClr val="5EE6B0"/>
          </a:solidFill>
          <a:ln w="12700">
            <a:solidFill>
              <a:srgbClr val="5EE6B0"/>
            </a:solidFill>
            <a:prstDash val="solid"/>
          </a:ln>
        </p:spPr>
      </p:sp>
      <p:sp>
        <p:nvSpPr>
          <p:cNvPr id="26" name="Text 24"/>
          <p:cNvSpPr/>
          <p:nvPr/>
        </p:nvSpPr>
        <p:spPr>
          <a:xfrm>
            <a:off x="548640" y="3703320"/>
            <a:ext cx="1331595" cy="228600"/>
          </a:xfrm>
          <a:prstGeom prst="rect">
            <a:avLst/>
          </a:prstGeom>
          <a:noFill/>
          <a:ln/>
        </p:spPr>
        <p:txBody>
          <a:bodyPr wrap="square" lIns="0" tIns="0" rIns="0" bIns="0" rtlCol="0" anchor="t"/>
          <a:lstStyle/>
          <a:p>
            <a:pPr indent="0" marL="0">
              <a:buNone/>
            </a:pPr>
            <a:r>
              <a:rPr lang="en-US" sz="1000" b="1" dirty="0">
                <a:solidFill>
                  <a:srgbClr val="5EE6B0"/>
                </a:solidFill>
                <a:latin typeface="Segoe UI" pitchFamily="34" charset="0"/>
                <a:ea typeface="Segoe UI" pitchFamily="34" charset="-122"/>
                <a:cs typeface="Segoe UI" pitchFamily="34" charset="-120"/>
              </a:rPr>
              <a:t>1–2</a:t>
            </a:r>
            <a:endParaRPr lang="en-US" sz="1000" dirty="0"/>
          </a:p>
        </p:txBody>
      </p:sp>
      <p:sp>
        <p:nvSpPr>
          <p:cNvPr id="27" name="Text 25"/>
          <p:cNvSpPr/>
          <p:nvPr/>
        </p:nvSpPr>
        <p:spPr>
          <a:xfrm>
            <a:off x="548640" y="3931920"/>
            <a:ext cx="1331595" cy="256032"/>
          </a:xfrm>
          <a:prstGeom prst="rect">
            <a:avLst/>
          </a:prstGeom>
          <a:noFill/>
          <a:ln/>
        </p:spPr>
        <p:txBody>
          <a:bodyPr wrap="square" lIns="0" tIns="0" rIns="0" bIns="0" rtlCol="0" anchor="t"/>
          <a:lstStyle/>
          <a:p>
            <a:pPr indent="0" marL="0">
              <a:buNone/>
            </a:pPr>
            <a:r>
              <a:rPr lang="en-US" sz="1150" dirty="0">
                <a:solidFill>
                  <a:srgbClr val="EAF3F4"/>
                </a:solidFill>
                <a:latin typeface="Segoe UI Semibold" pitchFamily="34" charset="0"/>
                <a:ea typeface="Segoe UI Semibold" pitchFamily="34" charset="-122"/>
                <a:cs typeface="Segoe UI Semibold" pitchFamily="34" charset="-120"/>
              </a:rPr>
              <a:t>Kickoff &amp; survei</a:t>
            </a:r>
            <a:endParaRPr lang="en-US" sz="1150" dirty="0"/>
          </a:p>
        </p:txBody>
      </p:sp>
      <p:sp>
        <p:nvSpPr>
          <p:cNvPr id="28" name="Text 26"/>
          <p:cNvSpPr/>
          <p:nvPr/>
        </p:nvSpPr>
        <p:spPr>
          <a:xfrm>
            <a:off x="548640" y="4206240"/>
            <a:ext cx="1285875" cy="411480"/>
          </a:xfrm>
          <a:prstGeom prst="rect">
            <a:avLst/>
          </a:prstGeom>
          <a:noFill/>
          <a:ln/>
        </p:spPr>
        <p:txBody>
          <a:bodyPr wrap="square" lIns="0" tIns="0" rIns="0" bIns="0" rtlCol="0" anchor="t"/>
          <a:lstStyle/>
          <a:p>
            <a:pPr indent="0" marL="0">
              <a:buNone/>
            </a:pPr>
            <a:r>
              <a:rPr lang="en-US" sz="1000" dirty="0">
                <a:solidFill>
                  <a:srgbClr val="86A0A6"/>
                </a:solidFill>
                <a:latin typeface="Segoe UI" pitchFamily="34" charset="0"/>
                <a:ea typeface="Segoe UI" pitchFamily="34" charset="-122"/>
                <a:cs typeface="Segoe UI" pitchFamily="34" charset="-120"/>
              </a:rPr>
              <a:t>lokasi &amp; profil nila dikunci</a:t>
            </a:r>
            <a:endParaRPr lang="en-US" sz="1000" dirty="0"/>
          </a:p>
        </p:txBody>
      </p:sp>
      <p:sp>
        <p:nvSpPr>
          <p:cNvPr id="29" name="Shape 27"/>
          <p:cNvSpPr/>
          <p:nvPr/>
        </p:nvSpPr>
        <p:spPr>
          <a:xfrm>
            <a:off x="1935099" y="3566160"/>
            <a:ext cx="2024825" cy="82296"/>
          </a:xfrm>
          <a:prstGeom prst="rect">
            <a:avLst/>
          </a:prstGeom>
          <a:solidFill>
            <a:srgbClr val="F5D35C"/>
          </a:solidFill>
          <a:ln w="12700">
            <a:solidFill>
              <a:srgbClr val="F5D35C"/>
            </a:solidFill>
            <a:prstDash val="solid"/>
          </a:ln>
        </p:spPr>
      </p:sp>
      <p:sp>
        <p:nvSpPr>
          <p:cNvPr id="30" name="Text 28"/>
          <p:cNvSpPr/>
          <p:nvPr/>
        </p:nvSpPr>
        <p:spPr>
          <a:xfrm>
            <a:off x="1935099" y="3703320"/>
            <a:ext cx="2024825" cy="228600"/>
          </a:xfrm>
          <a:prstGeom prst="rect">
            <a:avLst/>
          </a:prstGeom>
          <a:noFill/>
          <a:ln/>
        </p:spPr>
        <p:txBody>
          <a:bodyPr wrap="square" lIns="0" tIns="0" rIns="0" bIns="0" rtlCol="0" anchor="t"/>
          <a:lstStyle/>
          <a:p>
            <a:pPr indent="0" marL="0">
              <a:buNone/>
            </a:pPr>
            <a:r>
              <a:rPr lang="en-US" sz="1000" b="1" dirty="0">
                <a:solidFill>
                  <a:srgbClr val="F5D35C"/>
                </a:solidFill>
                <a:latin typeface="Segoe UI" pitchFamily="34" charset="0"/>
                <a:ea typeface="Segoe UI" pitchFamily="34" charset="-122"/>
                <a:cs typeface="Segoe UI" pitchFamily="34" charset="-120"/>
              </a:rPr>
              <a:t>3–5</a:t>
            </a:r>
            <a:endParaRPr lang="en-US" sz="1000" dirty="0"/>
          </a:p>
        </p:txBody>
      </p:sp>
      <p:sp>
        <p:nvSpPr>
          <p:cNvPr id="31" name="Text 29"/>
          <p:cNvSpPr/>
          <p:nvPr/>
        </p:nvSpPr>
        <p:spPr>
          <a:xfrm>
            <a:off x="1935099" y="3931920"/>
            <a:ext cx="2024825" cy="256032"/>
          </a:xfrm>
          <a:prstGeom prst="rect">
            <a:avLst/>
          </a:prstGeom>
          <a:noFill/>
          <a:ln/>
        </p:spPr>
        <p:txBody>
          <a:bodyPr wrap="square" lIns="0" tIns="0" rIns="0" bIns="0" rtlCol="0" anchor="t"/>
          <a:lstStyle/>
          <a:p>
            <a:pPr indent="0" marL="0">
              <a:buNone/>
            </a:pPr>
            <a:r>
              <a:rPr lang="en-US" sz="1150" dirty="0">
                <a:solidFill>
                  <a:srgbClr val="EAF3F4"/>
                </a:solidFill>
                <a:latin typeface="Segoe UI Semibold" pitchFamily="34" charset="0"/>
                <a:ea typeface="Segoe UI Semibold" pitchFamily="34" charset="-122"/>
                <a:cs typeface="Segoe UI Semibold" pitchFamily="34" charset="-120"/>
              </a:rPr>
              <a:t>Pengadaan &amp; instalasi</a:t>
            </a:r>
            <a:endParaRPr lang="en-US" sz="1150" dirty="0"/>
          </a:p>
        </p:txBody>
      </p:sp>
      <p:sp>
        <p:nvSpPr>
          <p:cNvPr id="32" name="Text 30"/>
          <p:cNvSpPr/>
          <p:nvPr/>
        </p:nvSpPr>
        <p:spPr>
          <a:xfrm>
            <a:off x="1935099" y="4206240"/>
            <a:ext cx="1979105" cy="411480"/>
          </a:xfrm>
          <a:prstGeom prst="rect">
            <a:avLst/>
          </a:prstGeom>
          <a:noFill/>
          <a:ln/>
        </p:spPr>
        <p:txBody>
          <a:bodyPr wrap="square" lIns="0" tIns="0" rIns="0" bIns="0" rtlCol="0" anchor="t"/>
          <a:lstStyle/>
          <a:p>
            <a:pPr indent="0" marL="0">
              <a:buNone/>
            </a:pPr>
            <a:r>
              <a:rPr lang="en-US" sz="1000" dirty="0">
                <a:solidFill>
                  <a:srgbClr val="86A0A6"/>
                </a:solidFill>
                <a:latin typeface="Segoe UI" pitchFamily="34" charset="0"/>
                <a:ea typeface="Segoe UI" pitchFamily="34" charset="-122"/>
                <a:cs typeface="Segoe UI" pitchFamily="34" charset="-120"/>
              </a:rPr>
              <a:t>perangkat terpasang</a:t>
            </a:r>
            <a:endParaRPr lang="en-US" sz="1000" dirty="0"/>
          </a:p>
        </p:txBody>
      </p:sp>
      <p:sp>
        <p:nvSpPr>
          <p:cNvPr id="33" name="Shape 31"/>
          <p:cNvSpPr/>
          <p:nvPr/>
        </p:nvSpPr>
        <p:spPr>
          <a:xfrm>
            <a:off x="4014788" y="3566160"/>
            <a:ext cx="2024825" cy="82296"/>
          </a:xfrm>
          <a:prstGeom prst="rect">
            <a:avLst/>
          </a:prstGeom>
          <a:solidFill>
            <a:srgbClr val="FFB347"/>
          </a:solidFill>
          <a:ln w="12700">
            <a:solidFill>
              <a:srgbClr val="FFB347"/>
            </a:solidFill>
            <a:prstDash val="solid"/>
          </a:ln>
        </p:spPr>
      </p:sp>
      <p:sp>
        <p:nvSpPr>
          <p:cNvPr id="34" name="Text 32"/>
          <p:cNvSpPr/>
          <p:nvPr/>
        </p:nvSpPr>
        <p:spPr>
          <a:xfrm>
            <a:off x="4014788" y="3703320"/>
            <a:ext cx="2024825" cy="228600"/>
          </a:xfrm>
          <a:prstGeom prst="rect">
            <a:avLst/>
          </a:prstGeom>
          <a:noFill/>
          <a:ln/>
        </p:spPr>
        <p:txBody>
          <a:bodyPr wrap="square" lIns="0" tIns="0" rIns="0" bIns="0" rtlCol="0" anchor="t"/>
          <a:lstStyle/>
          <a:p>
            <a:pPr indent="0" marL="0">
              <a:buNone/>
            </a:pPr>
            <a:r>
              <a:rPr lang="en-US" sz="1000" b="1" dirty="0">
                <a:solidFill>
                  <a:srgbClr val="FFB347"/>
                </a:solidFill>
                <a:latin typeface="Segoe UI" pitchFamily="34" charset="0"/>
                <a:ea typeface="Segoe UI" pitchFamily="34" charset="-122"/>
                <a:cs typeface="Segoe UI" pitchFamily="34" charset="-120"/>
              </a:rPr>
              <a:t>6–8</a:t>
            </a:r>
            <a:endParaRPr lang="en-US" sz="1000" dirty="0"/>
          </a:p>
        </p:txBody>
      </p:sp>
      <p:sp>
        <p:nvSpPr>
          <p:cNvPr id="35" name="Text 33"/>
          <p:cNvSpPr/>
          <p:nvPr/>
        </p:nvSpPr>
        <p:spPr>
          <a:xfrm>
            <a:off x="4014788" y="3931920"/>
            <a:ext cx="2024825" cy="256032"/>
          </a:xfrm>
          <a:prstGeom prst="rect">
            <a:avLst/>
          </a:prstGeom>
          <a:noFill/>
          <a:ln/>
        </p:spPr>
        <p:txBody>
          <a:bodyPr wrap="square" lIns="0" tIns="0" rIns="0" bIns="0" rtlCol="0" anchor="t"/>
          <a:lstStyle/>
          <a:p>
            <a:pPr indent="0" marL="0">
              <a:buNone/>
            </a:pPr>
            <a:r>
              <a:rPr lang="en-US" sz="1150" dirty="0">
                <a:solidFill>
                  <a:srgbClr val="EAF3F4"/>
                </a:solidFill>
                <a:latin typeface="Segoe UI Semibold" pitchFamily="34" charset="0"/>
                <a:ea typeface="Segoe UI Semibold" pitchFamily="34" charset="-122"/>
                <a:cs typeface="Segoe UI Semibold" pitchFamily="34" charset="-120"/>
              </a:rPr>
              <a:t>Integrasi &amp; kalibrasi</a:t>
            </a:r>
            <a:endParaRPr lang="en-US" sz="1150" dirty="0"/>
          </a:p>
        </p:txBody>
      </p:sp>
      <p:sp>
        <p:nvSpPr>
          <p:cNvPr id="36" name="Text 34"/>
          <p:cNvSpPr/>
          <p:nvPr/>
        </p:nvSpPr>
        <p:spPr>
          <a:xfrm>
            <a:off x="4014788" y="4206240"/>
            <a:ext cx="1979105" cy="411480"/>
          </a:xfrm>
          <a:prstGeom prst="rect">
            <a:avLst/>
          </a:prstGeom>
          <a:noFill/>
          <a:ln/>
        </p:spPr>
        <p:txBody>
          <a:bodyPr wrap="square" lIns="0" tIns="0" rIns="0" bIns="0" rtlCol="0" anchor="t"/>
          <a:lstStyle/>
          <a:p>
            <a:pPr indent="0" marL="0">
              <a:buNone/>
            </a:pPr>
            <a:r>
              <a:rPr lang="en-US" sz="1000" dirty="0">
                <a:solidFill>
                  <a:srgbClr val="86A0A6"/>
                </a:solidFill>
                <a:latin typeface="Segoe UI" pitchFamily="34" charset="0"/>
                <a:ea typeface="Segoe UI" pitchFamily="34" charset="-122"/>
                <a:cs typeface="Segoe UI" pitchFamily="34" charset="-120"/>
              </a:rPr>
              <a:t>data tampil di dashboard</a:t>
            </a:r>
            <a:endParaRPr lang="en-US" sz="1000" dirty="0"/>
          </a:p>
        </p:txBody>
      </p:sp>
      <p:sp>
        <p:nvSpPr>
          <p:cNvPr id="37" name="Shape 35"/>
          <p:cNvSpPr/>
          <p:nvPr/>
        </p:nvSpPr>
        <p:spPr>
          <a:xfrm>
            <a:off x="6094476" y="3566160"/>
            <a:ext cx="2024825" cy="82296"/>
          </a:xfrm>
          <a:prstGeom prst="rect">
            <a:avLst/>
          </a:prstGeom>
          <a:solidFill>
            <a:srgbClr val="5AA9FF"/>
          </a:solidFill>
          <a:ln w="12700">
            <a:solidFill>
              <a:srgbClr val="5AA9FF"/>
            </a:solidFill>
            <a:prstDash val="solid"/>
          </a:ln>
        </p:spPr>
      </p:sp>
      <p:sp>
        <p:nvSpPr>
          <p:cNvPr id="38" name="Text 36"/>
          <p:cNvSpPr/>
          <p:nvPr/>
        </p:nvSpPr>
        <p:spPr>
          <a:xfrm>
            <a:off x="6094476" y="3703320"/>
            <a:ext cx="2024825" cy="228600"/>
          </a:xfrm>
          <a:prstGeom prst="rect">
            <a:avLst/>
          </a:prstGeom>
          <a:noFill/>
          <a:ln/>
        </p:spPr>
        <p:txBody>
          <a:bodyPr wrap="square" lIns="0" tIns="0" rIns="0" bIns="0" rtlCol="0" anchor="t"/>
          <a:lstStyle/>
          <a:p>
            <a:pPr indent="0" marL="0">
              <a:buNone/>
            </a:pPr>
            <a:r>
              <a:rPr lang="en-US" sz="1000" b="1" dirty="0">
                <a:solidFill>
                  <a:srgbClr val="5AA9FF"/>
                </a:solidFill>
                <a:latin typeface="Segoe UI" pitchFamily="34" charset="0"/>
                <a:ea typeface="Segoe UI" pitchFamily="34" charset="-122"/>
                <a:cs typeface="Segoe UI" pitchFamily="34" charset="-120"/>
              </a:rPr>
              <a:t>9–11</a:t>
            </a:r>
            <a:endParaRPr lang="en-US" sz="1000" dirty="0"/>
          </a:p>
        </p:txBody>
      </p:sp>
      <p:sp>
        <p:nvSpPr>
          <p:cNvPr id="39" name="Text 37"/>
          <p:cNvSpPr/>
          <p:nvPr/>
        </p:nvSpPr>
        <p:spPr>
          <a:xfrm>
            <a:off x="6094476" y="3931920"/>
            <a:ext cx="2024825" cy="256032"/>
          </a:xfrm>
          <a:prstGeom prst="rect">
            <a:avLst/>
          </a:prstGeom>
          <a:noFill/>
          <a:ln/>
        </p:spPr>
        <p:txBody>
          <a:bodyPr wrap="square" lIns="0" tIns="0" rIns="0" bIns="0" rtlCol="0" anchor="t"/>
          <a:lstStyle/>
          <a:p>
            <a:pPr indent="0" marL="0">
              <a:buNone/>
            </a:pPr>
            <a:r>
              <a:rPr lang="en-US" sz="1150" dirty="0">
                <a:solidFill>
                  <a:srgbClr val="EAF3F4"/>
                </a:solidFill>
                <a:latin typeface="Segoe UI Semibold" pitchFamily="34" charset="0"/>
                <a:ea typeface="Segoe UI Semibold" pitchFamily="34" charset="-122"/>
                <a:cs typeface="Segoe UI Semibold" pitchFamily="34" charset="-120"/>
              </a:rPr>
              <a:t>Baseline &amp; uji offline</a:t>
            </a:r>
            <a:endParaRPr lang="en-US" sz="1150" dirty="0"/>
          </a:p>
        </p:txBody>
      </p:sp>
      <p:sp>
        <p:nvSpPr>
          <p:cNvPr id="40" name="Text 38"/>
          <p:cNvSpPr/>
          <p:nvPr/>
        </p:nvSpPr>
        <p:spPr>
          <a:xfrm>
            <a:off x="6094476" y="4206240"/>
            <a:ext cx="1979105" cy="411480"/>
          </a:xfrm>
          <a:prstGeom prst="rect">
            <a:avLst/>
          </a:prstGeom>
          <a:noFill/>
          <a:ln/>
        </p:spPr>
        <p:txBody>
          <a:bodyPr wrap="square" lIns="0" tIns="0" rIns="0" bIns="0" rtlCol="0" anchor="t"/>
          <a:lstStyle/>
          <a:p>
            <a:pPr indent="0" marL="0">
              <a:buNone/>
            </a:pPr>
            <a:r>
              <a:rPr lang="en-US" sz="1000" dirty="0">
                <a:solidFill>
                  <a:srgbClr val="86A0A6"/>
                </a:solidFill>
                <a:latin typeface="Segoe UI" pitchFamily="34" charset="0"/>
                <a:ea typeface="Segoe UI" pitchFamily="34" charset="-122"/>
                <a:cs typeface="Segoe UI" pitchFamily="34" charset="-120"/>
              </a:rPr>
              <a:t>sintasan, FCR, energi, uptime</a:t>
            </a:r>
            <a:endParaRPr lang="en-US" sz="1000" dirty="0"/>
          </a:p>
        </p:txBody>
      </p:sp>
      <p:sp>
        <p:nvSpPr>
          <p:cNvPr id="41" name="Shape 39"/>
          <p:cNvSpPr/>
          <p:nvPr/>
        </p:nvSpPr>
        <p:spPr>
          <a:xfrm>
            <a:off x="8174165" y="3566160"/>
            <a:ext cx="2024825" cy="82296"/>
          </a:xfrm>
          <a:prstGeom prst="rect">
            <a:avLst/>
          </a:prstGeom>
          <a:solidFill>
            <a:srgbClr val="FF8A7A"/>
          </a:solidFill>
          <a:ln w="12700">
            <a:solidFill>
              <a:srgbClr val="FF8A7A"/>
            </a:solidFill>
            <a:prstDash val="solid"/>
          </a:ln>
        </p:spPr>
      </p:sp>
      <p:sp>
        <p:nvSpPr>
          <p:cNvPr id="42" name="Text 40"/>
          <p:cNvSpPr/>
          <p:nvPr/>
        </p:nvSpPr>
        <p:spPr>
          <a:xfrm>
            <a:off x="8174165" y="3703320"/>
            <a:ext cx="2024825" cy="228600"/>
          </a:xfrm>
          <a:prstGeom prst="rect">
            <a:avLst/>
          </a:prstGeom>
          <a:noFill/>
          <a:ln/>
        </p:spPr>
        <p:txBody>
          <a:bodyPr wrap="square" lIns="0" tIns="0" rIns="0" bIns="0" rtlCol="0" anchor="t"/>
          <a:lstStyle/>
          <a:p>
            <a:pPr indent="0" marL="0">
              <a:buNone/>
            </a:pPr>
            <a:r>
              <a:rPr lang="en-US" sz="1000" b="1" dirty="0">
                <a:solidFill>
                  <a:srgbClr val="FF8A7A"/>
                </a:solidFill>
                <a:latin typeface="Segoe UI" pitchFamily="34" charset="0"/>
                <a:ea typeface="Segoe UI" pitchFamily="34" charset="-122"/>
                <a:cs typeface="Segoe UI" pitchFamily="34" charset="-120"/>
              </a:rPr>
              <a:t>12–14</a:t>
            </a:r>
            <a:endParaRPr lang="en-US" sz="1000" dirty="0"/>
          </a:p>
        </p:txBody>
      </p:sp>
      <p:sp>
        <p:nvSpPr>
          <p:cNvPr id="43" name="Text 41"/>
          <p:cNvSpPr/>
          <p:nvPr/>
        </p:nvSpPr>
        <p:spPr>
          <a:xfrm>
            <a:off x="8174165" y="3931920"/>
            <a:ext cx="2024825" cy="256032"/>
          </a:xfrm>
          <a:prstGeom prst="rect">
            <a:avLst/>
          </a:prstGeom>
          <a:noFill/>
          <a:ln/>
        </p:spPr>
        <p:txBody>
          <a:bodyPr wrap="square" lIns="0" tIns="0" rIns="0" bIns="0" rtlCol="0" anchor="t"/>
          <a:lstStyle/>
          <a:p>
            <a:pPr indent="0" marL="0">
              <a:buNone/>
            </a:pPr>
            <a:r>
              <a:rPr lang="en-US" sz="1150" dirty="0">
                <a:solidFill>
                  <a:srgbClr val="EAF3F4"/>
                </a:solidFill>
                <a:latin typeface="Segoe UI Semibold" pitchFamily="34" charset="0"/>
                <a:ea typeface="Segoe UI Semibold" pitchFamily="34" charset="-122"/>
                <a:cs typeface="Segoe UI Semibold" pitchFamily="34" charset="-120"/>
              </a:rPr>
              <a:t>UAT &amp; pelatihan</a:t>
            </a:r>
            <a:endParaRPr lang="en-US" sz="1150" dirty="0"/>
          </a:p>
        </p:txBody>
      </p:sp>
      <p:sp>
        <p:nvSpPr>
          <p:cNvPr id="44" name="Text 42"/>
          <p:cNvSpPr/>
          <p:nvPr/>
        </p:nvSpPr>
        <p:spPr>
          <a:xfrm>
            <a:off x="8174165" y="4206240"/>
            <a:ext cx="1979105" cy="411480"/>
          </a:xfrm>
          <a:prstGeom prst="rect">
            <a:avLst/>
          </a:prstGeom>
          <a:noFill/>
          <a:ln/>
        </p:spPr>
        <p:txBody>
          <a:bodyPr wrap="square" lIns="0" tIns="0" rIns="0" bIns="0" rtlCol="0" anchor="t"/>
          <a:lstStyle/>
          <a:p>
            <a:pPr indent="0" marL="0">
              <a:buNone/>
            </a:pPr>
            <a:r>
              <a:rPr lang="en-US" sz="1000" dirty="0">
                <a:solidFill>
                  <a:srgbClr val="86A0A6"/>
                </a:solidFill>
                <a:latin typeface="Segoe UI" pitchFamily="34" charset="0"/>
                <a:ea typeface="Segoe UI" pitchFamily="34" charset="-122"/>
                <a:cs typeface="Segoe UI" pitchFamily="34" charset="-120"/>
              </a:rPr>
              <a:t>sign-off, operator terlatih</a:t>
            </a:r>
            <a:endParaRPr lang="en-US" sz="1000" dirty="0"/>
          </a:p>
        </p:txBody>
      </p:sp>
      <p:sp>
        <p:nvSpPr>
          <p:cNvPr id="45" name="Shape 43"/>
          <p:cNvSpPr/>
          <p:nvPr/>
        </p:nvSpPr>
        <p:spPr>
          <a:xfrm>
            <a:off x="10253853" y="3566160"/>
            <a:ext cx="1331595" cy="82296"/>
          </a:xfrm>
          <a:prstGeom prst="rect">
            <a:avLst/>
          </a:prstGeom>
          <a:solidFill>
            <a:srgbClr val="B39DFF"/>
          </a:solidFill>
          <a:ln w="12700">
            <a:solidFill>
              <a:srgbClr val="B39DFF"/>
            </a:solidFill>
            <a:prstDash val="solid"/>
          </a:ln>
        </p:spPr>
      </p:sp>
      <p:sp>
        <p:nvSpPr>
          <p:cNvPr id="46" name="Text 44"/>
          <p:cNvSpPr/>
          <p:nvPr/>
        </p:nvSpPr>
        <p:spPr>
          <a:xfrm>
            <a:off x="10253853" y="3703320"/>
            <a:ext cx="1331595" cy="228600"/>
          </a:xfrm>
          <a:prstGeom prst="rect">
            <a:avLst/>
          </a:prstGeom>
          <a:noFill/>
          <a:ln/>
        </p:spPr>
        <p:txBody>
          <a:bodyPr wrap="square" lIns="0" tIns="0" rIns="0" bIns="0" rtlCol="0" anchor="t"/>
          <a:lstStyle/>
          <a:p>
            <a:pPr indent="0" marL="0">
              <a:buNone/>
            </a:pPr>
            <a:r>
              <a:rPr lang="en-US" sz="1000" b="1" dirty="0">
                <a:solidFill>
                  <a:srgbClr val="B39DFF"/>
                </a:solidFill>
                <a:latin typeface="Segoe UI" pitchFamily="34" charset="0"/>
                <a:ea typeface="Segoe UI" pitchFamily="34" charset="-122"/>
                <a:cs typeface="Segoe UI" pitchFamily="34" charset="-120"/>
              </a:rPr>
              <a:t>15–16</a:t>
            </a:r>
            <a:endParaRPr lang="en-US" sz="1000" dirty="0"/>
          </a:p>
        </p:txBody>
      </p:sp>
      <p:sp>
        <p:nvSpPr>
          <p:cNvPr id="47" name="Text 45"/>
          <p:cNvSpPr/>
          <p:nvPr/>
        </p:nvSpPr>
        <p:spPr>
          <a:xfrm>
            <a:off x="10253853" y="3931920"/>
            <a:ext cx="1331595" cy="256032"/>
          </a:xfrm>
          <a:prstGeom prst="rect">
            <a:avLst/>
          </a:prstGeom>
          <a:noFill/>
          <a:ln/>
        </p:spPr>
        <p:txBody>
          <a:bodyPr wrap="square" lIns="0" tIns="0" rIns="0" bIns="0" rtlCol="0" anchor="t"/>
          <a:lstStyle/>
          <a:p>
            <a:pPr indent="0" marL="0">
              <a:buNone/>
            </a:pPr>
            <a:r>
              <a:rPr lang="en-US" sz="1150" dirty="0">
                <a:solidFill>
                  <a:srgbClr val="EAF3F4"/>
                </a:solidFill>
                <a:latin typeface="Segoe UI Semibold" pitchFamily="34" charset="0"/>
                <a:ea typeface="Segoe UI Semibold" pitchFamily="34" charset="-122"/>
                <a:cs typeface="Segoe UI Semibold" pitchFamily="34" charset="-120"/>
              </a:rPr>
              <a:t>Serah terima</a:t>
            </a:r>
            <a:endParaRPr lang="en-US" sz="1150" dirty="0"/>
          </a:p>
        </p:txBody>
      </p:sp>
      <p:sp>
        <p:nvSpPr>
          <p:cNvPr id="48" name="Text 46"/>
          <p:cNvSpPr/>
          <p:nvPr/>
        </p:nvSpPr>
        <p:spPr>
          <a:xfrm>
            <a:off x="10253853" y="4206240"/>
            <a:ext cx="1285875" cy="411480"/>
          </a:xfrm>
          <a:prstGeom prst="rect">
            <a:avLst/>
          </a:prstGeom>
          <a:noFill/>
          <a:ln/>
        </p:spPr>
        <p:txBody>
          <a:bodyPr wrap="square" lIns="0" tIns="0" rIns="0" bIns="0" rtlCol="0" anchor="t"/>
          <a:lstStyle/>
          <a:p>
            <a:pPr indent="0" marL="0">
              <a:buNone/>
            </a:pPr>
            <a:r>
              <a:rPr lang="en-US" sz="1000" dirty="0">
                <a:solidFill>
                  <a:srgbClr val="86A0A6"/>
                </a:solidFill>
                <a:latin typeface="Segoe UI" pitchFamily="34" charset="0"/>
                <a:ea typeface="Segoe UI" pitchFamily="34" charset="-122"/>
                <a:cs typeface="Segoe UI" pitchFamily="34" charset="-120"/>
              </a:rPr>
              <a:t>laporan &amp; keputusan Fase 2</a:t>
            </a:r>
            <a:endParaRPr lang="en-US" sz="1000" dirty="0"/>
          </a:p>
        </p:txBody>
      </p:sp>
      <p:sp>
        <p:nvSpPr>
          <p:cNvPr id="49" name="Text 47"/>
          <p:cNvSpPr/>
          <p:nvPr/>
        </p:nvSpPr>
        <p:spPr>
          <a:xfrm>
            <a:off x="548640" y="4800600"/>
            <a:ext cx="8229600" cy="274320"/>
          </a:xfrm>
          <a:prstGeom prst="rect">
            <a:avLst/>
          </a:prstGeom>
          <a:noFill/>
          <a:ln/>
        </p:spPr>
        <p:txBody>
          <a:bodyPr wrap="square" lIns="0" tIns="0" rIns="0" bIns="0" rtlCol="0" anchor="t"/>
          <a:lstStyle/>
          <a:p>
            <a:pPr indent="0" marL="0">
              <a:buNone/>
            </a:pPr>
            <a:r>
              <a:rPr lang="en-US" sz="1300" dirty="0">
                <a:solidFill>
                  <a:srgbClr val="FFB347"/>
                </a:solidFill>
                <a:latin typeface="Segoe UI Semibold" pitchFamily="34" charset="0"/>
                <a:ea typeface="Segoe UI Semibold" pitchFamily="34" charset="-122"/>
                <a:cs typeface="Segoe UI Semibold" pitchFamily="34" charset="-120"/>
              </a:rPr>
              <a:t>Gerbang sebelum kendali otomatis dinyalakan di pilot</a:t>
            </a:r>
            <a:endParaRPr lang="en-US" sz="1300" dirty="0"/>
          </a:p>
        </p:txBody>
      </p:sp>
      <p:sp>
        <p:nvSpPr>
          <p:cNvPr id="50" name="Shape 48"/>
          <p:cNvSpPr/>
          <p:nvPr/>
        </p:nvSpPr>
        <p:spPr>
          <a:xfrm>
            <a:off x="548640" y="5138928"/>
            <a:ext cx="2148840" cy="868680"/>
          </a:xfrm>
          <a:prstGeom prst="roundRect">
            <a:avLst>
              <a:gd name="adj" fmla="val 9474"/>
            </a:avLst>
          </a:prstGeom>
          <a:solidFill>
            <a:srgbClr val="0F2C33"/>
          </a:solidFill>
          <a:ln w="12700">
            <a:solidFill>
              <a:srgbClr val="24505A"/>
            </a:solidFill>
            <a:prstDash val="solid"/>
          </a:ln>
        </p:spPr>
      </p:sp>
      <p:sp>
        <p:nvSpPr>
          <p:cNvPr id="51" name="Shape 49"/>
          <p:cNvSpPr/>
          <p:nvPr/>
        </p:nvSpPr>
        <p:spPr>
          <a:xfrm>
            <a:off x="548640" y="5266944"/>
            <a:ext cx="54864" cy="612648"/>
          </a:xfrm>
          <a:prstGeom prst="rect">
            <a:avLst/>
          </a:prstGeom>
          <a:solidFill>
            <a:srgbClr val="FFB347"/>
          </a:solidFill>
          <a:ln w="12700">
            <a:solidFill>
              <a:srgbClr val="FFB347"/>
            </a:solidFill>
            <a:prstDash val="solid"/>
          </a:ln>
        </p:spPr>
      </p:sp>
      <p:sp>
        <p:nvSpPr>
          <p:cNvPr id="52" name="Text 50"/>
          <p:cNvSpPr/>
          <p:nvPr/>
        </p:nvSpPr>
        <p:spPr>
          <a:xfrm>
            <a:off x="731520" y="5212080"/>
            <a:ext cx="1874520" cy="256032"/>
          </a:xfrm>
          <a:prstGeom prst="rect">
            <a:avLst/>
          </a:prstGeom>
          <a:noFill/>
          <a:ln/>
        </p:spPr>
        <p:txBody>
          <a:bodyPr wrap="square" lIns="0" tIns="0" rIns="0" bIns="0" rtlCol="0" anchor="t"/>
          <a:lstStyle/>
          <a:p>
            <a:pPr indent="0" marL="0">
              <a:buNone/>
            </a:pPr>
            <a:r>
              <a:rPr lang="en-US" sz="1200" dirty="0">
                <a:solidFill>
                  <a:srgbClr val="FFB347"/>
                </a:solidFill>
                <a:latin typeface="Segoe UI Semibold" pitchFamily="34" charset="0"/>
                <a:ea typeface="Segoe UI Semibold" pitchFamily="34" charset="-122"/>
                <a:cs typeface="Segoe UI Semibold" pitchFamily="34" charset="-120"/>
              </a:rPr>
              <a:t>1 · Shadow mode</a:t>
            </a:r>
            <a:endParaRPr lang="en-US" sz="1200" dirty="0"/>
          </a:p>
        </p:txBody>
      </p:sp>
      <p:sp>
        <p:nvSpPr>
          <p:cNvPr id="53" name="Text 51"/>
          <p:cNvSpPr/>
          <p:nvPr/>
        </p:nvSpPr>
        <p:spPr>
          <a:xfrm>
            <a:off x="731520" y="5486400"/>
            <a:ext cx="1874520" cy="457200"/>
          </a:xfrm>
          <a:prstGeom prst="rect">
            <a:avLst/>
          </a:prstGeom>
          <a:noFill/>
          <a:ln/>
        </p:spPr>
        <p:txBody>
          <a:bodyPr wrap="square" lIns="0" tIns="0" rIns="0" bIns="0" rtlCol="0" anchor="t"/>
          <a:lstStyle/>
          <a:p>
            <a:pPr indent="0" marL="0">
              <a:buNone/>
            </a:pPr>
            <a:r>
              <a:rPr lang="en-US" sz="1000" dirty="0">
                <a:solidFill>
                  <a:srgbClr val="B9CCD0"/>
                </a:solidFill>
                <a:latin typeface="Segoe UI" pitchFamily="34" charset="0"/>
                <a:ea typeface="Segoe UI" pitchFamily="34" charset="-122"/>
                <a:cs typeface="Segoe UI" pitchFamily="34" charset="-120"/>
              </a:rPr>
              <a:t>≥ 30 pasang bacaan vs alat genggam, ≥ 14 hari</a:t>
            </a:r>
            <a:endParaRPr lang="en-US" sz="1000" dirty="0"/>
          </a:p>
        </p:txBody>
      </p:sp>
      <p:sp>
        <p:nvSpPr>
          <p:cNvPr id="54" name="Shape 52"/>
          <p:cNvSpPr/>
          <p:nvPr/>
        </p:nvSpPr>
        <p:spPr>
          <a:xfrm>
            <a:off x="2807208" y="5138928"/>
            <a:ext cx="2148840" cy="868680"/>
          </a:xfrm>
          <a:prstGeom prst="roundRect">
            <a:avLst>
              <a:gd name="adj" fmla="val 9474"/>
            </a:avLst>
          </a:prstGeom>
          <a:solidFill>
            <a:srgbClr val="0F2C33"/>
          </a:solidFill>
          <a:ln w="12700">
            <a:solidFill>
              <a:srgbClr val="24505A"/>
            </a:solidFill>
            <a:prstDash val="solid"/>
          </a:ln>
        </p:spPr>
      </p:sp>
      <p:sp>
        <p:nvSpPr>
          <p:cNvPr id="55" name="Shape 53"/>
          <p:cNvSpPr/>
          <p:nvPr/>
        </p:nvSpPr>
        <p:spPr>
          <a:xfrm>
            <a:off x="2807208" y="5266944"/>
            <a:ext cx="54864" cy="612648"/>
          </a:xfrm>
          <a:prstGeom prst="rect">
            <a:avLst/>
          </a:prstGeom>
          <a:solidFill>
            <a:srgbClr val="FFB347"/>
          </a:solidFill>
          <a:ln w="12700">
            <a:solidFill>
              <a:srgbClr val="FFB347"/>
            </a:solidFill>
            <a:prstDash val="solid"/>
          </a:ln>
        </p:spPr>
      </p:sp>
      <p:sp>
        <p:nvSpPr>
          <p:cNvPr id="56" name="Text 54"/>
          <p:cNvSpPr/>
          <p:nvPr/>
        </p:nvSpPr>
        <p:spPr>
          <a:xfrm>
            <a:off x="2990088" y="5212080"/>
            <a:ext cx="1874520" cy="256032"/>
          </a:xfrm>
          <a:prstGeom prst="rect">
            <a:avLst/>
          </a:prstGeom>
          <a:noFill/>
          <a:ln/>
        </p:spPr>
        <p:txBody>
          <a:bodyPr wrap="square" lIns="0" tIns="0" rIns="0" bIns="0" rtlCol="0" anchor="t"/>
          <a:lstStyle/>
          <a:p>
            <a:pPr indent="0" marL="0">
              <a:buNone/>
            </a:pPr>
            <a:r>
              <a:rPr lang="en-US" sz="1200" dirty="0">
                <a:solidFill>
                  <a:srgbClr val="FFB347"/>
                </a:solidFill>
                <a:latin typeface="Segoe UI Semibold" pitchFamily="34" charset="0"/>
                <a:ea typeface="Segoe UI Semibold" pitchFamily="34" charset="-122"/>
                <a:cs typeface="Segoe UI Semibold" pitchFamily="34" charset="-120"/>
              </a:rPr>
              <a:t>2 · Kalibrasi batas</a:t>
            </a:r>
            <a:endParaRPr lang="en-US" sz="1200" dirty="0"/>
          </a:p>
        </p:txBody>
      </p:sp>
      <p:sp>
        <p:nvSpPr>
          <p:cNvPr id="57" name="Text 55"/>
          <p:cNvSpPr/>
          <p:nvPr/>
        </p:nvSpPr>
        <p:spPr>
          <a:xfrm>
            <a:off x="2990088" y="5486400"/>
            <a:ext cx="1874520" cy="457200"/>
          </a:xfrm>
          <a:prstGeom prst="rect">
            <a:avLst/>
          </a:prstGeom>
          <a:noFill/>
          <a:ln/>
        </p:spPr>
        <p:txBody>
          <a:bodyPr wrap="square" lIns="0" tIns="0" rIns="0" bIns="0" rtlCol="0" anchor="t"/>
          <a:lstStyle/>
          <a:p>
            <a:pPr indent="0" marL="0">
              <a:buNone/>
            </a:pPr>
            <a:r>
              <a:rPr lang="en-US" sz="1000" dirty="0">
                <a:solidFill>
                  <a:srgbClr val="B9CCD0"/>
                </a:solidFill>
                <a:latin typeface="Segoe UI" pitchFamily="34" charset="0"/>
                <a:ea typeface="Segoe UI" pitchFamily="34" charset="-122"/>
                <a:cs typeface="Segoe UI" pitchFamily="34" charset="-120"/>
              </a:rPr>
              <a:t>per lokasi &amp; profil nila, dari data pilot</a:t>
            </a:r>
            <a:endParaRPr lang="en-US" sz="1000" dirty="0"/>
          </a:p>
        </p:txBody>
      </p:sp>
      <p:sp>
        <p:nvSpPr>
          <p:cNvPr id="58" name="Shape 56"/>
          <p:cNvSpPr/>
          <p:nvPr/>
        </p:nvSpPr>
        <p:spPr>
          <a:xfrm>
            <a:off x="5065776" y="5138928"/>
            <a:ext cx="2148840" cy="868680"/>
          </a:xfrm>
          <a:prstGeom prst="roundRect">
            <a:avLst>
              <a:gd name="adj" fmla="val 9474"/>
            </a:avLst>
          </a:prstGeom>
          <a:solidFill>
            <a:srgbClr val="0F2C33"/>
          </a:solidFill>
          <a:ln w="12700">
            <a:solidFill>
              <a:srgbClr val="24505A"/>
            </a:solidFill>
            <a:prstDash val="solid"/>
          </a:ln>
        </p:spPr>
      </p:sp>
      <p:sp>
        <p:nvSpPr>
          <p:cNvPr id="59" name="Shape 57"/>
          <p:cNvSpPr/>
          <p:nvPr/>
        </p:nvSpPr>
        <p:spPr>
          <a:xfrm>
            <a:off x="5065776" y="5266944"/>
            <a:ext cx="54864" cy="612648"/>
          </a:xfrm>
          <a:prstGeom prst="rect">
            <a:avLst/>
          </a:prstGeom>
          <a:solidFill>
            <a:srgbClr val="FFB347"/>
          </a:solidFill>
          <a:ln w="12700">
            <a:solidFill>
              <a:srgbClr val="FFB347"/>
            </a:solidFill>
            <a:prstDash val="solid"/>
          </a:ln>
        </p:spPr>
      </p:sp>
      <p:sp>
        <p:nvSpPr>
          <p:cNvPr id="60" name="Text 58"/>
          <p:cNvSpPr/>
          <p:nvPr/>
        </p:nvSpPr>
        <p:spPr>
          <a:xfrm>
            <a:off x="5248656" y="5212080"/>
            <a:ext cx="1874520" cy="256032"/>
          </a:xfrm>
          <a:prstGeom prst="rect">
            <a:avLst/>
          </a:prstGeom>
          <a:noFill/>
          <a:ln/>
        </p:spPr>
        <p:txBody>
          <a:bodyPr wrap="square" lIns="0" tIns="0" rIns="0" bIns="0" rtlCol="0" anchor="t"/>
          <a:lstStyle/>
          <a:p>
            <a:pPr indent="0" marL="0">
              <a:buNone/>
            </a:pPr>
            <a:r>
              <a:rPr lang="en-US" sz="1200" dirty="0">
                <a:solidFill>
                  <a:srgbClr val="FFB347"/>
                </a:solidFill>
                <a:latin typeface="Segoe UI Semibold" pitchFamily="34" charset="0"/>
                <a:ea typeface="Segoe UI Semibold" pitchFamily="34" charset="-122"/>
                <a:cs typeface="Segoe UI Semibold" pitchFamily="34" charset="-120"/>
              </a:rPr>
              <a:t>3 · Uji kegagalan</a:t>
            </a:r>
            <a:endParaRPr lang="en-US" sz="1200" dirty="0"/>
          </a:p>
        </p:txBody>
      </p:sp>
      <p:sp>
        <p:nvSpPr>
          <p:cNvPr id="61" name="Text 59"/>
          <p:cNvSpPr/>
          <p:nvPr/>
        </p:nvSpPr>
        <p:spPr>
          <a:xfrm>
            <a:off x="5248656" y="5486400"/>
            <a:ext cx="1874520" cy="457200"/>
          </a:xfrm>
          <a:prstGeom prst="rect">
            <a:avLst/>
          </a:prstGeom>
          <a:noFill/>
          <a:ln/>
        </p:spPr>
        <p:txBody>
          <a:bodyPr wrap="square" lIns="0" tIns="0" rIns="0" bIns="0" rtlCol="0" anchor="t"/>
          <a:lstStyle/>
          <a:p>
            <a:pPr indent="0" marL="0">
              <a:buNone/>
            </a:pPr>
            <a:r>
              <a:rPr lang="en-US" sz="1000" dirty="0">
                <a:solidFill>
                  <a:srgbClr val="B9CCD0"/>
                </a:solidFill>
                <a:latin typeface="Segoe UI" pitchFamily="34" charset="0"/>
                <a:ea typeface="Segoe UI" pitchFamily="34" charset="-122"/>
                <a:cs typeface="Segoe UI" pitchFamily="34" charset="-120"/>
              </a:rPr>
              <a:t>internet, edge, sensor, aerator — dengan saksi</a:t>
            </a:r>
            <a:endParaRPr lang="en-US" sz="1000" dirty="0"/>
          </a:p>
        </p:txBody>
      </p:sp>
      <p:sp>
        <p:nvSpPr>
          <p:cNvPr id="62" name="Shape 60"/>
          <p:cNvSpPr/>
          <p:nvPr/>
        </p:nvSpPr>
        <p:spPr>
          <a:xfrm>
            <a:off x="7324344" y="5138928"/>
            <a:ext cx="2148840" cy="868680"/>
          </a:xfrm>
          <a:prstGeom prst="roundRect">
            <a:avLst>
              <a:gd name="adj" fmla="val 9474"/>
            </a:avLst>
          </a:prstGeom>
          <a:solidFill>
            <a:srgbClr val="0F2C33"/>
          </a:solidFill>
          <a:ln w="12700">
            <a:solidFill>
              <a:srgbClr val="24505A"/>
            </a:solidFill>
            <a:prstDash val="solid"/>
          </a:ln>
        </p:spPr>
      </p:sp>
      <p:sp>
        <p:nvSpPr>
          <p:cNvPr id="63" name="Shape 61"/>
          <p:cNvSpPr/>
          <p:nvPr/>
        </p:nvSpPr>
        <p:spPr>
          <a:xfrm>
            <a:off x="7324344" y="5266944"/>
            <a:ext cx="54864" cy="612648"/>
          </a:xfrm>
          <a:prstGeom prst="rect">
            <a:avLst/>
          </a:prstGeom>
          <a:solidFill>
            <a:srgbClr val="FFB347"/>
          </a:solidFill>
          <a:ln w="12700">
            <a:solidFill>
              <a:srgbClr val="FFB347"/>
            </a:solidFill>
            <a:prstDash val="solid"/>
          </a:ln>
        </p:spPr>
      </p:sp>
      <p:sp>
        <p:nvSpPr>
          <p:cNvPr id="64" name="Text 62"/>
          <p:cNvSpPr/>
          <p:nvPr/>
        </p:nvSpPr>
        <p:spPr>
          <a:xfrm>
            <a:off x="7507224" y="5212080"/>
            <a:ext cx="1874520" cy="256032"/>
          </a:xfrm>
          <a:prstGeom prst="rect">
            <a:avLst/>
          </a:prstGeom>
          <a:noFill/>
          <a:ln/>
        </p:spPr>
        <p:txBody>
          <a:bodyPr wrap="square" lIns="0" tIns="0" rIns="0" bIns="0" rtlCol="0" anchor="t"/>
          <a:lstStyle/>
          <a:p>
            <a:pPr indent="0" marL="0">
              <a:buNone/>
            </a:pPr>
            <a:r>
              <a:rPr lang="en-US" sz="1200" dirty="0">
                <a:solidFill>
                  <a:srgbClr val="FFB347"/>
                </a:solidFill>
                <a:latin typeface="Segoe UI Semibold" pitchFamily="34" charset="0"/>
                <a:ea typeface="Segoe UI Semibold" pitchFamily="34" charset="-122"/>
                <a:cs typeface="Segoe UI Semibold" pitchFamily="34" charset="-120"/>
              </a:rPr>
              <a:t>4 · Latihan SOP</a:t>
            </a:r>
            <a:endParaRPr lang="en-US" sz="1200" dirty="0"/>
          </a:p>
        </p:txBody>
      </p:sp>
      <p:sp>
        <p:nvSpPr>
          <p:cNvPr id="65" name="Text 63"/>
          <p:cNvSpPr/>
          <p:nvPr/>
        </p:nvSpPr>
        <p:spPr>
          <a:xfrm>
            <a:off x="7507224" y="5486400"/>
            <a:ext cx="1874520" cy="457200"/>
          </a:xfrm>
          <a:prstGeom prst="rect">
            <a:avLst/>
          </a:prstGeom>
          <a:noFill/>
          <a:ln/>
        </p:spPr>
        <p:txBody>
          <a:bodyPr wrap="square" lIns="0" tIns="0" rIns="0" bIns="0" rtlCol="0" anchor="t"/>
          <a:lstStyle/>
          <a:p>
            <a:pPr indent="0" marL="0">
              <a:buNone/>
            </a:pPr>
            <a:r>
              <a:rPr lang="en-US" sz="1000" dirty="0">
                <a:solidFill>
                  <a:srgbClr val="B9CCD0"/>
                </a:solidFill>
                <a:latin typeface="Segoe UI" pitchFamily="34" charset="0"/>
                <a:ea typeface="Segoe UI" pitchFamily="34" charset="-122"/>
                <a:cs typeface="Segoe UI" pitchFamily="34" charset="-120"/>
              </a:rPr>
              <a:t>≥ 3 latihan, tepat waktu</a:t>
            </a:r>
            <a:endParaRPr lang="en-US" sz="1000" dirty="0"/>
          </a:p>
        </p:txBody>
      </p:sp>
      <p:sp>
        <p:nvSpPr>
          <p:cNvPr id="66" name="Shape 64"/>
          <p:cNvSpPr/>
          <p:nvPr/>
        </p:nvSpPr>
        <p:spPr>
          <a:xfrm>
            <a:off x="9582912" y="5138928"/>
            <a:ext cx="2057400" cy="868680"/>
          </a:xfrm>
          <a:prstGeom prst="roundRect">
            <a:avLst>
              <a:gd name="adj" fmla="val 9474"/>
            </a:avLst>
          </a:prstGeom>
          <a:solidFill>
            <a:srgbClr val="5EE6B0"/>
          </a:solidFill>
          <a:ln w="12700">
            <a:solidFill>
              <a:srgbClr val="5EE6B0"/>
            </a:solidFill>
            <a:prstDash val="solid"/>
          </a:ln>
        </p:spPr>
      </p:sp>
      <p:sp>
        <p:nvSpPr>
          <p:cNvPr id="67" name="Text 65"/>
          <p:cNvSpPr/>
          <p:nvPr/>
        </p:nvSpPr>
        <p:spPr>
          <a:xfrm>
            <a:off x="9710928" y="5175504"/>
            <a:ext cx="1828800" cy="795528"/>
          </a:xfrm>
          <a:prstGeom prst="rect">
            <a:avLst/>
          </a:prstGeom>
          <a:noFill/>
          <a:ln/>
        </p:spPr>
        <p:txBody>
          <a:bodyPr wrap="square" lIns="0" tIns="0" rIns="0" bIns="0" rtlCol="0" anchor="ctr"/>
          <a:lstStyle/>
          <a:p>
            <a:pPr indent="0" marL="0">
              <a:buNone/>
            </a:pPr>
            <a:r>
              <a:rPr lang="en-US" sz="1250" b="1" dirty="0">
                <a:solidFill>
                  <a:srgbClr val="0A1E24"/>
                </a:solidFill>
                <a:latin typeface="Segoe UI" pitchFamily="34" charset="0"/>
                <a:ea typeface="Segoe UI" pitchFamily="34" charset="-122"/>
                <a:cs typeface="Segoe UI" pitchFamily="34" charset="-120"/>
              </a:rPr>
              <a:t>Kendali otomatis aktif</a:t>
            </a:r>
            <a:endParaRPr lang="en-US" sz="1250" dirty="0"/>
          </a:p>
          <a:p>
            <a:pPr indent="0" marL="0">
              <a:buNone/>
            </a:pPr>
            <a:r>
              <a:rPr lang="en-US" sz="1000" dirty="0">
                <a:solidFill>
                  <a:srgbClr val="0A1E24"/>
                </a:solidFill>
                <a:latin typeface="Segoe UI" pitchFamily="34" charset="0"/>
                <a:ea typeface="Segoe UI" pitchFamily="34" charset="-122"/>
                <a:cs typeface="Segoe UI" pitchFamily="34" charset="-120"/>
              </a:rPr>
              <a:t>dengan bukti yang bisa diaudit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Steven Waruwu\AppData\Local\Temp\claude\d--KKP\3497f670-cbc2-4672-b31d-c2fc16f14f69\scratchpad\deckgen\img/end-art.png">    </p:cNvPr>
          <p:cNvPicPr>
            <a:picLocks noChangeAspect="1"/>
          </p:cNvPicPr>
          <p:nvPr/>
        </p:nvPicPr>
        <p:blipFill>
          <a:blip r:embed="rId2"/>
          <a:srcRect l="0" r="0" t="0" b="0"/>
          <a:stretch/>
        </p:blipFill>
        <p:spPr>
          <a:xfrm>
            <a:off x="8778240" y="3931920"/>
            <a:ext cx="2926080" cy="2377440"/>
          </a:xfrm>
          <a:prstGeom prst="rect">
            <a:avLst/>
          </a:prstGeom>
        </p:spPr>
      </p:pic>
      <p:sp>
        <p:nvSpPr>
          <p:cNvPr id="3" name="Text 0"/>
          <p:cNvSpPr/>
          <p:nvPr/>
        </p:nvSpPr>
        <p:spPr>
          <a:xfrm>
            <a:off x="548640" y="384048"/>
            <a:ext cx="10972800" cy="274320"/>
          </a:xfrm>
          <a:prstGeom prst="rect">
            <a:avLst/>
          </a:prstGeom>
          <a:noFill/>
          <a:ln/>
        </p:spPr>
        <p:txBody>
          <a:bodyPr wrap="square" lIns="0" tIns="0" rIns="0" bIns="0" rtlCol="0" anchor="t"/>
          <a:lstStyle/>
          <a:p>
            <a:pPr indent="0" marL="0">
              <a:buNone/>
            </a:pPr>
            <a:r>
              <a:rPr lang="en-US" sz="1100" b="1" spc="200" kern="0" dirty="0">
                <a:solidFill>
                  <a:srgbClr val="FFB347"/>
                </a:solidFill>
                <a:latin typeface="Segoe UI" pitchFamily="34" charset="0"/>
                <a:ea typeface="Segoe UI" pitchFamily="34" charset="-122"/>
                <a:cs typeface="Segoe UI" pitchFamily="34" charset="-120"/>
              </a:rPr>
              <a:t>KEPUTUSAN YANG KAMI MINTA</a:t>
            </a:r>
            <a:endParaRPr lang="en-US" sz="1100" dirty="0"/>
          </a:p>
        </p:txBody>
      </p:sp>
      <p:sp>
        <p:nvSpPr>
          <p:cNvPr id="4" name="Text 1"/>
          <p:cNvSpPr/>
          <p:nvPr/>
        </p:nvSpPr>
        <p:spPr>
          <a:xfrm>
            <a:off x="548640" y="658368"/>
            <a:ext cx="11155680" cy="594360"/>
          </a:xfrm>
          <a:prstGeom prst="rect">
            <a:avLst/>
          </a:prstGeom>
          <a:noFill/>
          <a:ln/>
        </p:spPr>
        <p:txBody>
          <a:bodyPr wrap="square" lIns="0" tIns="0" rIns="0" bIns="0" rtlCol="0" anchor="t"/>
          <a:lstStyle/>
          <a:p>
            <a:pPr indent="0" marL="0">
              <a:buNone/>
            </a:pPr>
            <a:r>
              <a:rPr lang="en-US" sz="2700" dirty="0">
                <a:solidFill>
                  <a:srgbClr val="EAF3F4"/>
                </a:solidFill>
                <a:latin typeface="Segoe UI Semibold" pitchFamily="34" charset="0"/>
                <a:ea typeface="Segoe UI Semibold" pitchFamily="34" charset="-122"/>
                <a:cs typeface="Segoe UI Semibold" pitchFamily="34" charset="-120"/>
              </a:rPr>
              <a:t>Lima keputusan untuk memulai Fase 1</a:t>
            </a:r>
            <a:endParaRPr lang="en-US" sz="2700" dirty="0"/>
          </a:p>
        </p:txBody>
      </p:sp>
      <p:sp>
        <p:nvSpPr>
          <p:cNvPr id="5" name="Shape 2"/>
          <p:cNvSpPr/>
          <p:nvPr/>
        </p:nvSpPr>
        <p:spPr>
          <a:xfrm>
            <a:off x="548640" y="1463040"/>
            <a:ext cx="8001000" cy="676656"/>
          </a:xfrm>
          <a:prstGeom prst="roundRect">
            <a:avLst>
              <a:gd name="adj" fmla="val 12162"/>
            </a:avLst>
          </a:prstGeom>
          <a:solidFill>
            <a:srgbClr val="0F2C33"/>
          </a:solidFill>
          <a:ln w="12700">
            <a:solidFill>
              <a:srgbClr val="24505A"/>
            </a:solidFill>
            <a:prstDash val="solid"/>
          </a:ln>
        </p:spPr>
      </p:sp>
      <p:sp>
        <p:nvSpPr>
          <p:cNvPr id="6" name="Text 3"/>
          <p:cNvSpPr/>
          <p:nvPr/>
        </p:nvSpPr>
        <p:spPr>
          <a:xfrm>
            <a:off x="731520" y="1463040"/>
            <a:ext cx="548640" cy="676656"/>
          </a:xfrm>
          <a:prstGeom prst="rect">
            <a:avLst/>
          </a:prstGeom>
          <a:noFill/>
          <a:ln/>
        </p:spPr>
        <p:txBody>
          <a:bodyPr wrap="square" lIns="0" tIns="0" rIns="0" bIns="0" rtlCol="0" anchor="ctr"/>
          <a:lstStyle/>
          <a:p>
            <a:pPr indent="0" marL="0">
              <a:buNone/>
            </a:pPr>
            <a:r>
              <a:rPr lang="en-US" sz="2000" dirty="0">
                <a:solidFill>
                  <a:srgbClr val="FFB347"/>
                </a:solidFill>
                <a:latin typeface="Segoe UI Semibold" pitchFamily="34" charset="0"/>
                <a:ea typeface="Segoe UI Semibold" pitchFamily="34" charset="-122"/>
                <a:cs typeface="Segoe UI Semibold" pitchFamily="34" charset="-120"/>
              </a:rPr>
              <a:t>01</a:t>
            </a:r>
            <a:endParaRPr lang="en-US" sz="2000" dirty="0"/>
          </a:p>
        </p:txBody>
      </p:sp>
      <p:sp>
        <p:nvSpPr>
          <p:cNvPr id="7" name="Text 4"/>
          <p:cNvSpPr/>
          <p:nvPr/>
        </p:nvSpPr>
        <p:spPr>
          <a:xfrm>
            <a:off x="1325880" y="1517904"/>
            <a:ext cx="4434840" cy="585216"/>
          </a:xfrm>
          <a:prstGeom prst="rect">
            <a:avLst/>
          </a:prstGeom>
          <a:noFill/>
          <a:ln/>
        </p:spPr>
        <p:txBody>
          <a:bodyPr wrap="square" lIns="0" tIns="0" rIns="0" bIns="0" rtlCol="0" anchor="ctr"/>
          <a:lstStyle/>
          <a:p>
            <a:pPr indent="0" marL="0">
              <a:buNone/>
            </a:pPr>
            <a:r>
              <a:rPr lang="en-US" sz="1350" b="1" dirty="0">
                <a:solidFill>
                  <a:srgbClr val="EAF3F4"/>
                </a:solidFill>
                <a:latin typeface="Segoe UI" pitchFamily="34" charset="0"/>
                <a:ea typeface="Segoe UI" pitchFamily="34" charset="-122"/>
                <a:cs typeface="Segoe UI" pitchFamily="34" charset="-120"/>
              </a:rPr>
              <a:t>Pemilik program, lokasi pilot &amp; profil nila</a:t>
            </a:r>
            <a:endParaRPr lang="en-US" sz="1350" dirty="0"/>
          </a:p>
          <a:p>
            <a:pPr indent="0" marL="0">
              <a:buNone/>
            </a:pPr>
            <a:r>
              <a:rPr lang="en-US" sz="1050" dirty="0">
                <a:solidFill>
                  <a:srgbClr val="B9CCD0"/>
                </a:solidFill>
                <a:latin typeface="Segoe UI" pitchFamily="34" charset="0"/>
                <a:ea typeface="Segoe UI" pitchFamily="34" charset="-122"/>
                <a:cs typeface="Segoe UI" pitchFamily="34" charset="-120"/>
              </a:rPr>
              <a:t>Tawar atau salin — menentukan batas parameter dan sensor salinitas</a:t>
            </a:r>
            <a:endParaRPr lang="en-US" sz="1350" dirty="0"/>
          </a:p>
        </p:txBody>
      </p:sp>
      <p:sp>
        <p:nvSpPr>
          <p:cNvPr id="8" name="Text 5"/>
          <p:cNvSpPr/>
          <p:nvPr/>
        </p:nvSpPr>
        <p:spPr>
          <a:xfrm>
            <a:off x="5852160" y="1508760"/>
            <a:ext cx="2606040" cy="603504"/>
          </a:xfrm>
          <a:prstGeom prst="rect">
            <a:avLst/>
          </a:prstGeom>
          <a:noFill/>
          <a:ln/>
        </p:spPr>
        <p:txBody>
          <a:bodyPr wrap="square" lIns="0" tIns="0" rIns="0" bIns="0" rtlCol="0" anchor="ctr"/>
          <a:lstStyle/>
          <a:p>
            <a:pPr indent="0" marL="0">
              <a:buNone/>
            </a:pPr>
            <a:r>
              <a:rPr lang="en-US" sz="900" dirty="0">
                <a:solidFill>
                  <a:srgbClr val="86A0A6"/>
                </a:solidFill>
                <a:latin typeface="Segoe UI" pitchFamily="34" charset="0"/>
                <a:ea typeface="Segoe UI" pitchFamily="34" charset="-122"/>
                <a:cs typeface="Segoe UI" pitchFamily="34" charset="-120"/>
              </a:rPr>
              <a:t>Rekomendasi</a:t>
            </a:r>
            <a:endParaRPr lang="en-US" sz="900" dirty="0"/>
          </a:p>
          <a:p>
            <a:pPr indent="0" marL="0">
              <a:buNone/>
            </a:pPr>
            <a:r>
              <a:rPr lang="en-US" sz="1100" b="1" dirty="0">
                <a:solidFill>
                  <a:srgbClr val="5EE6B0"/>
                </a:solidFill>
                <a:latin typeface="Segoe UI" pitchFamily="34" charset="0"/>
                <a:ea typeface="Segoe UI" pitchFamily="34" charset="-122"/>
                <a:cs typeface="Segoe UI" pitchFamily="34" charset="-120"/>
              </a:rPr>
              <a:t>Dikunci saat kickoff</a:t>
            </a:r>
            <a:endParaRPr lang="en-US" sz="900" dirty="0"/>
          </a:p>
        </p:txBody>
      </p:sp>
      <p:sp>
        <p:nvSpPr>
          <p:cNvPr id="9" name="Shape 6"/>
          <p:cNvSpPr/>
          <p:nvPr/>
        </p:nvSpPr>
        <p:spPr>
          <a:xfrm>
            <a:off x="548640" y="2249424"/>
            <a:ext cx="8001000" cy="676656"/>
          </a:xfrm>
          <a:prstGeom prst="roundRect">
            <a:avLst>
              <a:gd name="adj" fmla="val 12162"/>
            </a:avLst>
          </a:prstGeom>
          <a:solidFill>
            <a:srgbClr val="0F2C33"/>
          </a:solidFill>
          <a:ln w="12700">
            <a:solidFill>
              <a:srgbClr val="24505A"/>
            </a:solidFill>
            <a:prstDash val="solid"/>
          </a:ln>
        </p:spPr>
      </p:sp>
      <p:sp>
        <p:nvSpPr>
          <p:cNvPr id="10" name="Text 7"/>
          <p:cNvSpPr/>
          <p:nvPr/>
        </p:nvSpPr>
        <p:spPr>
          <a:xfrm>
            <a:off x="731520" y="2249424"/>
            <a:ext cx="548640" cy="676656"/>
          </a:xfrm>
          <a:prstGeom prst="rect">
            <a:avLst/>
          </a:prstGeom>
          <a:noFill/>
          <a:ln/>
        </p:spPr>
        <p:txBody>
          <a:bodyPr wrap="square" lIns="0" tIns="0" rIns="0" bIns="0" rtlCol="0" anchor="ctr"/>
          <a:lstStyle/>
          <a:p>
            <a:pPr indent="0" marL="0">
              <a:buNone/>
            </a:pPr>
            <a:r>
              <a:rPr lang="en-US" sz="2000" dirty="0">
                <a:solidFill>
                  <a:srgbClr val="FFB347"/>
                </a:solidFill>
                <a:latin typeface="Segoe UI Semibold" pitchFamily="34" charset="0"/>
                <a:ea typeface="Segoe UI Semibold" pitchFamily="34" charset="-122"/>
                <a:cs typeface="Segoe UI Semibold" pitchFamily="34" charset="-120"/>
              </a:rPr>
              <a:t>02</a:t>
            </a:r>
            <a:endParaRPr lang="en-US" sz="2000" dirty="0"/>
          </a:p>
        </p:txBody>
      </p:sp>
      <p:sp>
        <p:nvSpPr>
          <p:cNvPr id="11" name="Text 8"/>
          <p:cNvSpPr/>
          <p:nvPr/>
        </p:nvSpPr>
        <p:spPr>
          <a:xfrm>
            <a:off x="1325880" y="2304288"/>
            <a:ext cx="4434840" cy="585216"/>
          </a:xfrm>
          <a:prstGeom prst="rect">
            <a:avLst/>
          </a:prstGeom>
          <a:noFill/>
          <a:ln/>
        </p:spPr>
        <p:txBody>
          <a:bodyPr wrap="square" lIns="0" tIns="0" rIns="0" bIns="0" rtlCol="0" anchor="ctr"/>
          <a:lstStyle/>
          <a:p>
            <a:pPr indent="0" marL="0">
              <a:buNone/>
            </a:pPr>
            <a:r>
              <a:rPr lang="en-US" sz="1350" b="1" dirty="0">
                <a:solidFill>
                  <a:srgbClr val="EAF3F4"/>
                </a:solidFill>
                <a:latin typeface="Segoe UI" pitchFamily="34" charset="0"/>
                <a:ea typeface="Segoe UI" pitchFamily="34" charset="-122"/>
                <a:cs typeface="Segoe UI" pitchFamily="34" charset="-120"/>
              </a:rPr>
              <a:t>Revisi desain lapangan</a:t>
            </a:r>
            <a:endParaRPr lang="en-US" sz="1350" dirty="0"/>
          </a:p>
          <a:p>
            <a:pPr indent="0" marL="0">
              <a:buNone/>
            </a:pPr>
            <a:r>
              <a:rPr lang="en-US" sz="1050" dirty="0">
                <a:solidFill>
                  <a:srgbClr val="B9CCD0"/>
                </a:solidFill>
                <a:latin typeface="Segoe UI" pitchFamily="34" charset="0"/>
                <a:ea typeface="Segoe UI" pitchFamily="34" charset="-122"/>
                <a:cs typeface="Segoe UI" pitchFamily="34" charset="-120"/>
              </a:rPr>
              <a:t>DO ganda, modul kendali + sinyal balik, gateway industri, segmen kendali</a:t>
            </a:r>
            <a:endParaRPr lang="en-US" sz="1350" dirty="0"/>
          </a:p>
        </p:txBody>
      </p:sp>
      <p:sp>
        <p:nvSpPr>
          <p:cNvPr id="12" name="Text 9"/>
          <p:cNvSpPr/>
          <p:nvPr/>
        </p:nvSpPr>
        <p:spPr>
          <a:xfrm>
            <a:off x="5852160" y="2295144"/>
            <a:ext cx="2606040" cy="603504"/>
          </a:xfrm>
          <a:prstGeom prst="rect">
            <a:avLst/>
          </a:prstGeom>
          <a:noFill/>
          <a:ln/>
        </p:spPr>
        <p:txBody>
          <a:bodyPr wrap="square" lIns="0" tIns="0" rIns="0" bIns="0" rtlCol="0" anchor="ctr"/>
          <a:lstStyle/>
          <a:p>
            <a:pPr indent="0" marL="0">
              <a:buNone/>
            </a:pPr>
            <a:r>
              <a:rPr lang="en-US" sz="900" dirty="0">
                <a:solidFill>
                  <a:srgbClr val="86A0A6"/>
                </a:solidFill>
                <a:latin typeface="Segoe UI" pitchFamily="34" charset="0"/>
                <a:ea typeface="Segoe UI" pitchFamily="34" charset="-122"/>
                <a:cs typeface="Segoe UI" pitchFamily="34" charset="-120"/>
              </a:rPr>
              <a:t>Rekomendasi</a:t>
            </a:r>
            <a:endParaRPr lang="en-US" sz="900" dirty="0"/>
          </a:p>
          <a:p>
            <a:pPr indent="0" marL="0">
              <a:buNone/>
            </a:pPr>
            <a:r>
              <a:rPr lang="en-US" sz="1100" b="1" dirty="0">
                <a:solidFill>
                  <a:srgbClr val="5EE6B0"/>
                </a:solidFill>
                <a:latin typeface="Segoe UI" pitchFamily="34" charset="0"/>
                <a:ea typeface="Segoe UI" pitchFamily="34" charset="-122"/>
                <a:cs typeface="Segoe UI" pitchFamily="34" charset="-120"/>
              </a:rPr>
              <a:t>Setujui · BOQ &amp; anggaran diperbarui</a:t>
            </a:r>
            <a:endParaRPr lang="en-US" sz="900" dirty="0"/>
          </a:p>
        </p:txBody>
      </p:sp>
      <p:sp>
        <p:nvSpPr>
          <p:cNvPr id="13" name="Shape 10"/>
          <p:cNvSpPr/>
          <p:nvPr/>
        </p:nvSpPr>
        <p:spPr>
          <a:xfrm>
            <a:off x="548640" y="3035808"/>
            <a:ext cx="8001000" cy="676656"/>
          </a:xfrm>
          <a:prstGeom prst="roundRect">
            <a:avLst>
              <a:gd name="adj" fmla="val 12162"/>
            </a:avLst>
          </a:prstGeom>
          <a:solidFill>
            <a:srgbClr val="0F2C33"/>
          </a:solidFill>
          <a:ln w="12700">
            <a:solidFill>
              <a:srgbClr val="24505A"/>
            </a:solidFill>
            <a:prstDash val="solid"/>
          </a:ln>
        </p:spPr>
      </p:sp>
      <p:sp>
        <p:nvSpPr>
          <p:cNvPr id="14" name="Text 11"/>
          <p:cNvSpPr/>
          <p:nvPr/>
        </p:nvSpPr>
        <p:spPr>
          <a:xfrm>
            <a:off x="731520" y="3035808"/>
            <a:ext cx="548640" cy="676656"/>
          </a:xfrm>
          <a:prstGeom prst="rect">
            <a:avLst/>
          </a:prstGeom>
          <a:noFill/>
          <a:ln/>
        </p:spPr>
        <p:txBody>
          <a:bodyPr wrap="square" lIns="0" tIns="0" rIns="0" bIns="0" rtlCol="0" anchor="ctr"/>
          <a:lstStyle/>
          <a:p>
            <a:pPr indent="0" marL="0">
              <a:buNone/>
            </a:pPr>
            <a:r>
              <a:rPr lang="en-US" sz="2000" dirty="0">
                <a:solidFill>
                  <a:srgbClr val="FFB347"/>
                </a:solidFill>
                <a:latin typeface="Segoe UI Semibold" pitchFamily="34" charset="0"/>
                <a:ea typeface="Segoe UI Semibold" pitchFamily="34" charset="-122"/>
                <a:cs typeface="Segoe UI Semibold" pitchFamily="34" charset="-120"/>
              </a:rPr>
              <a:t>03</a:t>
            </a:r>
            <a:endParaRPr lang="en-US" sz="2000" dirty="0"/>
          </a:p>
        </p:txBody>
      </p:sp>
      <p:sp>
        <p:nvSpPr>
          <p:cNvPr id="15" name="Text 12"/>
          <p:cNvSpPr/>
          <p:nvPr/>
        </p:nvSpPr>
        <p:spPr>
          <a:xfrm>
            <a:off x="1325880" y="3090672"/>
            <a:ext cx="4434840" cy="585216"/>
          </a:xfrm>
          <a:prstGeom prst="rect">
            <a:avLst/>
          </a:prstGeom>
          <a:noFill/>
          <a:ln/>
        </p:spPr>
        <p:txBody>
          <a:bodyPr wrap="square" lIns="0" tIns="0" rIns="0" bIns="0" rtlCol="0" anchor="ctr"/>
          <a:lstStyle/>
          <a:p>
            <a:pPr indent="0" marL="0">
              <a:buNone/>
            </a:pPr>
            <a:r>
              <a:rPr lang="en-US" sz="1350" b="1" dirty="0">
                <a:solidFill>
                  <a:srgbClr val="EAF3F4"/>
                </a:solidFill>
                <a:latin typeface="Segoe UI" pitchFamily="34" charset="0"/>
                <a:ea typeface="Segoe UI" pitchFamily="34" charset="-122"/>
                <a:cs typeface="Segoe UI" pitchFamily="34" charset="-120"/>
              </a:rPr>
              <a:t>Interval polling</a:t>
            </a:r>
            <a:endParaRPr lang="en-US" sz="1350" dirty="0"/>
          </a:p>
          <a:p>
            <a:pPr indent="0" marL="0">
              <a:buNone/>
            </a:pPr>
            <a:r>
              <a:rPr lang="en-US" sz="1050" dirty="0">
                <a:solidFill>
                  <a:srgbClr val="B9CCD0"/>
                </a:solidFill>
                <a:latin typeface="Segoe UI" pitchFamily="34" charset="0"/>
                <a:ea typeface="Segoe UI" pitchFamily="34" charset="-122"/>
                <a:cs typeface="Segoe UI" pitchFamily="34" charset="-120"/>
              </a:rPr>
              <a:t>Syarat peringatan kritis &lt; 2 menit (slide 9)</a:t>
            </a:r>
            <a:endParaRPr lang="en-US" sz="1350" dirty="0"/>
          </a:p>
        </p:txBody>
      </p:sp>
      <p:sp>
        <p:nvSpPr>
          <p:cNvPr id="16" name="Text 13"/>
          <p:cNvSpPr/>
          <p:nvPr/>
        </p:nvSpPr>
        <p:spPr>
          <a:xfrm>
            <a:off x="5852160" y="3081528"/>
            <a:ext cx="2606040" cy="603504"/>
          </a:xfrm>
          <a:prstGeom prst="rect">
            <a:avLst/>
          </a:prstGeom>
          <a:noFill/>
          <a:ln/>
        </p:spPr>
        <p:txBody>
          <a:bodyPr wrap="square" lIns="0" tIns="0" rIns="0" bIns="0" rtlCol="0" anchor="ctr"/>
          <a:lstStyle/>
          <a:p>
            <a:pPr indent="0" marL="0">
              <a:buNone/>
            </a:pPr>
            <a:r>
              <a:rPr lang="en-US" sz="900" dirty="0">
                <a:solidFill>
                  <a:srgbClr val="86A0A6"/>
                </a:solidFill>
                <a:latin typeface="Segoe UI" pitchFamily="34" charset="0"/>
                <a:ea typeface="Segoe UI" pitchFamily="34" charset="-122"/>
                <a:cs typeface="Segoe UI" pitchFamily="34" charset="-120"/>
              </a:rPr>
              <a:t>Rekomendasi</a:t>
            </a:r>
            <a:endParaRPr lang="en-US" sz="900" dirty="0"/>
          </a:p>
          <a:p>
            <a:pPr indent="0" marL="0">
              <a:buNone/>
            </a:pPr>
            <a:r>
              <a:rPr lang="en-US" sz="1100" b="1" dirty="0">
                <a:solidFill>
                  <a:srgbClr val="5EE6B0"/>
                </a:solidFill>
                <a:latin typeface="Segoe UI" pitchFamily="34" charset="0"/>
                <a:ea typeface="Segoe UI" pitchFamily="34" charset="-122"/>
                <a:cs typeface="Segoe UI" pitchFamily="34" charset="-120"/>
              </a:rPr>
              <a:t>1 menit</a:t>
            </a:r>
            <a:endParaRPr lang="en-US" sz="900" dirty="0"/>
          </a:p>
        </p:txBody>
      </p:sp>
      <p:sp>
        <p:nvSpPr>
          <p:cNvPr id="17" name="Shape 14"/>
          <p:cNvSpPr/>
          <p:nvPr/>
        </p:nvSpPr>
        <p:spPr>
          <a:xfrm>
            <a:off x="548640" y="3822192"/>
            <a:ext cx="8001000" cy="676656"/>
          </a:xfrm>
          <a:prstGeom prst="roundRect">
            <a:avLst>
              <a:gd name="adj" fmla="val 12162"/>
            </a:avLst>
          </a:prstGeom>
          <a:solidFill>
            <a:srgbClr val="0F2C33"/>
          </a:solidFill>
          <a:ln w="12700">
            <a:solidFill>
              <a:srgbClr val="24505A"/>
            </a:solidFill>
            <a:prstDash val="solid"/>
          </a:ln>
        </p:spPr>
      </p:sp>
      <p:sp>
        <p:nvSpPr>
          <p:cNvPr id="18" name="Text 15"/>
          <p:cNvSpPr/>
          <p:nvPr/>
        </p:nvSpPr>
        <p:spPr>
          <a:xfrm>
            <a:off x="731520" y="3822192"/>
            <a:ext cx="548640" cy="676656"/>
          </a:xfrm>
          <a:prstGeom prst="rect">
            <a:avLst/>
          </a:prstGeom>
          <a:noFill/>
          <a:ln/>
        </p:spPr>
        <p:txBody>
          <a:bodyPr wrap="square" lIns="0" tIns="0" rIns="0" bIns="0" rtlCol="0" anchor="ctr"/>
          <a:lstStyle/>
          <a:p>
            <a:pPr indent="0" marL="0">
              <a:buNone/>
            </a:pPr>
            <a:r>
              <a:rPr lang="en-US" sz="2000" dirty="0">
                <a:solidFill>
                  <a:srgbClr val="FFB347"/>
                </a:solidFill>
                <a:latin typeface="Segoe UI Semibold" pitchFamily="34" charset="0"/>
                <a:ea typeface="Segoe UI Semibold" pitchFamily="34" charset="-122"/>
                <a:cs typeface="Segoe UI Semibold" pitchFamily="34" charset="-120"/>
              </a:rPr>
              <a:t>04</a:t>
            </a:r>
            <a:endParaRPr lang="en-US" sz="2000" dirty="0"/>
          </a:p>
        </p:txBody>
      </p:sp>
      <p:sp>
        <p:nvSpPr>
          <p:cNvPr id="19" name="Text 16"/>
          <p:cNvSpPr/>
          <p:nvPr/>
        </p:nvSpPr>
        <p:spPr>
          <a:xfrm>
            <a:off x="1325880" y="3877056"/>
            <a:ext cx="4434840" cy="585216"/>
          </a:xfrm>
          <a:prstGeom prst="rect">
            <a:avLst/>
          </a:prstGeom>
          <a:noFill/>
          <a:ln/>
        </p:spPr>
        <p:txBody>
          <a:bodyPr wrap="square" lIns="0" tIns="0" rIns="0" bIns="0" rtlCol="0" anchor="ctr"/>
          <a:lstStyle/>
          <a:p>
            <a:pPr indent="0" marL="0">
              <a:buNone/>
            </a:pPr>
            <a:r>
              <a:rPr lang="en-US" sz="1350" b="1" dirty="0">
                <a:solidFill>
                  <a:srgbClr val="EAF3F4"/>
                </a:solidFill>
                <a:latin typeface="Segoe UI" pitchFamily="34" charset="0"/>
                <a:ea typeface="Segoe UI" pitchFamily="34" charset="-122"/>
                <a:cs typeface="Segoe UI" pitchFamily="34" charset="-120"/>
              </a:rPr>
              <a:t>Stack backend</a:t>
            </a:r>
            <a:endParaRPr lang="en-US" sz="1350" dirty="0"/>
          </a:p>
          <a:p>
            <a:pPr indent="0" marL="0">
              <a:buNone/>
            </a:pPr>
            <a:r>
              <a:rPr lang="en-US" sz="1050" dirty="0">
                <a:solidFill>
                  <a:srgbClr val="B9CCD0"/>
                </a:solidFill>
                <a:latin typeface="Segoe UI" pitchFamily="34" charset="0"/>
                <a:ea typeface="Segoe UI" pitchFamily="34" charset="-122"/>
                <a:cs typeface="Segoe UI" pitchFamily="34" charset="-120"/>
              </a:rPr>
              <a:t>Open-source, satu basis data untuk sensor, siklus, keuangan, audit; hosting di Indonesia</a:t>
            </a:r>
            <a:endParaRPr lang="en-US" sz="1350" dirty="0"/>
          </a:p>
        </p:txBody>
      </p:sp>
      <p:sp>
        <p:nvSpPr>
          <p:cNvPr id="20" name="Text 17"/>
          <p:cNvSpPr/>
          <p:nvPr/>
        </p:nvSpPr>
        <p:spPr>
          <a:xfrm>
            <a:off x="5852160" y="3867912"/>
            <a:ext cx="2606040" cy="603504"/>
          </a:xfrm>
          <a:prstGeom prst="rect">
            <a:avLst/>
          </a:prstGeom>
          <a:noFill/>
          <a:ln/>
        </p:spPr>
        <p:txBody>
          <a:bodyPr wrap="square" lIns="0" tIns="0" rIns="0" bIns="0" rtlCol="0" anchor="ctr"/>
          <a:lstStyle/>
          <a:p>
            <a:pPr indent="0" marL="0">
              <a:buNone/>
            </a:pPr>
            <a:r>
              <a:rPr lang="en-US" sz="900" dirty="0">
                <a:solidFill>
                  <a:srgbClr val="86A0A6"/>
                </a:solidFill>
                <a:latin typeface="Segoe UI" pitchFamily="34" charset="0"/>
                <a:ea typeface="Segoe UI" pitchFamily="34" charset="-122"/>
                <a:cs typeface="Segoe UI" pitchFamily="34" charset="-120"/>
              </a:rPr>
              <a:t>Rekomendasi</a:t>
            </a:r>
            <a:endParaRPr lang="en-US" sz="900" dirty="0"/>
          </a:p>
          <a:p>
            <a:pPr indent="0" marL="0">
              <a:buNone/>
            </a:pPr>
            <a:r>
              <a:rPr lang="en-US" sz="1100" b="1" dirty="0">
                <a:solidFill>
                  <a:srgbClr val="5EE6B0"/>
                </a:solidFill>
                <a:latin typeface="Segoe UI" pitchFamily="34" charset="0"/>
                <a:ea typeface="Segoe UI" pitchFamily="34" charset="-122"/>
                <a:cs typeface="Segoe UI" pitchFamily="34" charset="-120"/>
              </a:rPr>
              <a:t>TypeScript/Node + PostgreSQL</a:t>
            </a:r>
            <a:endParaRPr lang="en-US" sz="900" dirty="0"/>
          </a:p>
        </p:txBody>
      </p:sp>
      <p:sp>
        <p:nvSpPr>
          <p:cNvPr id="21" name="Shape 18"/>
          <p:cNvSpPr/>
          <p:nvPr/>
        </p:nvSpPr>
        <p:spPr>
          <a:xfrm>
            <a:off x="548640" y="4608576"/>
            <a:ext cx="8001000" cy="676656"/>
          </a:xfrm>
          <a:prstGeom prst="roundRect">
            <a:avLst>
              <a:gd name="adj" fmla="val 12162"/>
            </a:avLst>
          </a:prstGeom>
          <a:solidFill>
            <a:srgbClr val="0F2C33"/>
          </a:solidFill>
          <a:ln w="12700">
            <a:solidFill>
              <a:srgbClr val="24505A"/>
            </a:solidFill>
            <a:prstDash val="solid"/>
          </a:ln>
        </p:spPr>
      </p:sp>
      <p:sp>
        <p:nvSpPr>
          <p:cNvPr id="22" name="Text 19"/>
          <p:cNvSpPr/>
          <p:nvPr/>
        </p:nvSpPr>
        <p:spPr>
          <a:xfrm>
            <a:off x="731520" y="4608576"/>
            <a:ext cx="548640" cy="676656"/>
          </a:xfrm>
          <a:prstGeom prst="rect">
            <a:avLst/>
          </a:prstGeom>
          <a:noFill/>
          <a:ln/>
        </p:spPr>
        <p:txBody>
          <a:bodyPr wrap="square" lIns="0" tIns="0" rIns="0" bIns="0" rtlCol="0" anchor="ctr"/>
          <a:lstStyle/>
          <a:p>
            <a:pPr indent="0" marL="0">
              <a:buNone/>
            </a:pPr>
            <a:r>
              <a:rPr lang="en-US" sz="2000" dirty="0">
                <a:solidFill>
                  <a:srgbClr val="FFB347"/>
                </a:solidFill>
                <a:latin typeface="Segoe UI Semibold" pitchFamily="34" charset="0"/>
                <a:ea typeface="Segoe UI Semibold" pitchFamily="34" charset="-122"/>
                <a:cs typeface="Segoe UI Semibold" pitchFamily="34" charset="-120"/>
              </a:rPr>
              <a:t>05</a:t>
            </a:r>
            <a:endParaRPr lang="en-US" sz="2000" dirty="0"/>
          </a:p>
        </p:txBody>
      </p:sp>
      <p:sp>
        <p:nvSpPr>
          <p:cNvPr id="23" name="Text 20"/>
          <p:cNvSpPr/>
          <p:nvPr/>
        </p:nvSpPr>
        <p:spPr>
          <a:xfrm>
            <a:off x="1325880" y="4663440"/>
            <a:ext cx="4434840" cy="585216"/>
          </a:xfrm>
          <a:prstGeom prst="rect">
            <a:avLst/>
          </a:prstGeom>
          <a:noFill/>
          <a:ln/>
        </p:spPr>
        <p:txBody>
          <a:bodyPr wrap="square" lIns="0" tIns="0" rIns="0" bIns="0" rtlCol="0" anchor="ctr"/>
          <a:lstStyle/>
          <a:p>
            <a:pPr indent="0" marL="0">
              <a:buNone/>
            </a:pPr>
            <a:r>
              <a:rPr lang="en-US" sz="1350" b="1" dirty="0">
                <a:solidFill>
                  <a:srgbClr val="EAF3F4"/>
                </a:solidFill>
                <a:latin typeface="Segoe UI" pitchFamily="34" charset="0"/>
                <a:ea typeface="Segoe UI" pitchFamily="34" charset="-122"/>
                <a:cs typeface="Segoe UI" pitchFamily="34" charset="-120"/>
              </a:rPr>
              <a:t>Integrasi &amp; KPI pilot</a:t>
            </a:r>
            <a:endParaRPr lang="en-US" sz="1350" dirty="0"/>
          </a:p>
          <a:p>
            <a:pPr indent="0" marL="0">
              <a:buNone/>
            </a:pPr>
            <a:r>
              <a:rPr lang="en-US" sz="1050" dirty="0">
                <a:solidFill>
                  <a:srgbClr val="B9CCD0"/>
                </a:solidFill>
                <a:latin typeface="Segoe UI" pitchFamily="34" charset="0"/>
                <a:ea typeface="Segoe UI" pitchFamily="34" charset="-122"/>
                <a:cs typeface="Segoe UI" pitchFamily="34" charset="-120"/>
              </a:rPr>
              <a:t>Sistem KKP penerima data dan ukuran keberhasilan pilot</a:t>
            </a:r>
            <a:endParaRPr lang="en-US" sz="1350" dirty="0"/>
          </a:p>
        </p:txBody>
      </p:sp>
      <p:sp>
        <p:nvSpPr>
          <p:cNvPr id="24" name="Text 21"/>
          <p:cNvSpPr/>
          <p:nvPr/>
        </p:nvSpPr>
        <p:spPr>
          <a:xfrm>
            <a:off x="5852160" y="4654296"/>
            <a:ext cx="2606040" cy="603504"/>
          </a:xfrm>
          <a:prstGeom prst="rect">
            <a:avLst/>
          </a:prstGeom>
          <a:noFill/>
          <a:ln/>
        </p:spPr>
        <p:txBody>
          <a:bodyPr wrap="square" lIns="0" tIns="0" rIns="0" bIns="0" rtlCol="0" anchor="ctr"/>
          <a:lstStyle/>
          <a:p>
            <a:pPr indent="0" marL="0">
              <a:buNone/>
            </a:pPr>
            <a:r>
              <a:rPr lang="en-US" sz="900" dirty="0">
                <a:solidFill>
                  <a:srgbClr val="86A0A6"/>
                </a:solidFill>
                <a:latin typeface="Segoe UI" pitchFamily="34" charset="0"/>
                <a:ea typeface="Segoe UI" pitchFamily="34" charset="-122"/>
                <a:cs typeface="Segoe UI" pitchFamily="34" charset="-120"/>
              </a:rPr>
              <a:t>Rekomendasi</a:t>
            </a:r>
            <a:endParaRPr lang="en-US" sz="900" dirty="0"/>
          </a:p>
          <a:p>
            <a:pPr indent="0" marL="0">
              <a:buNone/>
            </a:pPr>
            <a:r>
              <a:rPr lang="en-US" sz="1100" b="1" dirty="0">
                <a:solidFill>
                  <a:srgbClr val="5EE6B0"/>
                </a:solidFill>
                <a:latin typeface="Segoe UI" pitchFamily="34" charset="0"/>
                <a:ea typeface="Segoe UI" pitchFamily="34" charset="-122"/>
                <a:cs typeface="Segoe UI" pitchFamily="34" charset="-120"/>
              </a:rPr>
              <a:t>STELINA · SICEKATAN · Satu Data; sintasan, FCR, energi/kg, uptime</a:t>
            </a:r>
            <a:endParaRPr lang="en-US" sz="900" dirty="0"/>
          </a:p>
        </p:txBody>
      </p:sp>
      <p:sp>
        <p:nvSpPr>
          <p:cNvPr id="25" name="Text 22"/>
          <p:cNvSpPr/>
          <p:nvPr/>
        </p:nvSpPr>
        <p:spPr>
          <a:xfrm>
            <a:off x="548640" y="5486400"/>
            <a:ext cx="8001000" cy="457200"/>
          </a:xfrm>
          <a:prstGeom prst="rect">
            <a:avLst/>
          </a:prstGeom>
          <a:noFill/>
          <a:ln/>
        </p:spPr>
        <p:txBody>
          <a:bodyPr wrap="square" lIns="0" tIns="0" rIns="0" bIns="0" rtlCol="0" anchor="t"/>
          <a:lstStyle/>
          <a:p>
            <a:pPr indent="0" marL="0">
              <a:buNone/>
            </a:pPr>
            <a:r>
              <a:rPr lang="en-US" sz="1050" dirty="0">
                <a:solidFill>
                  <a:srgbClr val="86A0A6"/>
                </a:solidFill>
                <a:latin typeface="Segoe UI" pitchFamily="34" charset="0"/>
                <a:ea typeface="Segoe UI" pitchFamily="34" charset="-122"/>
                <a:cs typeface="Segoe UI" pitchFamily="34" charset="-120"/>
              </a:rPr>
              <a:t>Estimasi investasi Fase 1 di master plan (±Rp 555 jt, 15 kolam, 6 parameter) dihitung ulang setelah keputusan 01–02 dan survei lokasi.</a:t>
            </a:r>
            <a:endParaRPr lang="en-US" sz="1050" dirty="0"/>
          </a:p>
        </p:txBody>
      </p:sp>
      <p:sp>
        <p:nvSpPr>
          <p:cNvPr id="26" name="Text 23"/>
          <p:cNvSpPr/>
          <p:nvPr/>
        </p:nvSpPr>
        <p:spPr>
          <a:xfrm>
            <a:off x="8778240" y="1463040"/>
            <a:ext cx="2926080" cy="640080"/>
          </a:xfrm>
          <a:prstGeom prst="rect">
            <a:avLst/>
          </a:prstGeom>
          <a:noFill/>
          <a:ln/>
        </p:spPr>
        <p:txBody>
          <a:bodyPr wrap="square" lIns="0" tIns="0" rIns="0" bIns="0" rtlCol="0" anchor="t"/>
          <a:lstStyle/>
          <a:p>
            <a:pPr indent="0" marL="0">
              <a:buNone/>
            </a:pPr>
            <a:r>
              <a:rPr lang="en-US" sz="3000" dirty="0">
                <a:solidFill>
                  <a:srgbClr val="EAF3F4"/>
                </a:solidFill>
                <a:latin typeface="Segoe UI Semibold" pitchFamily="34" charset="0"/>
                <a:ea typeface="Segoe UI Semibold" pitchFamily="34" charset="-122"/>
                <a:cs typeface="Segoe UI Semibold" pitchFamily="34" charset="-120"/>
              </a:rPr>
              <a:t>Terima kasih</a:t>
            </a:r>
            <a:endParaRPr lang="en-US" sz="3000" dirty="0"/>
          </a:p>
        </p:txBody>
      </p:sp>
      <p:sp>
        <p:nvSpPr>
          <p:cNvPr id="27" name="Text 24"/>
          <p:cNvSpPr/>
          <p:nvPr/>
        </p:nvSpPr>
        <p:spPr>
          <a:xfrm>
            <a:off x="8778240" y="2103120"/>
            <a:ext cx="2926080" cy="320040"/>
          </a:xfrm>
          <a:prstGeom prst="rect">
            <a:avLst/>
          </a:prstGeom>
          <a:noFill/>
          <a:ln/>
        </p:spPr>
        <p:txBody>
          <a:bodyPr wrap="square" lIns="0" tIns="0" rIns="0" bIns="0" rtlCol="0" anchor="t"/>
          <a:lstStyle/>
          <a:p>
            <a:pPr indent="0" marL="0">
              <a:buNone/>
            </a:pPr>
            <a:r>
              <a:rPr lang="en-US" sz="1500" dirty="0">
                <a:solidFill>
                  <a:srgbClr val="B9CCD0"/>
                </a:solidFill>
                <a:latin typeface="Segoe UI" pitchFamily="34" charset="0"/>
                <a:ea typeface="Segoe UI" pitchFamily="34" charset="-122"/>
                <a:cs typeface="Segoe UI" pitchFamily="34" charset="-120"/>
              </a:rPr>
              <a:t>Diskusi &amp; tanya jawab</a:t>
            </a:r>
            <a:endParaRPr lang="en-US" sz="1500" dirty="0"/>
          </a:p>
        </p:txBody>
      </p:sp>
      <p:sp>
        <p:nvSpPr>
          <p:cNvPr id="28" name="Text 25"/>
          <p:cNvSpPr/>
          <p:nvPr/>
        </p:nvSpPr>
        <p:spPr>
          <a:xfrm>
            <a:off x="8778240" y="2697480"/>
            <a:ext cx="2926080" cy="868680"/>
          </a:xfrm>
          <a:prstGeom prst="rect">
            <a:avLst/>
          </a:prstGeom>
          <a:noFill/>
          <a:ln/>
        </p:spPr>
        <p:txBody>
          <a:bodyPr wrap="square" lIns="0" tIns="0" rIns="0" bIns="0" rtlCol="0" anchor="t"/>
          <a:lstStyle/>
          <a:p>
            <a:pPr indent="0" marL="0">
              <a:buNone/>
            </a:pPr>
            <a:r>
              <a:rPr lang="en-US" sz="1250" b="1" dirty="0">
                <a:solidFill>
                  <a:srgbClr val="EAF3F4"/>
                </a:solidFill>
                <a:latin typeface="Segoe UI" pitchFamily="34" charset="0"/>
                <a:ea typeface="Segoe UI" pitchFamily="34" charset="-122"/>
                <a:cs typeface="Segoe UI" pitchFamily="34" charset="-120"/>
              </a:rPr>
              <a:t>Steven Waruwu</a:t>
            </a:r>
            <a:endParaRPr lang="en-US" sz="1250" dirty="0"/>
          </a:p>
          <a:p>
            <a:pPr indent="0" marL="0">
              <a:buNone/>
            </a:pPr>
            <a:r>
              <a:rPr lang="en-US" sz="1250" dirty="0">
                <a:solidFill>
                  <a:srgbClr val="B9CCD0"/>
                </a:solidFill>
                <a:latin typeface="Segoe UI" pitchFamily="34" charset="0"/>
                <a:ea typeface="Segoe UI" pitchFamily="34" charset="-122"/>
                <a:cs typeface="Segoe UI" pitchFamily="34" charset="-120"/>
              </a:rPr>
              <a:t>Solution Architect</a:t>
            </a:r>
            <a:endParaRPr lang="en-US" sz="1250" dirty="0"/>
          </a:p>
          <a:p>
            <a:pPr indent="0" marL="0">
              <a:buNone/>
            </a:pPr>
            <a:r>
              <a:rPr lang="en-US" sz="1250" dirty="0">
                <a:solidFill>
                  <a:srgbClr val="86A0A6"/>
                </a:solidFill>
                <a:latin typeface="Segoe UI" pitchFamily="34" charset="0"/>
                <a:ea typeface="Segoe UI" pitchFamily="34" charset="-122"/>
                <a:cs typeface="Segoe UI" pitchFamily="34" charset="-120"/>
              </a:rPr>
              <a:t>PT Digital Solusi Prima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PT Digital Solusi Prima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SmartAqua Pond — High-Level Design</dc:title>
  <dc:subject>PptxGenJS Presentation</dc:subject>
  <dc:creator>PT Digital Solusi Prima</dc:creator>
  <cp:lastModifiedBy>PT Digital Solusi Prima</cp:lastModifiedBy>
  <cp:revision>1</cp:revision>
  <dcterms:created xsi:type="dcterms:W3CDTF">2026-10-06T14:21:08Z</dcterms:created>
  <dcterms:modified xsi:type="dcterms:W3CDTF">2026-10-06T14:21:08Z</dcterms:modified>
</cp:coreProperties>
</file>